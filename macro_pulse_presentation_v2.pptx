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B"/>
        </a:solidFill>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12700">
            <a:solidFill>
              <a:srgbClr val="27272A"/>
            </a:solidFill>
            <a:prstDash val="solid"/>
          </a:ln>
        </p:spPr>
      </p:sp>
      <p:sp>
        <p:nvSpPr>
          <p:cNvPr id="3" name="Shape 1"/>
          <p:cNvSpPr/>
          <p:nvPr/>
        </p:nvSpPr>
        <p:spPr>
          <a:xfrm>
            <a:off x="822960" y="0"/>
            <a:ext cx="0" cy="5143500"/>
          </a:xfrm>
          <a:prstGeom prst="line">
            <a:avLst/>
          </a:prstGeom>
          <a:noFill/>
          <a:ln w="12700">
            <a:solidFill>
              <a:srgbClr val="27272A"/>
            </a:solidFill>
            <a:prstDash val="solid"/>
          </a:ln>
        </p:spPr>
      </p:sp>
      <p:sp>
        <p:nvSpPr>
          <p:cNvPr id="4" name="Shape 2"/>
          <p:cNvSpPr/>
          <p:nvPr/>
        </p:nvSpPr>
        <p:spPr>
          <a:xfrm>
            <a:off x="1645920" y="0"/>
            <a:ext cx="0" cy="5143500"/>
          </a:xfrm>
          <a:prstGeom prst="line">
            <a:avLst/>
          </a:prstGeom>
          <a:noFill/>
          <a:ln w="12700">
            <a:solidFill>
              <a:srgbClr val="27272A"/>
            </a:solidFill>
            <a:prstDash val="solid"/>
          </a:ln>
        </p:spPr>
      </p:sp>
      <p:sp>
        <p:nvSpPr>
          <p:cNvPr id="5" name="Shape 3"/>
          <p:cNvSpPr/>
          <p:nvPr/>
        </p:nvSpPr>
        <p:spPr>
          <a:xfrm>
            <a:off x="2468880" y="0"/>
            <a:ext cx="0" cy="5143500"/>
          </a:xfrm>
          <a:prstGeom prst="line">
            <a:avLst/>
          </a:prstGeom>
          <a:noFill/>
          <a:ln w="12700">
            <a:solidFill>
              <a:srgbClr val="27272A"/>
            </a:solidFill>
            <a:prstDash val="solid"/>
          </a:ln>
        </p:spPr>
      </p:sp>
      <p:sp>
        <p:nvSpPr>
          <p:cNvPr id="6" name="Shape 4"/>
          <p:cNvSpPr/>
          <p:nvPr/>
        </p:nvSpPr>
        <p:spPr>
          <a:xfrm>
            <a:off x="3291840" y="0"/>
            <a:ext cx="0" cy="5143500"/>
          </a:xfrm>
          <a:prstGeom prst="line">
            <a:avLst/>
          </a:prstGeom>
          <a:noFill/>
          <a:ln w="12700">
            <a:solidFill>
              <a:srgbClr val="27272A"/>
            </a:solidFill>
            <a:prstDash val="solid"/>
          </a:ln>
        </p:spPr>
      </p:sp>
      <p:sp>
        <p:nvSpPr>
          <p:cNvPr id="7" name="Shape 5"/>
          <p:cNvSpPr/>
          <p:nvPr/>
        </p:nvSpPr>
        <p:spPr>
          <a:xfrm>
            <a:off x="4114800" y="0"/>
            <a:ext cx="0" cy="5143500"/>
          </a:xfrm>
          <a:prstGeom prst="line">
            <a:avLst/>
          </a:prstGeom>
          <a:noFill/>
          <a:ln w="12700">
            <a:solidFill>
              <a:srgbClr val="27272A"/>
            </a:solidFill>
            <a:prstDash val="solid"/>
          </a:ln>
        </p:spPr>
      </p:sp>
      <p:sp>
        <p:nvSpPr>
          <p:cNvPr id="8" name="Shape 6"/>
          <p:cNvSpPr/>
          <p:nvPr/>
        </p:nvSpPr>
        <p:spPr>
          <a:xfrm>
            <a:off x="4937760" y="0"/>
            <a:ext cx="0" cy="5143500"/>
          </a:xfrm>
          <a:prstGeom prst="line">
            <a:avLst/>
          </a:prstGeom>
          <a:noFill/>
          <a:ln w="12700">
            <a:solidFill>
              <a:srgbClr val="27272A"/>
            </a:solidFill>
            <a:prstDash val="solid"/>
          </a:ln>
        </p:spPr>
      </p:sp>
      <p:sp>
        <p:nvSpPr>
          <p:cNvPr id="9" name="Shape 7"/>
          <p:cNvSpPr/>
          <p:nvPr/>
        </p:nvSpPr>
        <p:spPr>
          <a:xfrm>
            <a:off x="5760720" y="0"/>
            <a:ext cx="0" cy="5143500"/>
          </a:xfrm>
          <a:prstGeom prst="line">
            <a:avLst/>
          </a:prstGeom>
          <a:noFill/>
          <a:ln w="12700">
            <a:solidFill>
              <a:srgbClr val="27272A"/>
            </a:solidFill>
            <a:prstDash val="solid"/>
          </a:ln>
        </p:spPr>
      </p:sp>
      <p:sp>
        <p:nvSpPr>
          <p:cNvPr id="10" name="Shape 8"/>
          <p:cNvSpPr/>
          <p:nvPr/>
        </p:nvSpPr>
        <p:spPr>
          <a:xfrm>
            <a:off x="6583680" y="0"/>
            <a:ext cx="0" cy="5143500"/>
          </a:xfrm>
          <a:prstGeom prst="line">
            <a:avLst/>
          </a:prstGeom>
          <a:noFill/>
          <a:ln w="12700">
            <a:solidFill>
              <a:srgbClr val="27272A"/>
            </a:solidFill>
            <a:prstDash val="solid"/>
          </a:ln>
        </p:spPr>
      </p:sp>
      <p:sp>
        <p:nvSpPr>
          <p:cNvPr id="11" name="Shape 9"/>
          <p:cNvSpPr/>
          <p:nvPr/>
        </p:nvSpPr>
        <p:spPr>
          <a:xfrm>
            <a:off x="7406640" y="0"/>
            <a:ext cx="0" cy="5143500"/>
          </a:xfrm>
          <a:prstGeom prst="line">
            <a:avLst/>
          </a:prstGeom>
          <a:noFill/>
          <a:ln w="12700">
            <a:solidFill>
              <a:srgbClr val="27272A"/>
            </a:solidFill>
            <a:prstDash val="solid"/>
          </a:ln>
        </p:spPr>
      </p:sp>
      <p:sp>
        <p:nvSpPr>
          <p:cNvPr id="12" name="Shape 10"/>
          <p:cNvSpPr/>
          <p:nvPr/>
        </p:nvSpPr>
        <p:spPr>
          <a:xfrm>
            <a:off x="8229600" y="0"/>
            <a:ext cx="0" cy="5143500"/>
          </a:xfrm>
          <a:prstGeom prst="line">
            <a:avLst/>
          </a:prstGeom>
          <a:noFill/>
          <a:ln w="12700">
            <a:solidFill>
              <a:srgbClr val="27272A"/>
            </a:solidFill>
            <a:prstDash val="solid"/>
          </a:ln>
        </p:spPr>
      </p:sp>
      <p:sp>
        <p:nvSpPr>
          <p:cNvPr id="13" name="Shape 11"/>
          <p:cNvSpPr/>
          <p:nvPr/>
        </p:nvSpPr>
        <p:spPr>
          <a:xfrm>
            <a:off x="9052560" y="0"/>
            <a:ext cx="0" cy="5143500"/>
          </a:xfrm>
          <a:prstGeom prst="line">
            <a:avLst/>
          </a:prstGeom>
          <a:noFill/>
          <a:ln w="12700">
            <a:solidFill>
              <a:srgbClr val="27272A"/>
            </a:solidFill>
            <a:prstDash val="solid"/>
          </a:ln>
        </p:spPr>
      </p:sp>
      <p:sp>
        <p:nvSpPr>
          <p:cNvPr id="14" name="Shape 12"/>
          <p:cNvSpPr/>
          <p:nvPr/>
        </p:nvSpPr>
        <p:spPr>
          <a:xfrm>
            <a:off x="0" y="0"/>
            <a:ext cx="9144000" cy="0"/>
          </a:xfrm>
          <a:prstGeom prst="line">
            <a:avLst/>
          </a:prstGeom>
          <a:noFill/>
          <a:ln w="12700">
            <a:solidFill>
              <a:srgbClr val="27272A"/>
            </a:solidFill>
            <a:prstDash val="solid"/>
          </a:ln>
        </p:spPr>
      </p:sp>
      <p:sp>
        <p:nvSpPr>
          <p:cNvPr id="15" name="Shape 13"/>
          <p:cNvSpPr/>
          <p:nvPr/>
        </p:nvSpPr>
        <p:spPr>
          <a:xfrm>
            <a:off x="0" y="822960"/>
            <a:ext cx="9144000" cy="0"/>
          </a:xfrm>
          <a:prstGeom prst="line">
            <a:avLst/>
          </a:prstGeom>
          <a:noFill/>
          <a:ln w="12700">
            <a:solidFill>
              <a:srgbClr val="27272A"/>
            </a:solidFill>
            <a:prstDash val="solid"/>
          </a:ln>
        </p:spPr>
      </p:sp>
      <p:sp>
        <p:nvSpPr>
          <p:cNvPr id="16" name="Shape 14"/>
          <p:cNvSpPr/>
          <p:nvPr/>
        </p:nvSpPr>
        <p:spPr>
          <a:xfrm>
            <a:off x="0" y="1645920"/>
            <a:ext cx="9144000" cy="0"/>
          </a:xfrm>
          <a:prstGeom prst="line">
            <a:avLst/>
          </a:prstGeom>
          <a:noFill/>
          <a:ln w="12700">
            <a:solidFill>
              <a:srgbClr val="27272A"/>
            </a:solidFill>
            <a:prstDash val="solid"/>
          </a:ln>
        </p:spPr>
      </p:sp>
      <p:sp>
        <p:nvSpPr>
          <p:cNvPr id="17" name="Shape 15"/>
          <p:cNvSpPr/>
          <p:nvPr/>
        </p:nvSpPr>
        <p:spPr>
          <a:xfrm>
            <a:off x="0" y="2468880"/>
            <a:ext cx="9144000" cy="0"/>
          </a:xfrm>
          <a:prstGeom prst="line">
            <a:avLst/>
          </a:prstGeom>
          <a:noFill/>
          <a:ln w="12700">
            <a:solidFill>
              <a:srgbClr val="27272A"/>
            </a:solidFill>
            <a:prstDash val="solid"/>
          </a:ln>
        </p:spPr>
      </p:sp>
      <p:sp>
        <p:nvSpPr>
          <p:cNvPr id="18" name="Shape 16"/>
          <p:cNvSpPr/>
          <p:nvPr/>
        </p:nvSpPr>
        <p:spPr>
          <a:xfrm>
            <a:off x="0" y="3291840"/>
            <a:ext cx="9144000" cy="0"/>
          </a:xfrm>
          <a:prstGeom prst="line">
            <a:avLst/>
          </a:prstGeom>
          <a:noFill/>
          <a:ln w="12700">
            <a:solidFill>
              <a:srgbClr val="27272A"/>
            </a:solidFill>
            <a:prstDash val="solid"/>
          </a:ln>
        </p:spPr>
      </p:sp>
      <p:sp>
        <p:nvSpPr>
          <p:cNvPr id="19" name="Shape 17"/>
          <p:cNvSpPr/>
          <p:nvPr/>
        </p:nvSpPr>
        <p:spPr>
          <a:xfrm>
            <a:off x="0" y="4114800"/>
            <a:ext cx="9144000" cy="0"/>
          </a:xfrm>
          <a:prstGeom prst="line">
            <a:avLst/>
          </a:prstGeom>
          <a:noFill/>
          <a:ln w="12700">
            <a:solidFill>
              <a:srgbClr val="27272A"/>
            </a:solidFill>
            <a:prstDash val="solid"/>
          </a:ln>
        </p:spPr>
      </p:sp>
      <p:sp>
        <p:nvSpPr>
          <p:cNvPr id="20" name="Shape 18"/>
          <p:cNvSpPr/>
          <p:nvPr/>
        </p:nvSpPr>
        <p:spPr>
          <a:xfrm>
            <a:off x="0" y="4937760"/>
            <a:ext cx="9144000" cy="0"/>
          </a:xfrm>
          <a:prstGeom prst="line">
            <a:avLst/>
          </a:prstGeom>
          <a:noFill/>
          <a:ln w="12700">
            <a:solidFill>
              <a:srgbClr val="27272A"/>
            </a:solidFill>
            <a:prstDash val="solid"/>
          </a:ln>
        </p:spPr>
      </p:sp>
      <p:sp>
        <p:nvSpPr>
          <p:cNvPr id="21" name="Shape 19"/>
          <p:cNvSpPr/>
          <p:nvPr/>
        </p:nvSpPr>
        <p:spPr>
          <a:xfrm>
            <a:off x="0" y="0"/>
            <a:ext cx="5669280" cy="5143500"/>
          </a:xfrm>
          <a:prstGeom prst="rect">
            <a:avLst/>
          </a:prstGeom>
          <a:solidFill>
            <a:srgbClr val="0A0A0B"/>
          </a:solidFill>
          <a:ln/>
        </p:spPr>
      </p:sp>
      <p:sp>
        <p:nvSpPr>
          <p:cNvPr id="22" name="Shape 20"/>
          <p:cNvSpPr/>
          <p:nvPr/>
        </p:nvSpPr>
        <p:spPr>
          <a:xfrm>
            <a:off x="457200" y="457200"/>
            <a:ext cx="164592" cy="164592"/>
          </a:xfrm>
          <a:prstGeom prst="rect">
            <a:avLst/>
          </a:prstGeom>
          <a:solidFill>
            <a:srgbClr val="D4A853"/>
          </a:solidFill>
          <a:ln/>
        </p:spPr>
      </p:sp>
      <p:sp>
        <p:nvSpPr>
          <p:cNvPr id="23" name="Text 21"/>
          <p:cNvSpPr/>
          <p:nvPr/>
        </p:nvSpPr>
        <p:spPr>
          <a:xfrm>
            <a:off x="694944" y="420624"/>
            <a:ext cx="2743200" cy="256032"/>
          </a:xfrm>
          <a:prstGeom prst="rect">
            <a:avLst/>
          </a:prstGeom>
          <a:noFill/>
          <a:ln/>
        </p:spPr>
        <p:txBody>
          <a:bodyPr wrap="square" lIns="0" tIns="0" rIns="0" bIns="0" rtlCol="0" anchor="ctr"/>
          <a:lstStyle/>
          <a:p>
            <a:pPr indent="0" marL="0">
              <a:buNone/>
            </a:pPr>
            <a:r>
              <a:rPr lang="en-US" sz="1300" dirty="0">
                <a:solidFill>
                  <a:srgbClr val="A1A1AA"/>
                </a:solidFill>
                <a:latin typeface="Calibri" pitchFamily="34" charset="0"/>
                <a:ea typeface="Calibri" pitchFamily="34" charset="-122"/>
                <a:cs typeface="Calibri" pitchFamily="34" charset="-120"/>
              </a:rPr>
              <a:t>Macro Pulse</a:t>
            </a:r>
            <a:endParaRPr lang="en-US" sz="1300" dirty="0"/>
          </a:p>
        </p:txBody>
      </p:sp>
      <p:sp>
        <p:nvSpPr>
          <p:cNvPr id="24" name="Text 22"/>
          <p:cNvSpPr/>
          <p:nvPr/>
        </p:nvSpPr>
        <p:spPr>
          <a:xfrm>
            <a:off x="457200" y="1005840"/>
            <a:ext cx="4937760" cy="2194560"/>
          </a:xfrm>
          <a:prstGeom prst="rect">
            <a:avLst/>
          </a:prstGeom>
          <a:noFill/>
          <a:ln/>
        </p:spPr>
        <p:txBody>
          <a:bodyPr wrap="square" rtlCol="0" anchor="ctr"/>
          <a:lstStyle/>
          <a:p>
            <a:pPr indent="0" marL="0">
              <a:lnSpc>
                <a:spcPct val="110000"/>
              </a:lnSpc>
              <a:buNone/>
            </a:pPr>
            <a:r>
              <a:rPr lang="en-US" sz="4200" b="1" spc="-100" kern="0" dirty="0">
                <a:solidFill>
                  <a:srgbClr val="FAFAFA"/>
                </a:solidFill>
                <a:latin typeface="Calibri" pitchFamily="34" charset="0"/>
                <a:ea typeface="Calibri" pitchFamily="34" charset="-122"/>
                <a:cs typeface="Calibri" pitchFamily="34" charset="-120"/>
              </a:rPr>
              <a:t>Macro &amp;</a:t>
            </a:r>
            <a:endParaRPr lang="en-US" sz="4200" dirty="0"/>
          </a:p>
          <a:p>
            <a:pPr indent="0" marL="0">
              <a:lnSpc>
                <a:spcPct val="110000"/>
              </a:lnSpc>
              <a:buNone/>
            </a:pPr>
            <a:r>
              <a:rPr lang="en-US" sz="4200" b="1" spc="-100" kern="0" dirty="0">
                <a:solidFill>
                  <a:srgbClr val="FAFAFA"/>
                </a:solidFill>
                <a:latin typeface="Calibri" pitchFamily="34" charset="0"/>
                <a:ea typeface="Calibri" pitchFamily="34" charset="-122"/>
                <a:cs typeface="Calibri" pitchFamily="34" charset="-120"/>
              </a:rPr>
              <a:t>Market Impact</a:t>
            </a:r>
            <a:endParaRPr lang="en-US" sz="4200" dirty="0"/>
          </a:p>
          <a:p>
            <a:pPr indent="0" marL="0">
              <a:lnSpc>
                <a:spcPct val="110000"/>
              </a:lnSpc>
              <a:buNone/>
            </a:pPr>
            <a:r>
              <a:rPr lang="en-US" sz="4200" b="1" spc="-100" kern="0" dirty="0">
                <a:solidFill>
                  <a:srgbClr val="FAFAFA"/>
                </a:solidFill>
                <a:latin typeface="Calibri" pitchFamily="34" charset="0"/>
                <a:ea typeface="Calibri" pitchFamily="34" charset="-122"/>
                <a:cs typeface="Calibri" pitchFamily="34" charset="-120"/>
              </a:rPr>
              <a:t>Analytics API</a:t>
            </a:r>
            <a:endParaRPr lang="en-US" sz="4200" dirty="0"/>
          </a:p>
        </p:txBody>
      </p:sp>
      <p:sp>
        <p:nvSpPr>
          <p:cNvPr id="25" name="Text 23"/>
          <p:cNvSpPr/>
          <p:nvPr/>
        </p:nvSpPr>
        <p:spPr>
          <a:xfrm>
            <a:off x="457200" y="3337560"/>
            <a:ext cx="5029200" cy="822960"/>
          </a:xfrm>
          <a:prstGeom prst="rect">
            <a:avLst/>
          </a:prstGeom>
          <a:noFill/>
          <a:ln/>
        </p:spPr>
        <p:txBody>
          <a:bodyPr wrap="square" rtlCol="0" anchor="ctr"/>
          <a:lstStyle/>
          <a:p>
            <a:pPr indent="0" marL="0">
              <a:lnSpc>
                <a:spcPct val="140000"/>
              </a:lnSpc>
              <a:buNone/>
            </a:pPr>
            <a:r>
              <a:rPr lang="en-US" sz="1200" dirty="0">
                <a:solidFill>
                  <a:srgbClr val="A1A1AA"/>
                </a:solidFill>
                <a:latin typeface="Calibri" pitchFamily="34" charset="0"/>
                <a:ea typeface="Calibri" pitchFamily="34" charset="-122"/>
                <a:cs typeface="Calibri" pitchFamily="34" charset="-120"/>
              </a:rPr>
              <a:t>A full-stack REST API tracking macroeconomic indicators</a:t>
            </a:r>
            <a:endParaRPr lang="en-US" sz="1200" dirty="0"/>
          </a:p>
          <a:p>
            <a:pPr indent="0" marL="0">
              <a:lnSpc>
                <a:spcPct val="140000"/>
              </a:lnSpc>
              <a:buNone/>
            </a:pPr>
            <a:r>
              <a:rPr lang="en-US" sz="1200" dirty="0">
                <a:solidFill>
                  <a:srgbClr val="A1A1AA"/>
                </a:solidFill>
                <a:latin typeface="Calibri" pitchFamily="34" charset="0"/>
                <a:ea typeface="Calibri" pitchFamily="34" charset="-122"/>
                <a:cs typeface="Calibri" pitchFamily="34" charset="-120"/>
              </a:rPr>
              <a:t>and financial market assets — with real analytics,</a:t>
            </a:r>
            <a:endParaRPr lang="en-US" sz="1200" dirty="0"/>
          </a:p>
          <a:p>
            <a:pPr indent="0" marL="0">
              <a:lnSpc>
                <a:spcPct val="140000"/>
              </a:lnSpc>
              <a:buNone/>
            </a:pPr>
            <a:r>
              <a:rPr lang="en-US" sz="1200" dirty="0">
                <a:solidFill>
                  <a:srgbClr val="A1A1AA"/>
                </a:solidFill>
                <a:latin typeface="Calibri" pitchFamily="34" charset="0"/>
                <a:ea typeface="Calibri" pitchFamily="34" charset="-122"/>
                <a:cs typeface="Calibri" pitchFamily="34" charset="-120"/>
              </a:rPr>
              <a:t>live deployment, and AI integration via MCP.</a:t>
            </a:r>
            <a:endParaRPr lang="en-US" sz="1200" dirty="0"/>
          </a:p>
        </p:txBody>
      </p:sp>
      <p:sp>
        <p:nvSpPr>
          <p:cNvPr id="26" name="Shape 24"/>
          <p:cNvSpPr/>
          <p:nvPr/>
        </p:nvSpPr>
        <p:spPr>
          <a:xfrm>
            <a:off x="457200" y="4480560"/>
            <a:ext cx="5029200" cy="10973"/>
          </a:xfrm>
          <a:prstGeom prst="rect">
            <a:avLst/>
          </a:prstGeom>
          <a:solidFill>
            <a:srgbClr val="27272A"/>
          </a:solidFill>
          <a:ln/>
        </p:spPr>
      </p:sp>
      <p:sp>
        <p:nvSpPr>
          <p:cNvPr id="27" name="Text 25"/>
          <p:cNvSpPr/>
          <p:nvPr/>
        </p:nvSpPr>
        <p:spPr>
          <a:xfrm>
            <a:off x="457200" y="4617720"/>
            <a:ext cx="5029200" cy="256032"/>
          </a:xfrm>
          <a:prstGeom prst="rect">
            <a:avLst/>
          </a:prstGeom>
          <a:noFill/>
          <a:ln/>
        </p:spPr>
        <p:txBody>
          <a:bodyPr wrap="square" lIns="0" tIns="0" rIns="0" bIns="0" rtlCol="0" anchor="ctr"/>
          <a:lstStyle/>
          <a:p>
            <a:pPr indent="0" marL="0">
              <a:buNone/>
            </a:pPr>
            <a:r>
              <a:rPr lang="en-US" sz="950" dirty="0">
                <a:solidFill>
                  <a:srgbClr val="52525B"/>
                </a:solidFill>
                <a:latin typeface="Calibri" pitchFamily="34" charset="0"/>
                <a:ea typeface="Calibri" pitchFamily="34" charset="-122"/>
                <a:cs typeface="Calibri" pitchFamily="34" charset="-120"/>
              </a:rPr>
              <a:t>Adhiraj Kumar   ·   COMP3011   ·   University of Leeds   ·   March 2026</a:t>
            </a:r>
            <a:endParaRPr lang="en-US" sz="950" dirty="0"/>
          </a:p>
        </p:txBody>
      </p:sp>
      <p:sp>
        <p:nvSpPr>
          <p:cNvPr id="28" name="Shape 26"/>
          <p:cNvSpPr/>
          <p:nvPr/>
        </p:nvSpPr>
        <p:spPr>
          <a:xfrm>
            <a:off x="5852160" y="0"/>
            <a:ext cx="3291840" cy="5143500"/>
          </a:xfrm>
          <a:prstGeom prst="rect">
            <a:avLst/>
          </a:prstGeom>
          <a:solidFill>
            <a:srgbClr val="111113"/>
          </a:solidFill>
          <a:ln w="12700">
            <a:solidFill>
              <a:srgbClr val="27272A"/>
            </a:solidFill>
            <a:prstDash val="solid"/>
          </a:ln>
        </p:spPr>
      </p:sp>
      <p:sp>
        <p:nvSpPr>
          <p:cNvPr id="29" name="Shape 27"/>
          <p:cNvSpPr/>
          <p:nvPr/>
        </p:nvSpPr>
        <p:spPr>
          <a:xfrm>
            <a:off x="6035040" y="320040"/>
            <a:ext cx="2926080" cy="1005840"/>
          </a:xfrm>
          <a:prstGeom prst="rect">
            <a:avLst/>
          </a:prstGeom>
          <a:solidFill>
            <a:srgbClr val="18181B"/>
          </a:solidFill>
          <a:ln w="12700">
            <a:solidFill>
              <a:srgbClr val="27272A"/>
            </a:solidFill>
            <a:prstDash val="solid"/>
          </a:ln>
        </p:spPr>
      </p:sp>
      <p:sp>
        <p:nvSpPr>
          <p:cNvPr id="30" name="Shape 28"/>
          <p:cNvSpPr/>
          <p:nvPr/>
        </p:nvSpPr>
        <p:spPr>
          <a:xfrm>
            <a:off x="6035040" y="320040"/>
            <a:ext cx="45720" cy="1005840"/>
          </a:xfrm>
          <a:prstGeom prst="rect">
            <a:avLst/>
          </a:prstGeom>
          <a:solidFill>
            <a:srgbClr val="D4A853"/>
          </a:solidFill>
          <a:ln/>
        </p:spPr>
      </p:sp>
      <p:sp>
        <p:nvSpPr>
          <p:cNvPr id="31" name="Text 29"/>
          <p:cNvSpPr/>
          <p:nvPr/>
        </p:nvSpPr>
        <p:spPr>
          <a:xfrm>
            <a:off x="6144768" y="393192"/>
            <a:ext cx="1097280" cy="512064"/>
          </a:xfrm>
          <a:prstGeom prst="rect">
            <a:avLst/>
          </a:prstGeom>
          <a:noFill/>
          <a:ln/>
        </p:spPr>
        <p:txBody>
          <a:bodyPr wrap="square" lIns="0" tIns="0" rIns="0" bIns="0" rtlCol="0" anchor="ctr"/>
          <a:lstStyle/>
          <a:p>
            <a:pPr indent="0" marL="0">
              <a:buNone/>
            </a:pPr>
            <a:r>
              <a:rPr lang="en-US" sz="3600" b="1" spc="-100" kern="0" dirty="0">
                <a:solidFill>
                  <a:srgbClr val="D4A853"/>
                </a:solidFill>
                <a:latin typeface="Calibri" pitchFamily="34" charset="0"/>
                <a:ea typeface="Calibri" pitchFamily="34" charset="-122"/>
                <a:cs typeface="Calibri" pitchFamily="34" charset="-120"/>
              </a:rPr>
              <a:t>23</a:t>
            </a:r>
            <a:endParaRPr lang="en-US" sz="3600" dirty="0"/>
          </a:p>
        </p:txBody>
      </p:sp>
      <p:sp>
        <p:nvSpPr>
          <p:cNvPr id="32" name="Text 30"/>
          <p:cNvSpPr/>
          <p:nvPr/>
        </p:nvSpPr>
        <p:spPr>
          <a:xfrm>
            <a:off x="7132320" y="411480"/>
            <a:ext cx="1691640" cy="256032"/>
          </a:xfrm>
          <a:prstGeom prst="rect">
            <a:avLst/>
          </a:prstGeom>
          <a:noFill/>
          <a:ln/>
        </p:spPr>
        <p:txBody>
          <a:bodyPr wrap="square" lIns="0" tIns="0" rIns="0" bIns="0" rtlCol="0" anchor="ctr"/>
          <a:lstStyle/>
          <a:p>
            <a:pPr indent="0" marL="0">
              <a:buNone/>
            </a:pPr>
            <a:r>
              <a:rPr lang="en-US" sz="1100" b="1" dirty="0">
                <a:solidFill>
                  <a:srgbClr val="FAFAFA"/>
                </a:solidFill>
                <a:latin typeface="Calibri" pitchFamily="34" charset="0"/>
                <a:ea typeface="Calibri" pitchFamily="34" charset="-122"/>
                <a:cs typeface="Calibri" pitchFamily="34" charset="-120"/>
              </a:rPr>
              <a:t>API Endpoints</a:t>
            </a:r>
            <a:endParaRPr lang="en-US" sz="1100" dirty="0"/>
          </a:p>
        </p:txBody>
      </p:sp>
      <p:sp>
        <p:nvSpPr>
          <p:cNvPr id="33" name="Text 31"/>
          <p:cNvSpPr/>
          <p:nvPr/>
        </p:nvSpPr>
        <p:spPr>
          <a:xfrm>
            <a:off x="7132320" y="704088"/>
            <a:ext cx="1691640" cy="256032"/>
          </a:xfrm>
          <a:prstGeom prst="rect">
            <a:avLst/>
          </a:prstGeom>
          <a:noFill/>
          <a:ln/>
        </p:spPr>
        <p:txBody>
          <a:bodyPr wrap="square" lIns="0" tIns="0" rIns="0" bIns="0" rtlCol="0" anchor="ctr"/>
          <a:lstStyle/>
          <a:p>
            <a:pPr indent="0" marL="0">
              <a:buNone/>
            </a:pPr>
            <a:r>
              <a:rPr lang="en-US" sz="850" dirty="0">
                <a:solidFill>
                  <a:srgbClr val="52525B"/>
                </a:solidFill>
                <a:latin typeface="Calibri" pitchFamily="34" charset="0"/>
                <a:ea typeface="Calibri" pitchFamily="34" charset="-122"/>
                <a:cs typeface="Calibri" pitchFamily="34" charset="-120"/>
              </a:rPr>
              <a:t>CRUD + Analytics</a:t>
            </a:r>
            <a:endParaRPr lang="en-US" sz="850" dirty="0"/>
          </a:p>
        </p:txBody>
      </p:sp>
      <p:sp>
        <p:nvSpPr>
          <p:cNvPr id="34" name="Shape 32"/>
          <p:cNvSpPr/>
          <p:nvPr/>
        </p:nvSpPr>
        <p:spPr>
          <a:xfrm>
            <a:off x="6035040" y="1481328"/>
            <a:ext cx="2926080" cy="1005840"/>
          </a:xfrm>
          <a:prstGeom prst="rect">
            <a:avLst/>
          </a:prstGeom>
          <a:solidFill>
            <a:srgbClr val="18181B"/>
          </a:solidFill>
          <a:ln w="12700">
            <a:solidFill>
              <a:srgbClr val="27272A"/>
            </a:solidFill>
            <a:prstDash val="solid"/>
          </a:ln>
        </p:spPr>
      </p:sp>
      <p:sp>
        <p:nvSpPr>
          <p:cNvPr id="35" name="Shape 33"/>
          <p:cNvSpPr/>
          <p:nvPr/>
        </p:nvSpPr>
        <p:spPr>
          <a:xfrm>
            <a:off x="6035040" y="1481328"/>
            <a:ext cx="45720" cy="1005840"/>
          </a:xfrm>
          <a:prstGeom prst="rect">
            <a:avLst/>
          </a:prstGeom>
          <a:solidFill>
            <a:srgbClr val="4ADE80"/>
          </a:solidFill>
          <a:ln/>
        </p:spPr>
      </p:sp>
      <p:sp>
        <p:nvSpPr>
          <p:cNvPr id="36" name="Text 34"/>
          <p:cNvSpPr/>
          <p:nvPr/>
        </p:nvSpPr>
        <p:spPr>
          <a:xfrm>
            <a:off x="6144768" y="1554480"/>
            <a:ext cx="1097280" cy="512064"/>
          </a:xfrm>
          <a:prstGeom prst="rect">
            <a:avLst/>
          </a:prstGeom>
          <a:noFill/>
          <a:ln/>
        </p:spPr>
        <p:txBody>
          <a:bodyPr wrap="square" lIns="0" tIns="0" rIns="0" bIns="0" rtlCol="0" anchor="ctr"/>
          <a:lstStyle/>
          <a:p>
            <a:pPr indent="0" marL="0">
              <a:buNone/>
            </a:pPr>
            <a:r>
              <a:rPr lang="en-US" sz="3600" b="1" spc="-100" kern="0" dirty="0">
                <a:solidFill>
                  <a:srgbClr val="4ADE80"/>
                </a:solidFill>
                <a:latin typeface="Calibri" pitchFamily="34" charset="0"/>
                <a:ea typeface="Calibri" pitchFamily="34" charset="-122"/>
                <a:cs typeface="Calibri" pitchFamily="34" charset="-120"/>
              </a:rPr>
              <a:t>36</a:t>
            </a:r>
            <a:endParaRPr lang="en-US" sz="3600" dirty="0"/>
          </a:p>
        </p:txBody>
      </p:sp>
      <p:sp>
        <p:nvSpPr>
          <p:cNvPr id="37" name="Text 35"/>
          <p:cNvSpPr/>
          <p:nvPr/>
        </p:nvSpPr>
        <p:spPr>
          <a:xfrm>
            <a:off x="7132320" y="1572768"/>
            <a:ext cx="1691640" cy="256032"/>
          </a:xfrm>
          <a:prstGeom prst="rect">
            <a:avLst/>
          </a:prstGeom>
          <a:noFill/>
          <a:ln/>
        </p:spPr>
        <p:txBody>
          <a:bodyPr wrap="square" lIns="0" tIns="0" rIns="0" bIns="0" rtlCol="0" anchor="ctr"/>
          <a:lstStyle/>
          <a:p>
            <a:pPr indent="0" marL="0">
              <a:buNone/>
            </a:pPr>
            <a:r>
              <a:rPr lang="en-US" sz="1100" b="1" dirty="0">
                <a:solidFill>
                  <a:srgbClr val="FAFAFA"/>
                </a:solidFill>
                <a:latin typeface="Calibri" pitchFamily="34" charset="0"/>
                <a:ea typeface="Calibri" pitchFamily="34" charset="-122"/>
                <a:cs typeface="Calibri" pitchFamily="34" charset="-120"/>
              </a:rPr>
              <a:t>Passing Tests</a:t>
            </a:r>
            <a:endParaRPr lang="en-US" sz="1100" dirty="0"/>
          </a:p>
        </p:txBody>
      </p:sp>
      <p:sp>
        <p:nvSpPr>
          <p:cNvPr id="38" name="Text 36"/>
          <p:cNvSpPr/>
          <p:nvPr/>
        </p:nvSpPr>
        <p:spPr>
          <a:xfrm>
            <a:off x="7132320" y="1865376"/>
            <a:ext cx="1691640" cy="256032"/>
          </a:xfrm>
          <a:prstGeom prst="rect">
            <a:avLst/>
          </a:prstGeom>
          <a:noFill/>
          <a:ln/>
        </p:spPr>
        <p:txBody>
          <a:bodyPr wrap="square" lIns="0" tIns="0" rIns="0" bIns="0" rtlCol="0" anchor="ctr"/>
          <a:lstStyle/>
          <a:p>
            <a:pPr indent="0" marL="0">
              <a:buNone/>
            </a:pPr>
            <a:r>
              <a:rPr lang="en-US" sz="850" dirty="0">
                <a:solidFill>
                  <a:srgbClr val="52525B"/>
                </a:solidFill>
                <a:latin typeface="Calibri" pitchFamily="34" charset="0"/>
                <a:ea typeface="Calibri" pitchFamily="34" charset="-122"/>
                <a:cs typeface="Calibri" pitchFamily="34" charset="-120"/>
              </a:rPr>
              <a:t>pytest integration suite</a:t>
            </a:r>
            <a:endParaRPr lang="en-US" sz="850" dirty="0"/>
          </a:p>
        </p:txBody>
      </p:sp>
      <p:sp>
        <p:nvSpPr>
          <p:cNvPr id="39" name="Shape 37"/>
          <p:cNvSpPr/>
          <p:nvPr/>
        </p:nvSpPr>
        <p:spPr>
          <a:xfrm>
            <a:off x="6035040" y="2642616"/>
            <a:ext cx="2926080" cy="1005840"/>
          </a:xfrm>
          <a:prstGeom prst="rect">
            <a:avLst/>
          </a:prstGeom>
          <a:solidFill>
            <a:srgbClr val="18181B"/>
          </a:solidFill>
          <a:ln w="12700">
            <a:solidFill>
              <a:srgbClr val="27272A"/>
            </a:solidFill>
            <a:prstDash val="solid"/>
          </a:ln>
        </p:spPr>
      </p:sp>
      <p:sp>
        <p:nvSpPr>
          <p:cNvPr id="40" name="Shape 38"/>
          <p:cNvSpPr/>
          <p:nvPr/>
        </p:nvSpPr>
        <p:spPr>
          <a:xfrm>
            <a:off x="6035040" y="2642616"/>
            <a:ext cx="45720" cy="1005840"/>
          </a:xfrm>
          <a:prstGeom prst="rect">
            <a:avLst/>
          </a:prstGeom>
          <a:solidFill>
            <a:srgbClr val="C084FC"/>
          </a:solidFill>
          <a:ln/>
        </p:spPr>
      </p:sp>
      <p:sp>
        <p:nvSpPr>
          <p:cNvPr id="41" name="Text 39"/>
          <p:cNvSpPr/>
          <p:nvPr/>
        </p:nvSpPr>
        <p:spPr>
          <a:xfrm>
            <a:off x="6144768" y="2715768"/>
            <a:ext cx="1097280" cy="512064"/>
          </a:xfrm>
          <a:prstGeom prst="rect">
            <a:avLst/>
          </a:prstGeom>
          <a:noFill/>
          <a:ln/>
        </p:spPr>
        <p:txBody>
          <a:bodyPr wrap="square" lIns="0" tIns="0" rIns="0" bIns="0" rtlCol="0" anchor="ctr"/>
          <a:lstStyle/>
          <a:p>
            <a:pPr indent="0" marL="0">
              <a:buNone/>
            </a:pPr>
            <a:r>
              <a:rPr lang="en-US" sz="3600" b="1" spc="-100" kern="0" dirty="0">
                <a:solidFill>
                  <a:srgbClr val="C084FC"/>
                </a:solidFill>
                <a:latin typeface="Calibri" pitchFamily="34" charset="0"/>
                <a:ea typeface="Calibri" pitchFamily="34" charset="-122"/>
                <a:cs typeface="Calibri" pitchFamily="34" charset="-120"/>
              </a:rPr>
              <a:t>7</a:t>
            </a:r>
            <a:endParaRPr lang="en-US" sz="3600" dirty="0"/>
          </a:p>
        </p:txBody>
      </p:sp>
      <p:sp>
        <p:nvSpPr>
          <p:cNvPr id="42" name="Text 40"/>
          <p:cNvSpPr/>
          <p:nvPr/>
        </p:nvSpPr>
        <p:spPr>
          <a:xfrm>
            <a:off x="7132320" y="2734056"/>
            <a:ext cx="1691640" cy="256032"/>
          </a:xfrm>
          <a:prstGeom prst="rect">
            <a:avLst/>
          </a:prstGeom>
          <a:noFill/>
          <a:ln/>
        </p:spPr>
        <p:txBody>
          <a:bodyPr wrap="square" lIns="0" tIns="0" rIns="0" bIns="0" rtlCol="0" anchor="ctr"/>
          <a:lstStyle/>
          <a:p>
            <a:pPr indent="0" marL="0">
              <a:buNone/>
            </a:pPr>
            <a:r>
              <a:rPr lang="en-US" sz="1100" b="1" dirty="0">
                <a:solidFill>
                  <a:srgbClr val="FAFAFA"/>
                </a:solidFill>
                <a:latin typeface="Calibri" pitchFamily="34" charset="0"/>
                <a:ea typeface="Calibri" pitchFamily="34" charset="-122"/>
                <a:cs typeface="Calibri" pitchFamily="34" charset="-120"/>
              </a:rPr>
              <a:t>MCP Tools</a:t>
            </a:r>
            <a:endParaRPr lang="en-US" sz="1100" dirty="0"/>
          </a:p>
        </p:txBody>
      </p:sp>
      <p:sp>
        <p:nvSpPr>
          <p:cNvPr id="43" name="Text 41"/>
          <p:cNvSpPr/>
          <p:nvPr/>
        </p:nvSpPr>
        <p:spPr>
          <a:xfrm>
            <a:off x="7132320" y="3026664"/>
            <a:ext cx="1691640" cy="256032"/>
          </a:xfrm>
          <a:prstGeom prst="rect">
            <a:avLst/>
          </a:prstGeom>
          <a:noFill/>
          <a:ln/>
        </p:spPr>
        <p:txBody>
          <a:bodyPr wrap="square" lIns="0" tIns="0" rIns="0" bIns="0" rtlCol="0" anchor="ctr"/>
          <a:lstStyle/>
          <a:p>
            <a:pPr indent="0" marL="0">
              <a:buNone/>
            </a:pPr>
            <a:r>
              <a:rPr lang="en-US" sz="850" dirty="0">
                <a:solidFill>
                  <a:srgbClr val="52525B"/>
                </a:solidFill>
                <a:latin typeface="Calibri" pitchFamily="34" charset="0"/>
                <a:ea typeface="Calibri" pitchFamily="34" charset="-122"/>
                <a:cs typeface="Calibri" pitchFamily="34" charset="-120"/>
              </a:rPr>
              <a:t>AI-callable via Claude Desktop</a:t>
            </a:r>
            <a:endParaRPr lang="en-US" sz="850" dirty="0"/>
          </a:p>
        </p:txBody>
      </p:sp>
      <p:sp>
        <p:nvSpPr>
          <p:cNvPr id="44" name="Shape 42"/>
          <p:cNvSpPr/>
          <p:nvPr/>
        </p:nvSpPr>
        <p:spPr>
          <a:xfrm>
            <a:off x="6035040" y="3803904"/>
            <a:ext cx="2926080" cy="1005840"/>
          </a:xfrm>
          <a:prstGeom prst="rect">
            <a:avLst/>
          </a:prstGeom>
          <a:solidFill>
            <a:srgbClr val="18181B"/>
          </a:solidFill>
          <a:ln w="12700">
            <a:solidFill>
              <a:srgbClr val="27272A"/>
            </a:solidFill>
            <a:prstDash val="solid"/>
          </a:ln>
        </p:spPr>
      </p:sp>
      <p:sp>
        <p:nvSpPr>
          <p:cNvPr id="45" name="Shape 43"/>
          <p:cNvSpPr/>
          <p:nvPr/>
        </p:nvSpPr>
        <p:spPr>
          <a:xfrm>
            <a:off x="6035040" y="3803904"/>
            <a:ext cx="45720" cy="1005840"/>
          </a:xfrm>
          <a:prstGeom prst="rect">
            <a:avLst/>
          </a:prstGeom>
          <a:solidFill>
            <a:srgbClr val="60A5FA"/>
          </a:solidFill>
          <a:ln/>
        </p:spPr>
      </p:sp>
      <p:sp>
        <p:nvSpPr>
          <p:cNvPr id="46" name="Text 44"/>
          <p:cNvSpPr/>
          <p:nvPr/>
        </p:nvSpPr>
        <p:spPr>
          <a:xfrm>
            <a:off x="6144768" y="3877056"/>
            <a:ext cx="1097280" cy="512064"/>
          </a:xfrm>
          <a:prstGeom prst="rect">
            <a:avLst/>
          </a:prstGeom>
          <a:noFill/>
          <a:ln/>
        </p:spPr>
        <p:txBody>
          <a:bodyPr wrap="square" lIns="0" tIns="0" rIns="0" bIns="0" rtlCol="0" anchor="ctr"/>
          <a:lstStyle/>
          <a:p>
            <a:pPr indent="0" marL="0">
              <a:buNone/>
            </a:pPr>
            <a:r>
              <a:rPr lang="en-US" sz="3600" b="1" spc="-100" kern="0" dirty="0">
                <a:solidFill>
                  <a:srgbClr val="60A5FA"/>
                </a:solidFill>
                <a:latin typeface="Calibri" pitchFamily="34" charset="0"/>
                <a:ea typeface="Calibri" pitchFamily="34" charset="-122"/>
                <a:cs typeface="Calibri" pitchFamily="34" charset="-120"/>
              </a:rPr>
              <a:t>5</a:t>
            </a:r>
            <a:endParaRPr lang="en-US" sz="3600" dirty="0"/>
          </a:p>
        </p:txBody>
      </p:sp>
      <p:sp>
        <p:nvSpPr>
          <p:cNvPr id="47" name="Text 45"/>
          <p:cNvSpPr/>
          <p:nvPr/>
        </p:nvSpPr>
        <p:spPr>
          <a:xfrm>
            <a:off x="7132320" y="3895344"/>
            <a:ext cx="1691640" cy="256032"/>
          </a:xfrm>
          <a:prstGeom prst="rect">
            <a:avLst/>
          </a:prstGeom>
          <a:noFill/>
          <a:ln/>
        </p:spPr>
        <p:txBody>
          <a:bodyPr wrap="square" lIns="0" tIns="0" rIns="0" bIns="0" rtlCol="0" anchor="ctr"/>
          <a:lstStyle/>
          <a:p>
            <a:pPr indent="0" marL="0">
              <a:buNone/>
            </a:pPr>
            <a:r>
              <a:rPr lang="en-US" sz="1100" b="1" dirty="0">
                <a:solidFill>
                  <a:srgbClr val="FAFAFA"/>
                </a:solidFill>
                <a:latin typeface="Calibri" pitchFamily="34" charset="0"/>
                <a:ea typeface="Calibri" pitchFamily="34" charset="-122"/>
                <a:cs typeface="Calibri" pitchFamily="34" charset="-120"/>
              </a:rPr>
              <a:t>Analytics Engines</a:t>
            </a:r>
            <a:endParaRPr lang="en-US" sz="1100" dirty="0"/>
          </a:p>
        </p:txBody>
      </p:sp>
      <p:sp>
        <p:nvSpPr>
          <p:cNvPr id="48" name="Text 46"/>
          <p:cNvSpPr/>
          <p:nvPr/>
        </p:nvSpPr>
        <p:spPr>
          <a:xfrm>
            <a:off x="7132320" y="4187952"/>
            <a:ext cx="1691640" cy="256032"/>
          </a:xfrm>
          <a:prstGeom prst="rect">
            <a:avLst/>
          </a:prstGeom>
          <a:noFill/>
          <a:ln/>
        </p:spPr>
        <p:txBody>
          <a:bodyPr wrap="square" lIns="0" tIns="0" rIns="0" bIns="0" rtlCol="0" anchor="ctr"/>
          <a:lstStyle/>
          <a:p>
            <a:pPr indent="0" marL="0">
              <a:buNone/>
            </a:pPr>
            <a:r>
              <a:rPr lang="en-US" sz="850" dirty="0">
                <a:solidFill>
                  <a:srgbClr val="52525B"/>
                </a:solidFill>
                <a:latin typeface="Calibri" pitchFamily="34" charset="0"/>
                <a:ea typeface="Calibri" pitchFamily="34" charset="-122"/>
                <a:cs typeface="Calibri" pitchFamily="34" charset="-120"/>
              </a:rPr>
              <a:t>Correlation · Risk · Trend · Impact · Summary</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B"/>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0A0B"/>
          </a:solidFill>
          <a:ln/>
        </p:spPr>
      </p:sp>
      <p:sp>
        <p:nvSpPr>
          <p:cNvPr id="3" name="Shape 1"/>
          <p:cNvSpPr/>
          <p:nvPr/>
        </p:nvSpPr>
        <p:spPr>
          <a:xfrm>
            <a:off x="0" y="0"/>
            <a:ext cx="9144000" cy="2743"/>
          </a:xfrm>
          <a:prstGeom prst="rect">
            <a:avLst/>
          </a:prstGeom>
          <a:solidFill>
            <a:srgbClr val="27272A"/>
          </a:solidFill>
          <a:ln/>
        </p:spPr>
      </p:sp>
      <p:sp>
        <p:nvSpPr>
          <p:cNvPr id="4" name="Text 2"/>
          <p:cNvSpPr/>
          <p:nvPr/>
        </p:nvSpPr>
        <p:spPr>
          <a:xfrm>
            <a:off x="411480" y="164592"/>
            <a:ext cx="8229600" cy="384048"/>
          </a:xfrm>
          <a:prstGeom prst="rect">
            <a:avLst/>
          </a:prstGeom>
          <a:noFill/>
          <a:ln/>
        </p:spPr>
        <p:txBody>
          <a:bodyPr wrap="square" rtlCol="0" anchor="ctr"/>
          <a:lstStyle/>
          <a:p>
            <a:pPr indent="0" marL="0">
              <a:buNone/>
            </a:pPr>
            <a:r>
              <a:rPr lang="en-US" sz="2000" b="1" spc="-50" kern="0" dirty="0">
                <a:solidFill>
                  <a:srgbClr val="FAFAFA"/>
                </a:solidFill>
                <a:latin typeface="Calibri" pitchFamily="34" charset="0"/>
                <a:ea typeface="Calibri" pitchFamily="34" charset="-122"/>
                <a:cs typeface="Calibri" pitchFamily="34" charset="-120"/>
              </a:rPr>
              <a:t>Project Overview</a:t>
            </a:r>
            <a:endParaRPr lang="en-US" sz="2000" dirty="0"/>
          </a:p>
        </p:txBody>
      </p:sp>
      <p:sp>
        <p:nvSpPr>
          <p:cNvPr id="5" name="Shape 3"/>
          <p:cNvSpPr/>
          <p:nvPr/>
        </p:nvSpPr>
        <p:spPr>
          <a:xfrm>
            <a:off x="411480" y="585216"/>
            <a:ext cx="8321040" cy="10973"/>
          </a:xfrm>
          <a:prstGeom prst="rect">
            <a:avLst/>
          </a:prstGeom>
          <a:solidFill>
            <a:srgbClr val="27272A"/>
          </a:solidFill>
          <a:ln/>
        </p:spPr>
      </p:sp>
      <p:sp>
        <p:nvSpPr>
          <p:cNvPr id="6" name="Shape 4"/>
          <p:cNvSpPr/>
          <p:nvPr/>
        </p:nvSpPr>
        <p:spPr>
          <a:xfrm>
            <a:off x="411480" y="685800"/>
            <a:ext cx="8321040" cy="804672"/>
          </a:xfrm>
          <a:prstGeom prst="rect">
            <a:avLst/>
          </a:prstGeom>
          <a:solidFill>
            <a:srgbClr val="111113"/>
          </a:solidFill>
          <a:ln w="12700">
            <a:solidFill>
              <a:srgbClr val="27272A"/>
            </a:solidFill>
            <a:prstDash val="solid"/>
          </a:ln>
        </p:spPr>
      </p:sp>
      <p:sp>
        <p:nvSpPr>
          <p:cNvPr id="7" name="Shape 5"/>
          <p:cNvSpPr/>
          <p:nvPr/>
        </p:nvSpPr>
        <p:spPr>
          <a:xfrm>
            <a:off x="411480" y="685800"/>
            <a:ext cx="45720" cy="804672"/>
          </a:xfrm>
          <a:prstGeom prst="rect">
            <a:avLst/>
          </a:prstGeom>
          <a:solidFill>
            <a:srgbClr val="D4A853"/>
          </a:solidFill>
          <a:ln/>
        </p:spPr>
      </p:sp>
      <p:sp>
        <p:nvSpPr>
          <p:cNvPr id="8" name="Text 6"/>
          <p:cNvSpPr/>
          <p:nvPr/>
        </p:nvSpPr>
        <p:spPr>
          <a:xfrm>
            <a:off x="594360" y="758952"/>
            <a:ext cx="7955280" cy="237744"/>
          </a:xfrm>
          <a:prstGeom prst="rect">
            <a:avLst/>
          </a:prstGeom>
          <a:noFill/>
          <a:ln/>
        </p:spPr>
        <p:txBody>
          <a:bodyPr wrap="square" lIns="0" tIns="0" rIns="0" bIns="0" rtlCol="0" anchor="ctr"/>
          <a:lstStyle/>
          <a:p>
            <a:pPr indent="0" marL="0">
              <a:buNone/>
            </a:pPr>
            <a:r>
              <a:rPr lang="en-US" sz="1100" b="1" dirty="0">
                <a:solidFill>
                  <a:srgbClr val="D4A853"/>
                </a:solidFill>
                <a:latin typeface="Calibri" pitchFamily="34" charset="0"/>
                <a:ea typeface="Calibri" pitchFamily="34" charset="-122"/>
                <a:cs typeface="Calibri" pitchFamily="34" charset="-120"/>
              </a:rPr>
              <a:t>What is Macro Pulse?</a:t>
            </a:r>
            <a:endParaRPr lang="en-US" sz="1100" dirty="0"/>
          </a:p>
        </p:txBody>
      </p:sp>
      <p:sp>
        <p:nvSpPr>
          <p:cNvPr id="9" name="Text 7"/>
          <p:cNvSpPr/>
          <p:nvPr/>
        </p:nvSpPr>
        <p:spPr>
          <a:xfrm>
            <a:off x="594360" y="1005840"/>
            <a:ext cx="7955280" cy="384048"/>
          </a:xfrm>
          <a:prstGeom prst="rect">
            <a:avLst/>
          </a:prstGeom>
          <a:noFill/>
          <a:ln/>
        </p:spPr>
        <p:txBody>
          <a:bodyPr wrap="square" lIns="0" tIns="0" rIns="0" bIns="0" rtlCol="0" anchor="ctr"/>
          <a:lstStyle/>
          <a:p>
            <a:pPr indent="0" marL="0">
              <a:buNone/>
            </a:pPr>
            <a:r>
              <a:rPr lang="en-US" sz="1050" dirty="0">
                <a:solidFill>
                  <a:srgbClr val="A1A1AA"/>
                </a:solidFill>
                <a:latin typeface="Calibri" pitchFamily="34" charset="0"/>
                <a:ea typeface="Calibri" pitchFamily="34" charset="-122"/>
                <a:cs typeface="Calibri" pitchFamily="34" charset="-120"/>
              </a:rPr>
              <a:t>A production-grade REST API that ingests macroeconomic data from the Federal Reserve (FRED) and financial market prices from Yahoo Finance, stores it in a normalised SQLite database, and exposes five analytical endpoints for real economic insight. Deployed to Railway with a live dashboard and MCP server.</a:t>
            </a:r>
            <a:endParaRPr lang="en-US" sz="1050" dirty="0"/>
          </a:p>
        </p:txBody>
      </p:sp>
      <p:sp>
        <p:nvSpPr>
          <p:cNvPr id="10" name="Text 8"/>
          <p:cNvSpPr/>
          <p:nvPr/>
        </p:nvSpPr>
        <p:spPr>
          <a:xfrm>
            <a:off x="411480" y="1627632"/>
            <a:ext cx="4572000" cy="219456"/>
          </a:xfrm>
          <a:prstGeom prst="rect">
            <a:avLst/>
          </a:prstGeom>
          <a:noFill/>
          <a:ln/>
        </p:spPr>
        <p:txBody>
          <a:bodyPr wrap="square" lIns="0" tIns="0" rIns="0" bIns="0" rtlCol="0" anchor="ctr"/>
          <a:lstStyle/>
          <a:p>
            <a:pPr indent="0" marL="0">
              <a:buNone/>
            </a:pPr>
            <a:r>
              <a:rPr lang="en-US" sz="850" b="1" spc="150" kern="0" dirty="0">
                <a:solidFill>
                  <a:srgbClr val="52525B"/>
                </a:solidFill>
                <a:latin typeface="Courier New" pitchFamily="34" charset="0"/>
                <a:ea typeface="Courier New" pitchFamily="34" charset="-122"/>
                <a:cs typeface="Courier New" pitchFamily="34" charset="-120"/>
              </a:rPr>
              <a:t>REAL-WORLD USE CASES</a:t>
            </a:r>
            <a:endParaRPr lang="en-US" sz="850" dirty="0"/>
          </a:p>
        </p:txBody>
      </p:sp>
      <p:sp>
        <p:nvSpPr>
          <p:cNvPr id="11" name="Shape 9"/>
          <p:cNvSpPr/>
          <p:nvPr/>
        </p:nvSpPr>
        <p:spPr>
          <a:xfrm>
            <a:off x="411480" y="1920240"/>
            <a:ext cx="8321040" cy="877824"/>
          </a:xfrm>
          <a:prstGeom prst="rect">
            <a:avLst/>
          </a:prstGeom>
          <a:solidFill>
            <a:srgbClr val="111113"/>
          </a:solidFill>
          <a:ln w="12700">
            <a:solidFill>
              <a:srgbClr val="27272A"/>
            </a:solidFill>
            <a:prstDash val="solid"/>
          </a:ln>
        </p:spPr>
      </p:sp>
      <p:sp>
        <p:nvSpPr>
          <p:cNvPr id="12" name="Shape 10"/>
          <p:cNvSpPr/>
          <p:nvPr/>
        </p:nvSpPr>
        <p:spPr>
          <a:xfrm>
            <a:off x="411480" y="1920240"/>
            <a:ext cx="45720" cy="877824"/>
          </a:xfrm>
          <a:prstGeom prst="rect">
            <a:avLst/>
          </a:prstGeom>
          <a:solidFill>
            <a:srgbClr val="F87171"/>
          </a:solidFill>
          <a:ln/>
        </p:spPr>
      </p:sp>
      <p:sp>
        <p:nvSpPr>
          <p:cNvPr id="13" name="Text 11"/>
          <p:cNvSpPr/>
          <p:nvPr/>
        </p:nvSpPr>
        <p:spPr>
          <a:xfrm>
            <a:off x="594360" y="2011680"/>
            <a:ext cx="7955280" cy="237744"/>
          </a:xfrm>
          <a:prstGeom prst="rect">
            <a:avLst/>
          </a:prstGeom>
          <a:noFill/>
          <a:ln/>
        </p:spPr>
        <p:txBody>
          <a:bodyPr wrap="square" lIns="0" tIns="0" rIns="0" bIns="0" rtlCol="0" anchor="ctr"/>
          <a:lstStyle/>
          <a:p>
            <a:pPr indent="0" marL="0">
              <a:buNone/>
            </a:pPr>
            <a:r>
              <a:rPr lang="en-US" sz="1100" b="1" i="1" dirty="0">
                <a:solidFill>
                  <a:srgbClr val="FAFAFA"/>
                </a:solidFill>
                <a:latin typeface="Calibri" pitchFamily="34" charset="0"/>
                <a:ea typeface="Calibri" pitchFamily="34" charset="-122"/>
                <a:cs typeface="Calibri" pitchFamily="34" charset="-120"/>
              </a:rPr>
              <a:t>"Is a recession coming?"</a:t>
            </a:r>
            <a:endParaRPr lang="en-US" sz="1100" dirty="0"/>
          </a:p>
        </p:txBody>
      </p:sp>
      <p:sp>
        <p:nvSpPr>
          <p:cNvPr id="14" name="Text 12"/>
          <p:cNvSpPr/>
          <p:nvPr/>
        </p:nvSpPr>
        <p:spPr>
          <a:xfrm>
            <a:off x="594360" y="2267712"/>
            <a:ext cx="7955280" cy="457200"/>
          </a:xfrm>
          <a:prstGeom prst="rect">
            <a:avLst/>
          </a:prstGeom>
          <a:noFill/>
          <a:ln/>
        </p:spPr>
        <p:txBody>
          <a:bodyPr wrap="square" lIns="0" tIns="0" rIns="0" bIns="0" rtlCol="0" anchor="ctr"/>
          <a:lstStyle/>
          <a:p>
            <a:pPr indent="0" marL="0">
              <a:buNone/>
            </a:pPr>
            <a:r>
              <a:rPr lang="en-US" sz="1000" dirty="0">
                <a:solidFill>
                  <a:srgbClr val="A1A1AA"/>
                </a:solidFill>
                <a:latin typeface="Calibri" pitchFamily="34" charset="0"/>
                <a:ea typeface="Calibri" pitchFamily="34" charset="-122"/>
                <a:cs typeface="Calibri" pitchFamily="34" charset="-120"/>
              </a:rPr>
              <a:t>The recession risk endpoint computes a live 0–100 score from four signals — yield curve inversion, unemployment via the Sahm Rule, CPI inflation, and the Fed Funds Rate. An investor or analyst can query this endpoint in seconds rather than manually aggregating FRED data.</a:t>
            </a:r>
            <a:endParaRPr lang="en-US" sz="1000" dirty="0"/>
          </a:p>
        </p:txBody>
      </p:sp>
      <p:sp>
        <p:nvSpPr>
          <p:cNvPr id="15" name="Shape 13"/>
          <p:cNvSpPr/>
          <p:nvPr/>
        </p:nvSpPr>
        <p:spPr>
          <a:xfrm>
            <a:off x="411480" y="2907792"/>
            <a:ext cx="8321040" cy="877824"/>
          </a:xfrm>
          <a:prstGeom prst="rect">
            <a:avLst/>
          </a:prstGeom>
          <a:solidFill>
            <a:srgbClr val="111113"/>
          </a:solidFill>
          <a:ln w="12700">
            <a:solidFill>
              <a:srgbClr val="27272A"/>
            </a:solidFill>
            <a:prstDash val="solid"/>
          </a:ln>
        </p:spPr>
      </p:sp>
      <p:sp>
        <p:nvSpPr>
          <p:cNvPr id="16" name="Shape 14"/>
          <p:cNvSpPr/>
          <p:nvPr/>
        </p:nvSpPr>
        <p:spPr>
          <a:xfrm>
            <a:off x="411480" y="2907792"/>
            <a:ext cx="45720" cy="877824"/>
          </a:xfrm>
          <a:prstGeom prst="rect">
            <a:avLst/>
          </a:prstGeom>
          <a:solidFill>
            <a:srgbClr val="D4A853"/>
          </a:solidFill>
          <a:ln/>
        </p:spPr>
      </p:sp>
      <p:sp>
        <p:nvSpPr>
          <p:cNvPr id="17" name="Text 15"/>
          <p:cNvSpPr/>
          <p:nvPr/>
        </p:nvSpPr>
        <p:spPr>
          <a:xfrm>
            <a:off x="594360" y="2999232"/>
            <a:ext cx="7955280" cy="237744"/>
          </a:xfrm>
          <a:prstGeom prst="rect">
            <a:avLst/>
          </a:prstGeom>
          <a:noFill/>
          <a:ln/>
        </p:spPr>
        <p:txBody>
          <a:bodyPr wrap="square" lIns="0" tIns="0" rIns="0" bIns="0" rtlCol="0" anchor="ctr"/>
          <a:lstStyle/>
          <a:p>
            <a:pPr indent="0" marL="0">
              <a:buNone/>
            </a:pPr>
            <a:r>
              <a:rPr lang="en-US" sz="1100" b="1" i="1" dirty="0">
                <a:solidFill>
                  <a:srgbClr val="FAFAFA"/>
                </a:solidFill>
                <a:latin typeface="Calibri" pitchFamily="34" charset="0"/>
                <a:ea typeface="Calibri" pitchFamily="34" charset="-122"/>
                <a:cs typeface="Calibri" pitchFamily="34" charset="-120"/>
              </a:rPr>
              <a:t>"How does CPI affect tech stocks?"</a:t>
            </a:r>
            <a:endParaRPr lang="en-US" sz="1100" dirty="0"/>
          </a:p>
        </p:txBody>
      </p:sp>
      <p:sp>
        <p:nvSpPr>
          <p:cNvPr id="18" name="Text 16"/>
          <p:cNvSpPr/>
          <p:nvPr/>
        </p:nvSpPr>
        <p:spPr>
          <a:xfrm>
            <a:off x="594360" y="3255264"/>
            <a:ext cx="7955280" cy="457200"/>
          </a:xfrm>
          <a:prstGeom prst="rect">
            <a:avLst/>
          </a:prstGeom>
          <a:noFill/>
          <a:ln/>
        </p:spPr>
        <p:txBody>
          <a:bodyPr wrap="square" lIns="0" tIns="0" rIns="0" bIns="0" rtlCol="0" anchor="ctr"/>
          <a:lstStyle/>
          <a:p>
            <a:pPr indent="0" marL="0">
              <a:buNone/>
            </a:pPr>
            <a:r>
              <a:rPr lang="en-US" sz="1000" dirty="0">
                <a:solidFill>
                  <a:srgbClr val="A1A1AA"/>
                </a:solidFill>
                <a:latin typeface="Calibri" pitchFamily="34" charset="0"/>
                <a:ea typeface="Calibri" pitchFamily="34" charset="-122"/>
                <a:cs typeface="Calibri" pitchFamily="34" charset="-120"/>
              </a:rPr>
              <a:t>The correlation endpoint aligns CPI data with any tracked ETF or equity on monthly frequency and returns a Pearson coefficient with plain-English interpretation. Run sector impact to rank all 14 assets at once — showing which sectors move most with inflation.</a:t>
            </a:r>
            <a:endParaRPr lang="en-US" sz="1000" dirty="0"/>
          </a:p>
        </p:txBody>
      </p:sp>
      <p:sp>
        <p:nvSpPr>
          <p:cNvPr id="19" name="Shape 17"/>
          <p:cNvSpPr/>
          <p:nvPr/>
        </p:nvSpPr>
        <p:spPr>
          <a:xfrm>
            <a:off x="411480" y="3895344"/>
            <a:ext cx="8321040" cy="877824"/>
          </a:xfrm>
          <a:prstGeom prst="rect">
            <a:avLst/>
          </a:prstGeom>
          <a:solidFill>
            <a:srgbClr val="111113"/>
          </a:solidFill>
          <a:ln w="12700">
            <a:solidFill>
              <a:srgbClr val="27272A"/>
            </a:solidFill>
            <a:prstDash val="solid"/>
          </a:ln>
        </p:spPr>
      </p:sp>
      <p:sp>
        <p:nvSpPr>
          <p:cNvPr id="20" name="Shape 18"/>
          <p:cNvSpPr/>
          <p:nvPr/>
        </p:nvSpPr>
        <p:spPr>
          <a:xfrm>
            <a:off x="411480" y="3895344"/>
            <a:ext cx="45720" cy="877824"/>
          </a:xfrm>
          <a:prstGeom prst="rect">
            <a:avLst/>
          </a:prstGeom>
          <a:solidFill>
            <a:srgbClr val="60A5FA"/>
          </a:solidFill>
          <a:ln/>
        </p:spPr>
      </p:sp>
      <p:sp>
        <p:nvSpPr>
          <p:cNvPr id="21" name="Text 19"/>
          <p:cNvSpPr/>
          <p:nvPr/>
        </p:nvSpPr>
        <p:spPr>
          <a:xfrm>
            <a:off x="594360" y="3986784"/>
            <a:ext cx="7955280" cy="237744"/>
          </a:xfrm>
          <a:prstGeom prst="rect">
            <a:avLst/>
          </a:prstGeom>
          <a:noFill/>
          <a:ln/>
        </p:spPr>
        <p:txBody>
          <a:bodyPr wrap="square" lIns="0" tIns="0" rIns="0" bIns="0" rtlCol="0" anchor="ctr"/>
          <a:lstStyle/>
          <a:p>
            <a:pPr indent="0" marL="0">
              <a:buNone/>
            </a:pPr>
            <a:r>
              <a:rPr lang="en-US" sz="1100" b="1" i="1" dirty="0">
                <a:solidFill>
                  <a:srgbClr val="FAFAFA"/>
                </a:solidFill>
                <a:latin typeface="Calibri" pitchFamily="34" charset="0"/>
                <a:ea typeface="Calibri" pitchFamily="34" charset="-122"/>
                <a:cs typeface="Calibri" pitchFamily="34" charset="-120"/>
              </a:rPr>
              <a:t>"Which sectors are rate-sensitive?"</a:t>
            </a:r>
            <a:endParaRPr lang="en-US" sz="1100" dirty="0"/>
          </a:p>
        </p:txBody>
      </p:sp>
      <p:sp>
        <p:nvSpPr>
          <p:cNvPr id="22" name="Text 20"/>
          <p:cNvSpPr/>
          <p:nvPr/>
        </p:nvSpPr>
        <p:spPr>
          <a:xfrm>
            <a:off x="594360" y="4242816"/>
            <a:ext cx="7955280" cy="457200"/>
          </a:xfrm>
          <a:prstGeom prst="rect">
            <a:avLst/>
          </a:prstGeom>
          <a:noFill/>
          <a:ln/>
        </p:spPr>
        <p:txBody>
          <a:bodyPr wrap="square" lIns="0" tIns="0" rIns="0" bIns="0" rtlCol="0" anchor="ctr"/>
          <a:lstStyle/>
          <a:p>
            <a:pPr indent="0" marL="0">
              <a:buNone/>
            </a:pPr>
            <a:r>
              <a:rPr lang="en-US" sz="1000" dirty="0">
                <a:solidFill>
                  <a:srgbClr val="A1A1AA"/>
                </a:solidFill>
                <a:latin typeface="Calibri" pitchFamily="34" charset="0"/>
                <a:ea typeface="Calibri" pitchFamily="34" charset="-122"/>
                <a:cs typeface="Calibri" pitchFamily="34" charset="-120"/>
              </a:rPr>
              <a:t>Query sector impact for FEDFUNDS against all 14 tracked assets. The API returns a ranked table — financials, utilities, and real estate ETFs typically show the strongest correlations with interest rate changes, useful for portfolio positioning.</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B"/>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0A0B"/>
          </a:solidFill>
          <a:ln/>
        </p:spPr>
      </p:sp>
      <p:sp>
        <p:nvSpPr>
          <p:cNvPr id="3" name="Shape 1"/>
          <p:cNvSpPr/>
          <p:nvPr/>
        </p:nvSpPr>
        <p:spPr>
          <a:xfrm>
            <a:off x="0" y="0"/>
            <a:ext cx="9144000" cy="2743"/>
          </a:xfrm>
          <a:prstGeom prst="rect">
            <a:avLst/>
          </a:prstGeom>
          <a:solidFill>
            <a:srgbClr val="27272A"/>
          </a:solidFill>
          <a:ln/>
        </p:spPr>
      </p:sp>
      <p:sp>
        <p:nvSpPr>
          <p:cNvPr id="4" name="Text 2"/>
          <p:cNvSpPr/>
          <p:nvPr/>
        </p:nvSpPr>
        <p:spPr>
          <a:xfrm>
            <a:off x="411480" y="164592"/>
            <a:ext cx="8229600" cy="384048"/>
          </a:xfrm>
          <a:prstGeom prst="rect">
            <a:avLst/>
          </a:prstGeom>
          <a:noFill/>
          <a:ln/>
        </p:spPr>
        <p:txBody>
          <a:bodyPr wrap="square" rtlCol="0" anchor="ctr"/>
          <a:lstStyle/>
          <a:p>
            <a:pPr indent="0" marL="0">
              <a:buNone/>
            </a:pPr>
            <a:r>
              <a:rPr lang="en-US" sz="2000" b="1" spc="-50" kern="0" dirty="0">
                <a:solidFill>
                  <a:srgbClr val="FAFAFA"/>
                </a:solidFill>
                <a:latin typeface="Calibri" pitchFamily="34" charset="0"/>
                <a:ea typeface="Calibri" pitchFamily="34" charset="-122"/>
                <a:cs typeface="Calibri" pitchFamily="34" charset="-120"/>
              </a:rPr>
              <a:t>Architecture &amp; Design Decisions</a:t>
            </a:r>
            <a:endParaRPr lang="en-US" sz="2000" dirty="0"/>
          </a:p>
        </p:txBody>
      </p:sp>
      <p:sp>
        <p:nvSpPr>
          <p:cNvPr id="5" name="Shape 3"/>
          <p:cNvSpPr/>
          <p:nvPr/>
        </p:nvSpPr>
        <p:spPr>
          <a:xfrm>
            <a:off x="411480" y="585216"/>
            <a:ext cx="8321040" cy="10973"/>
          </a:xfrm>
          <a:prstGeom prst="rect">
            <a:avLst/>
          </a:prstGeom>
          <a:solidFill>
            <a:srgbClr val="27272A"/>
          </a:solidFill>
          <a:ln/>
        </p:spPr>
      </p:sp>
      <p:sp>
        <p:nvSpPr>
          <p:cNvPr id="6" name="Shape 4"/>
          <p:cNvSpPr/>
          <p:nvPr/>
        </p:nvSpPr>
        <p:spPr>
          <a:xfrm>
            <a:off x="411480" y="713232"/>
            <a:ext cx="8321040" cy="960120"/>
          </a:xfrm>
          <a:prstGeom prst="rect">
            <a:avLst/>
          </a:prstGeom>
          <a:solidFill>
            <a:srgbClr val="111113"/>
          </a:solidFill>
          <a:ln w="12700">
            <a:solidFill>
              <a:srgbClr val="27272A"/>
            </a:solidFill>
            <a:prstDash val="solid"/>
          </a:ln>
        </p:spPr>
      </p:sp>
      <p:sp>
        <p:nvSpPr>
          <p:cNvPr id="7" name="Shape 5"/>
          <p:cNvSpPr/>
          <p:nvPr/>
        </p:nvSpPr>
        <p:spPr>
          <a:xfrm>
            <a:off x="411480" y="713232"/>
            <a:ext cx="45720" cy="960120"/>
          </a:xfrm>
          <a:prstGeom prst="rect">
            <a:avLst/>
          </a:prstGeom>
          <a:solidFill>
            <a:srgbClr val="D4A853"/>
          </a:solidFill>
          <a:ln/>
        </p:spPr>
      </p:sp>
      <p:sp>
        <p:nvSpPr>
          <p:cNvPr id="8" name="Text 6"/>
          <p:cNvSpPr/>
          <p:nvPr/>
        </p:nvSpPr>
        <p:spPr>
          <a:xfrm>
            <a:off x="594360" y="804672"/>
            <a:ext cx="7955280" cy="237744"/>
          </a:xfrm>
          <a:prstGeom prst="rect">
            <a:avLst/>
          </a:prstGeom>
          <a:noFill/>
          <a:ln/>
        </p:spPr>
        <p:txBody>
          <a:bodyPr wrap="square" lIns="0" tIns="0" rIns="0" bIns="0" rtlCol="0" anchor="ctr"/>
          <a:lstStyle/>
          <a:p>
            <a:pPr indent="0" marL="0">
              <a:buNone/>
            </a:pPr>
            <a:r>
              <a:rPr lang="en-US" sz="1100" b="1" dirty="0">
                <a:solidFill>
                  <a:srgbClr val="FAFAFA"/>
                </a:solidFill>
                <a:latin typeface="Calibri" pitchFamily="34" charset="0"/>
                <a:ea typeface="Calibri" pitchFamily="34" charset="-122"/>
                <a:cs typeface="Calibri" pitchFamily="34" charset="-120"/>
              </a:rPr>
              <a:t>REST or GraphQL?</a:t>
            </a:r>
            <a:endParaRPr lang="en-US" sz="1100" dirty="0"/>
          </a:p>
        </p:txBody>
      </p:sp>
      <p:sp>
        <p:nvSpPr>
          <p:cNvPr id="9" name="Text 7"/>
          <p:cNvSpPr/>
          <p:nvPr/>
        </p:nvSpPr>
        <p:spPr>
          <a:xfrm>
            <a:off x="594360" y="1078992"/>
            <a:ext cx="7955280" cy="521208"/>
          </a:xfrm>
          <a:prstGeom prst="rect">
            <a:avLst/>
          </a:prstGeom>
          <a:noFill/>
          <a:ln/>
        </p:spPr>
        <p:txBody>
          <a:bodyPr wrap="square" lIns="0" tIns="0" rIns="0" bIns="0" rtlCol="0" anchor="ctr"/>
          <a:lstStyle/>
          <a:p>
            <a:pPr indent="0" marL="0">
              <a:buNone/>
            </a:pPr>
            <a:r>
              <a:rPr lang="en-US" sz="1000" dirty="0">
                <a:solidFill>
                  <a:srgbClr val="A1A1AA"/>
                </a:solidFill>
                <a:latin typeface="Calibri" pitchFamily="34" charset="0"/>
                <a:ea typeface="Calibri" pitchFamily="34" charset="-122"/>
                <a:cs typeface="Calibri" pitchFamily="34" charset="-120"/>
              </a:rPr>
              <a:t>REST. The analytics endpoints run full server-side computations regardless of what the client requests — a Pearson correlation must compute in full either way. GraphQL's flexible data fetching offers no benefit here. REST also integrates naturally with HTTP caching.</a:t>
            </a:r>
            <a:endParaRPr lang="en-US" sz="1000" dirty="0"/>
          </a:p>
        </p:txBody>
      </p:sp>
      <p:sp>
        <p:nvSpPr>
          <p:cNvPr id="10" name="Shape 8"/>
          <p:cNvSpPr/>
          <p:nvPr/>
        </p:nvSpPr>
        <p:spPr>
          <a:xfrm>
            <a:off x="411480" y="1783080"/>
            <a:ext cx="8321040" cy="960120"/>
          </a:xfrm>
          <a:prstGeom prst="rect">
            <a:avLst/>
          </a:prstGeom>
          <a:solidFill>
            <a:srgbClr val="111113"/>
          </a:solidFill>
          <a:ln w="12700">
            <a:solidFill>
              <a:srgbClr val="27272A"/>
            </a:solidFill>
            <a:prstDash val="solid"/>
          </a:ln>
        </p:spPr>
      </p:sp>
      <p:sp>
        <p:nvSpPr>
          <p:cNvPr id="11" name="Shape 9"/>
          <p:cNvSpPr/>
          <p:nvPr/>
        </p:nvSpPr>
        <p:spPr>
          <a:xfrm>
            <a:off x="411480" y="1783080"/>
            <a:ext cx="45720" cy="960120"/>
          </a:xfrm>
          <a:prstGeom prst="rect">
            <a:avLst/>
          </a:prstGeom>
          <a:solidFill>
            <a:srgbClr val="4ADE80"/>
          </a:solidFill>
          <a:ln/>
        </p:spPr>
      </p:sp>
      <p:sp>
        <p:nvSpPr>
          <p:cNvPr id="12" name="Text 10"/>
          <p:cNvSpPr/>
          <p:nvPr/>
        </p:nvSpPr>
        <p:spPr>
          <a:xfrm>
            <a:off x="594360" y="1874520"/>
            <a:ext cx="7955280" cy="237744"/>
          </a:xfrm>
          <a:prstGeom prst="rect">
            <a:avLst/>
          </a:prstGeom>
          <a:noFill/>
          <a:ln/>
        </p:spPr>
        <p:txBody>
          <a:bodyPr wrap="square" lIns="0" tIns="0" rIns="0" bIns="0" rtlCol="0" anchor="ctr"/>
          <a:lstStyle/>
          <a:p>
            <a:pPr indent="0" marL="0">
              <a:buNone/>
            </a:pPr>
            <a:r>
              <a:rPr lang="en-US" sz="1100" b="1" dirty="0">
                <a:solidFill>
                  <a:srgbClr val="FAFAFA"/>
                </a:solidFill>
                <a:latin typeface="Calibri" pitchFamily="34" charset="0"/>
                <a:ea typeface="Calibri" pitchFamily="34" charset="-122"/>
                <a:cs typeface="Calibri" pitchFamily="34" charset="-120"/>
              </a:rPr>
              <a:t>Why separate metadata from time-series?</a:t>
            </a:r>
            <a:endParaRPr lang="en-US" sz="1100" dirty="0"/>
          </a:p>
        </p:txBody>
      </p:sp>
      <p:sp>
        <p:nvSpPr>
          <p:cNvPr id="13" name="Text 11"/>
          <p:cNvSpPr/>
          <p:nvPr/>
        </p:nvSpPr>
        <p:spPr>
          <a:xfrm>
            <a:off x="594360" y="2148840"/>
            <a:ext cx="7955280" cy="521208"/>
          </a:xfrm>
          <a:prstGeom prst="rect">
            <a:avLst/>
          </a:prstGeom>
          <a:noFill/>
          <a:ln/>
        </p:spPr>
        <p:txBody>
          <a:bodyPr wrap="square" lIns="0" tIns="0" rIns="0" bIns="0" rtlCol="0" anchor="ctr"/>
          <a:lstStyle/>
          <a:p>
            <a:pPr indent="0" marL="0">
              <a:buNone/>
            </a:pPr>
            <a:r>
              <a:rPr lang="en-US" sz="1000" dirty="0">
                <a:solidFill>
                  <a:srgbClr val="A1A1AA"/>
                </a:solidFill>
                <a:latin typeface="Calibri" pitchFamily="34" charset="0"/>
                <a:ea typeface="Calibri" pitchFamily="34" charset="-122"/>
                <a:cs typeface="Calibri" pitchFamily="34" charset="-120"/>
              </a:rPr>
              <a:t>Second Normal Form (2NF). Without separation, indicator metadata repeats on every observation row — for CPI alone (~930 rows back to 1947), that's 930 redundant copies. Composite index on (indicator_id, date) enables fast range queries. Unique constraints make ingestion idempotent.</a:t>
            </a:r>
            <a:endParaRPr lang="en-US" sz="1000" dirty="0"/>
          </a:p>
        </p:txBody>
      </p:sp>
      <p:sp>
        <p:nvSpPr>
          <p:cNvPr id="14" name="Shape 12"/>
          <p:cNvSpPr/>
          <p:nvPr/>
        </p:nvSpPr>
        <p:spPr>
          <a:xfrm>
            <a:off x="411480" y="2852928"/>
            <a:ext cx="8321040" cy="960120"/>
          </a:xfrm>
          <a:prstGeom prst="rect">
            <a:avLst/>
          </a:prstGeom>
          <a:solidFill>
            <a:srgbClr val="111113"/>
          </a:solidFill>
          <a:ln w="12700">
            <a:solidFill>
              <a:srgbClr val="27272A"/>
            </a:solidFill>
            <a:prstDash val="solid"/>
          </a:ln>
        </p:spPr>
      </p:sp>
      <p:sp>
        <p:nvSpPr>
          <p:cNvPr id="15" name="Shape 13"/>
          <p:cNvSpPr/>
          <p:nvPr/>
        </p:nvSpPr>
        <p:spPr>
          <a:xfrm>
            <a:off x="411480" y="2852928"/>
            <a:ext cx="45720" cy="960120"/>
          </a:xfrm>
          <a:prstGeom prst="rect">
            <a:avLst/>
          </a:prstGeom>
          <a:solidFill>
            <a:srgbClr val="60A5FA"/>
          </a:solidFill>
          <a:ln/>
        </p:spPr>
      </p:sp>
      <p:sp>
        <p:nvSpPr>
          <p:cNvPr id="16" name="Text 14"/>
          <p:cNvSpPr/>
          <p:nvPr/>
        </p:nvSpPr>
        <p:spPr>
          <a:xfrm>
            <a:off x="594360" y="2944368"/>
            <a:ext cx="7955280" cy="237744"/>
          </a:xfrm>
          <a:prstGeom prst="rect">
            <a:avLst/>
          </a:prstGeom>
          <a:noFill/>
          <a:ln/>
        </p:spPr>
        <p:txBody>
          <a:bodyPr wrap="square" lIns="0" tIns="0" rIns="0" bIns="0" rtlCol="0" anchor="ctr"/>
          <a:lstStyle/>
          <a:p>
            <a:pPr indent="0" marL="0">
              <a:buNone/>
            </a:pPr>
            <a:r>
              <a:rPr lang="en-US" sz="1100" b="1" dirty="0">
                <a:solidFill>
                  <a:srgbClr val="FAFAFA"/>
                </a:solidFill>
                <a:latin typeface="Calibri" pitchFamily="34" charset="0"/>
                <a:ea typeface="Calibri" pitchFamily="34" charset="-122"/>
                <a:cs typeface="Calibri" pitchFamily="34" charset="-120"/>
              </a:rPr>
              <a:t>Why keep services separate from routers?</a:t>
            </a:r>
            <a:endParaRPr lang="en-US" sz="1100" dirty="0"/>
          </a:p>
        </p:txBody>
      </p:sp>
      <p:sp>
        <p:nvSpPr>
          <p:cNvPr id="17" name="Text 15"/>
          <p:cNvSpPr/>
          <p:nvPr/>
        </p:nvSpPr>
        <p:spPr>
          <a:xfrm>
            <a:off x="594360" y="3218688"/>
            <a:ext cx="7955280" cy="521208"/>
          </a:xfrm>
          <a:prstGeom prst="rect">
            <a:avLst/>
          </a:prstGeom>
          <a:noFill/>
          <a:ln/>
        </p:spPr>
        <p:txBody>
          <a:bodyPr wrap="square" lIns="0" tIns="0" rIns="0" bIns="0" rtlCol="0" anchor="ctr"/>
          <a:lstStyle/>
          <a:p>
            <a:pPr indent="0" marL="0">
              <a:buNone/>
            </a:pPr>
            <a:r>
              <a:rPr lang="en-US" sz="1000" dirty="0">
                <a:solidFill>
                  <a:srgbClr val="A1A1AA"/>
                </a:solidFill>
                <a:latin typeface="Calibri" pitchFamily="34" charset="0"/>
                <a:ea typeface="Calibri" pitchFamily="34" charset="-122"/>
                <a:cs typeface="Calibri" pitchFamily="34" charset="-120"/>
              </a:rPr>
              <a:t>app/services/ holds all logic; app/routers/ handles only HTTP. The same analytics functions are called by the HTTP API, the MCP server, and the test suite — no code duplication, no HTTP dependency in the logic layer. Swapping data sources requires touching only the service file.</a:t>
            </a:r>
            <a:endParaRPr lang="en-US" sz="1000" dirty="0"/>
          </a:p>
        </p:txBody>
      </p:sp>
      <p:sp>
        <p:nvSpPr>
          <p:cNvPr id="18" name="Shape 16"/>
          <p:cNvSpPr/>
          <p:nvPr/>
        </p:nvSpPr>
        <p:spPr>
          <a:xfrm>
            <a:off x="411480" y="3922776"/>
            <a:ext cx="8321040" cy="960120"/>
          </a:xfrm>
          <a:prstGeom prst="rect">
            <a:avLst/>
          </a:prstGeom>
          <a:solidFill>
            <a:srgbClr val="111113"/>
          </a:solidFill>
          <a:ln w="12700">
            <a:solidFill>
              <a:srgbClr val="27272A"/>
            </a:solidFill>
            <a:prstDash val="solid"/>
          </a:ln>
        </p:spPr>
      </p:sp>
      <p:sp>
        <p:nvSpPr>
          <p:cNvPr id="19" name="Shape 17"/>
          <p:cNvSpPr/>
          <p:nvPr/>
        </p:nvSpPr>
        <p:spPr>
          <a:xfrm>
            <a:off x="411480" y="3922776"/>
            <a:ext cx="45720" cy="960120"/>
          </a:xfrm>
          <a:prstGeom prst="rect">
            <a:avLst/>
          </a:prstGeom>
          <a:solidFill>
            <a:srgbClr val="C084FC"/>
          </a:solidFill>
          <a:ln/>
        </p:spPr>
      </p:sp>
      <p:sp>
        <p:nvSpPr>
          <p:cNvPr id="20" name="Text 18"/>
          <p:cNvSpPr/>
          <p:nvPr/>
        </p:nvSpPr>
        <p:spPr>
          <a:xfrm>
            <a:off x="594360" y="4014216"/>
            <a:ext cx="7955280" cy="237744"/>
          </a:xfrm>
          <a:prstGeom prst="rect">
            <a:avLst/>
          </a:prstGeom>
          <a:noFill/>
          <a:ln/>
        </p:spPr>
        <p:txBody>
          <a:bodyPr wrap="square" lIns="0" tIns="0" rIns="0" bIns="0" rtlCol="0" anchor="ctr"/>
          <a:lstStyle/>
          <a:p>
            <a:pPr indent="0" marL="0">
              <a:buNone/>
            </a:pPr>
            <a:r>
              <a:rPr lang="en-US" sz="1100" b="1" dirty="0">
                <a:solidFill>
                  <a:srgbClr val="FAFAFA"/>
                </a:solidFill>
                <a:latin typeface="Calibri" pitchFamily="34" charset="0"/>
                <a:ea typeface="Calibri" pitchFamily="34" charset="-122"/>
                <a:cs typeface="Calibri" pitchFamily="34" charset="-120"/>
              </a:rPr>
              <a:t>SQLite in development — how does production work?</a:t>
            </a:r>
            <a:endParaRPr lang="en-US" sz="1100" dirty="0"/>
          </a:p>
        </p:txBody>
      </p:sp>
      <p:sp>
        <p:nvSpPr>
          <p:cNvPr id="21" name="Text 19"/>
          <p:cNvSpPr/>
          <p:nvPr/>
        </p:nvSpPr>
        <p:spPr>
          <a:xfrm>
            <a:off x="594360" y="4288536"/>
            <a:ext cx="7955280" cy="521208"/>
          </a:xfrm>
          <a:prstGeom prst="rect">
            <a:avLst/>
          </a:prstGeom>
          <a:noFill/>
          <a:ln/>
        </p:spPr>
        <p:txBody>
          <a:bodyPr wrap="square" lIns="0" tIns="0" rIns="0" bIns="0" rtlCol="0" anchor="ctr"/>
          <a:lstStyle/>
          <a:p>
            <a:pPr indent="0" marL="0">
              <a:buNone/>
            </a:pPr>
            <a:r>
              <a:rPr lang="en-US" sz="1000" dirty="0">
                <a:solidFill>
                  <a:srgbClr val="A1A1AA"/>
                </a:solidFill>
                <a:latin typeface="Calibri" pitchFamily="34" charset="0"/>
                <a:ea typeface="Calibri" pitchFamily="34" charset="-122"/>
                <a:cs typeface="Calibri" pitchFamily="34" charset="-120"/>
              </a:rPr>
              <a:t>SQLAlchemy ORM abstracts the database entirely. Switching to PostgreSQL or MySQL is one environment variable change — no model, query, or router code changes. No SQLite-specific features were used anywhere in the codebase.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B"/>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0A0B"/>
          </a:solidFill>
          <a:ln/>
        </p:spPr>
      </p:sp>
      <p:sp>
        <p:nvSpPr>
          <p:cNvPr id="3" name="Shape 1"/>
          <p:cNvSpPr/>
          <p:nvPr/>
        </p:nvSpPr>
        <p:spPr>
          <a:xfrm>
            <a:off x="0" y="0"/>
            <a:ext cx="9144000" cy="2743"/>
          </a:xfrm>
          <a:prstGeom prst="rect">
            <a:avLst/>
          </a:prstGeom>
          <a:solidFill>
            <a:srgbClr val="27272A"/>
          </a:solidFill>
          <a:ln/>
        </p:spPr>
      </p:sp>
      <p:sp>
        <p:nvSpPr>
          <p:cNvPr id="4" name="Text 2"/>
          <p:cNvSpPr/>
          <p:nvPr/>
        </p:nvSpPr>
        <p:spPr>
          <a:xfrm>
            <a:off x="411480" y="164592"/>
            <a:ext cx="8229600" cy="384048"/>
          </a:xfrm>
          <a:prstGeom prst="rect">
            <a:avLst/>
          </a:prstGeom>
          <a:noFill/>
          <a:ln/>
        </p:spPr>
        <p:txBody>
          <a:bodyPr wrap="square" rtlCol="0" anchor="ctr"/>
          <a:lstStyle/>
          <a:p>
            <a:pPr indent="0" marL="0">
              <a:buNone/>
            </a:pPr>
            <a:r>
              <a:rPr lang="en-US" sz="2000" b="1" spc="-50" kern="0" dirty="0">
                <a:solidFill>
                  <a:srgbClr val="FAFAFA"/>
                </a:solidFill>
                <a:latin typeface="Calibri" pitchFamily="34" charset="0"/>
                <a:ea typeface="Calibri" pitchFamily="34" charset="-122"/>
                <a:cs typeface="Calibri" pitchFamily="34" charset="-120"/>
              </a:rPr>
              <a:t>Tech Stack &amp; API Endpoints</a:t>
            </a:r>
            <a:endParaRPr lang="en-US" sz="2000" dirty="0"/>
          </a:p>
        </p:txBody>
      </p:sp>
      <p:sp>
        <p:nvSpPr>
          <p:cNvPr id="5" name="Shape 3"/>
          <p:cNvSpPr/>
          <p:nvPr/>
        </p:nvSpPr>
        <p:spPr>
          <a:xfrm>
            <a:off x="411480" y="585216"/>
            <a:ext cx="8321040" cy="10973"/>
          </a:xfrm>
          <a:prstGeom prst="rect">
            <a:avLst/>
          </a:prstGeom>
          <a:solidFill>
            <a:srgbClr val="27272A"/>
          </a:solidFill>
          <a:ln/>
        </p:spPr>
      </p:sp>
      <p:sp>
        <p:nvSpPr>
          <p:cNvPr id="6" name="Text 4"/>
          <p:cNvSpPr/>
          <p:nvPr/>
        </p:nvSpPr>
        <p:spPr>
          <a:xfrm>
            <a:off x="411480" y="713232"/>
            <a:ext cx="3200400" cy="201168"/>
          </a:xfrm>
          <a:prstGeom prst="rect">
            <a:avLst/>
          </a:prstGeom>
          <a:noFill/>
          <a:ln/>
        </p:spPr>
        <p:txBody>
          <a:bodyPr wrap="square" lIns="0" tIns="0" rIns="0" bIns="0" rtlCol="0" anchor="ctr"/>
          <a:lstStyle/>
          <a:p>
            <a:pPr indent="0" marL="0">
              <a:buNone/>
            </a:pPr>
            <a:r>
              <a:rPr lang="en-US" sz="850" b="1" spc="150" kern="0" dirty="0">
                <a:solidFill>
                  <a:srgbClr val="52525B"/>
                </a:solidFill>
                <a:latin typeface="Courier New" pitchFamily="34" charset="0"/>
                <a:ea typeface="Courier New" pitchFamily="34" charset="-122"/>
                <a:cs typeface="Courier New" pitchFamily="34" charset="-120"/>
              </a:rPr>
              <a:t>STACK</a:t>
            </a:r>
            <a:endParaRPr lang="en-US" sz="850" dirty="0"/>
          </a:p>
        </p:txBody>
      </p:sp>
      <p:sp>
        <p:nvSpPr>
          <p:cNvPr id="7" name="Shape 5"/>
          <p:cNvSpPr/>
          <p:nvPr/>
        </p:nvSpPr>
        <p:spPr>
          <a:xfrm>
            <a:off x="411480" y="969264"/>
            <a:ext cx="3749040" cy="310896"/>
          </a:xfrm>
          <a:prstGeom prst="rect">
            <a:avLst/>
          </a:prstGeom>
          <a:solidFill>
            <a:srgbClr val="111113"/>
          </a:solidFill>
          <a:ln w="12700">
            <a:solidFill>
              <a:srgbClr val="27272A"/>
            </a:solidFill>
            <a:prstDash val="solid"/>
          </a:ln>
        </p:spPr>
      </p:sp>
      <p:sp>
        <p:nvSpPr>
          <p:cNvPr id="8" name="Text 6"/>
          <p:cNvSpPr/>
          <p:nvPr/>
        </p:nvSpPr>
        <p:spPr>
          <a:xfrm>
            <a:off x="548640" y="1014984"/>
            <a:ext cx="1371600" cy="219456"/>
          </a:xfrm>
          <a:prstGeom prst="rect">
            <a:avLst/>
          </a:prstGeom>
          <a:noFill/>
          <a:ln/>
        </p:spPr>
        <p:txBody>
          <a:bodyPr wrap="square" lIns="0" tIns="0" rIns="0" bIns="0" rtlCol="0" anchor="ctr"/>
          <a:lstStyle/>
          <a:p>
            <a:pPr indent="0" marL="0">
              <a:buNone/>
            </a:pPr>
            <a:r>
              <a:rPr lang="en-US" sz="950" dirty="0">
                <a:solidFill>
                  <a:srgbClr val="52525B"/>
                </a:solidFill>
                <a:latin typeface="Calibri" pitchFamily="34" charset="0"/>
                <a:ea typeface="Calibri" pitchFamily="34" charset="-122"/>
                <a:cs typeface="Calibri" pitchFamily="34" charset="-120"/>
              </a:rPr>
              <a:t>Framework</a:t>
            </a:r>
            <a:endParaRPr lang="en-US" sz="950" dirty="0"/>
          </a:p>
        </p:txBody>
      </p:sp>
      <p:sp>
        <p:nvSpPr>
          <p:cNvPr id="9" name="Text 7"/>
          <p:cNvSpPr/>
          <p:nvPr/>
        </p:nvSpPr>
        <p:spPr>
          <a:xfrm>
            <a:off x="1965960" y="1014984"/>
            <a:ext cx="2011680" cy="219456"/>
          </a:xfrm>
          <a:prstGeom prst="rect">
            <a:avLst/>
          </a:prstGeom>
          <a:noFill/>
          <a:ln/>
        </p:spPr>
        <p:txBody>
          <a:bodyPr wrap="square" lIns="0" tIns="0" rIns="0" bIns="0" rtlCol="0" anchor="ctr"/>
          <a:lstStyle/>
          <a:p>
            <a:pPr indent="0" marL="0">
              <a:buNone/>
            </a:pPr>
            <a:r>
              <a:rPr lang="en-US" sz="950" b="1" dirty="0">
                <a:solidFill>
                  <a:srgbClr val="D4A853"/>
                </a:solidFill>
                <a:latin typeface="Calibri" pitchFamily="34" charset="0"/>
                <a:ea typeface="Calibri" pitchFamily="34" charset="-122"/>
                <a:cs typeface="Calibri" pitchFamily="34" charset="-120"/>
              </a:rPr>
              <a:t>FastAPI 0.124</a:t>
            </a:r>
            <a:endParaRPr lang="en-US" sz="950" dirty="0"/>
          </a:p>
        </p:txBody>
      </p:sp>
      <p:sp>
        <p:nvSpPr>
          <p:cNvPr id="10" name="Shape 8"/>
          <p:cNvSpPr/>
          <p:nvPr/>
        </p:nvSpPr>
        <p:spPr>
          <a:xfrm>
            <a:off x="411480" y="1303020"/>
            <a:ext cx="3749040" cy="310896"/>
          </a:xfrm>
          <a:prstGeom prst="rect">
            <a:avLst/>
          </a:prstGeom>
          <a:solidFill>
            <a:srgbClr val="18181B"/>
          </a:solidFill>
          <a:ln w="12700">
            <a:solidFill>
              <a:srgbClr val="27272A"/>
            </a:solidFill>
            <a:prstDash val="solid"/>
          </a:ln>
        </p:spPr>
      </p:sp>
      <p:sp>
        <p:nvSpPr>
          <p:cNvPr id="11" name="Text 9"/>
          <p:cNvSpPr/>
          <p:nvPr/>
        </p:nvSpPr>
        <p:spPr>
          <a:xfrm>
            <a:off x="548640" y="1348740"/>
            <a:ext cx="1371600" cy="219456"/>
          </a:xfrm>
          <a:prstGeom prst="rect">
            <a:avLst/>
          </a:prstGeom>
          <a:noFill/>
          <a:ln/>
        </p:spPr>
        <p:txBody>
          <a:bodyPr wrap="square" lIns="0" tIns="0" rIns="0" bIns="0" rtlCol="0" anchor="ctr"/>
          <a:lstStyle/>
          <a:p>
            <a:pPr indent="0" marL="0">
              <a:buNone/>
            </a:pPr>
            <a:r>
              <a:rPr lang="en-US" sz="950" dirty="0">
                <a:solidFill>
                  <a:srgbClr val="52525B"/>
                </a:solidFill>
                <a:latin typeface="Calibri" pitchFamily="34" charset="0"/>
                <a:ea typeface="Calibri" pitchFamily="34" charset="-122"/>
                <a:cs typeface="Calibri" pitchFamily="34" charset="-120"/>
              </a:rPr>
              <a:t>Server</a:t>
            </a:r>
            <a:endParaRPr lang="en-US" sz="950" dirty="0"/>
          </a:p>
        </p:txBody>
      </p:sp>
      <p:sp>
        <p:nvSpPr>
          <p:cNvPr id="12" name="Text 10"/>
          <p:cNvSpPr/>
          <p:nvPr/>
        </p:nvSpPr>
        <p:spPr>
          <a:xfrm>
            <a:off x="1965960" y="1348740"/>
            <a:ext cx="2011680" cy="219456"/>
          </a:xfrm>
          <a:prstGeom prst="rect">
            <a:avLst/>
          </a:prstGeom>
          <a:noFill/>
          <a:ln/>
        </p:spPr>
        <p:txBody>
          <a:bodyPr wrap="square" lIns="0" tIns="0" rIns="0" bIns="0" rtlCol="0" anchor="ctr"/>
          <a:lstStyle/>
          <a:p>
            <a:pPr indent="0" marL="0">
              <a:buNone/>
            </a:pPr>
            <a:r>
              <a:rPr lang="en-US" sz="950" b="1" dirty="0">
                <a:solidFill>
                  <a:srgbClr val="D4A853"/>
                </a:solidFill>
                <a:latin typeface="Calibri" pitchFamily="34" charset="0"/>
                <a:ea typeface="Calibri" pitchFamily="34" charset="-122"/>
                <a:cs typeface="Calibri" pitchFamily="34" charset="-120"/>
              </a:rPr>
              <a:t>Uvicorn (ASGI)</a:t>
            </a:r>
            <a:endParaRPr lang="en-US" sz="950" dirty="0"/>
          </a:p>
        </p:txBody>
      </p:sp>
      <p:sp>
        <p:nvSpPr>
          <p:cNvPr id="13" name="Shape 11"/>
          <p:cNvSpPr/>
          <p:nvPr/>
        </p:nvSpPr>
        <p:spPr>
          <a:xfrm>
            <a:off x="411480" y="1636776"/>
            <a:ext cx="3749040" cy="310896"/>
          </a:xfrm>
          <a:prstGeom prst="rect">
            <a:avLst/>
          </a:prstGeom>
          <a:solidFill>
            <a:srgbClr val="111113"/>
          </a:solidFill>
          <a:ln w="12700">
            <a:solidFill>
              <a:srgbClr val="27272A"/>
            </a:solidFill>
            <a:prstDash val="solid"/>
          </a:ln>
        </p:spPr>
      </p:sp>
      <p:sp>
        <p:nvSpPr>
          <p:cNvPr id="14" name="Text 12"/>
          <p:cNvSpPr/>
          <p:nvPr/>
        </p:nvSpPr>
        <p:spPr>
          <a:xfrm>
            <a:off x="548640" y="1682496"/>
            <a:ext cx="1371600" cy="219456"/>
          </a:xfrm>
          <a:prstGeom prst="rect">
            <a:avLst/>
          </a:prstGeom>
          <a:noFill/>
          <a:ln/>
        </p:spPr>
        <p:txBody>
          <a:bodyPr wrap="square" lIns="0" tIns="0" rIns="0" bIns="0" rtlCol="0" anchor="ctr"/>
          <a:lstStyle/>
          <a:p>
            <a:pPr indent="0" marL="0">
              <a:buNone/>
            </a:pPr>
            <a:r>
              <a:rPr lang="en-US" sz="950" dirty="0">
                <a:solidFill>
                  <a:srgbClr val="52525B"/>
                </a:solidFill>
                <a:latin typeface="Calibri" pitchFamily="34" charset="0"/>
                <a:ea typeface="Calibri" pitchFamily="34" charset="-122"/>
                <a:cs typeface="Calibri" pitchFamily="34" charset="-120"/>
              </a:rPr>
              <a:t>ORM</a:t>
            </a:r>
            <a:endParaRPr lang="en-US" sz="950" dirty="0"/>
          </a:p>
        </p:txBody>
      </p:sp>
      <p:sp>
        <p:nvSpPr>
          <p:cNvPr id="15" name="Text 13"/>
          <p:cNvSpPr/>
          <p:nvPr/>
        </p:nvSpPr>
        <p:spPr>
          <a:xfrm>
            <a:off x="1965960" y="1682496"/>
            <a:ext cx="2011680" cy="219456"/>
          </a:xfrm>
          <a:prstGeom prst="rect">
            <a:avLst/>
          </a:prstGeom>
          <a:noFill/>
          <a:ln/>
        </p:spPr>
        <p:txBody>
          <a:bodyPr wrap="square" lIns="0" tIns="0" rIns="0" bIns="0" rtlCol="0" anchor="ctr"/>
          <a:lstStyle/>
          <a:p>
            <a:pPr indent="0" marL="0">
              <a:buNone/>
            </a:pPr>
            <a:r>
              <a:rPr lang="en-US" sz="950" b="1" dirty="0">
                <a:solidFill>
                  <a:srgbClr val="60A5FA"/>
                </a:solidFill>
                <a:latin typeface="Calibri" pitchFamily="34" charset="0"/>
                <a:ea typeface="Calibri" pitchFamily="34" charset="-122"/>
                <a:cs typeface="Calibri" pitchFamily="34" charset="-120"/>
              </a:rPr>
              <a:t>SQLAlchemy 2.0</a:t>
            </a:r>
            <a:endParaRPr lang="en-US" sz="950" dirty="0"/>
          </a:p>
        </p:txBody>
      </p:sp>
      <p:sp>
        <p:nvSpPr>
          <p:cNvPr id="16" name="Shape 14"/>
          <p:cNvSpPr/>
          <p:nvPr/>
        </p:nvSpPr>
        <p:spPr>
          <a:xfrm>
            <a:off x="411480" y="1970532"/>
            <a:ext cx="3749040" cy="310896"/>
          </a:xfrm>
          <a:prstGeom prst="rect">
            <a:avLst/>
          </a:prstGeom>
          <a:solidFill>
            <a:srgbClr val="18181B"/>
          </a:solidFill>
          <a:ln w="12700">
            <a:solidFill>
              <a:srgbClr val="27272A"/>
            </a:solidFill>
            <a:prstDash val="solid"/>
          </a:ln>
        </p:spPr>
      </p:sp>
      <p:sp>
        <p:nvSpPr>
          <p:cNvPr id="17" name="Text 15"/>
          <p:cNvSpPr/>
          <p:nvPr/>
        </p:nvSpPr>
        <p:spPr>
          <a:xfrm>
            <a:off x="548640" y="2016252"/>
            <a:ext cx="1371600" cy="219456"/>
          </a:xfrm>
          <a:prstGeom prst="rect">
            <a:avLst/>
          </a:prstGeom>
          <a:noFill/>
          <a:ln/>
        </p:spPr>
        <p:txBody>
          <a:bodyPr wrap="square" lIns="0" tIns="0" rIns="0" bIns="0" rtlCol="0" anchor="ctr"/>
          <a:lstStyle/>
          <a:p>
            <a:pPr indent="0" marL="0">
              <a:buNone/>
            </a:pPr>
            <a:r>
              <a:rPr lang="en-US" sz="950" dirty="0">
                <a:solidFill>
                  <a:srgbClr val="52525B"/>
                </a:solidFill>
                <a:latin typeface="Calibri" pitchFamily="34" charset="0"/>
                <a:ea typeface="Calibri" pitchFamily="34" charset="-122"/>
                <a:cs typeface="Calibri" pitchFamily="34" charset="-120"/>
              </a:rPr>
              <a:t>Validation</a:t>
            </a:r>
            <a:endParaRPr lang="en-US" sz="950" dirty="0"/>
          </a:p>
        </p:txBody>
      </p:sp>
      <p:sp>
        <p:nvSpPr>
          <p:cNvPr id="18" name="Text 16"/>
          <p:cNvSpPr/>
          <p:nvPr/>
        </p:nvSpPr>
        <p:spPr>
          <a:xfrm>
            <a:off x="1965960" y="2016252"/>
            <a:ext cx="2011680" cy="219456"/>
          </a:xfrm>
          <a:prstGeom prst="rect">
            <a:avLst/>
          </a:prstGeom>
          <a:noFill/>
          <a:ln/>
        </p:spPr>
        <p:txBody>
          <a:bodyPr wrap="square" lIns="0" tIns="0" rIns="0" bIns="0" rtlCol="0" anchor="ctr"/>
          <a:lstStyle/>
          <a:p>
            <a:pPr indent="0" marL="0">
              <a:buNone/>
            </a:pPr>
            <a:r>
              <a:rPr lang="en-US" sz="950" b="1" dirty="0">
                <a:solidFill>
                  <a:srgbClr val="60A5FA"/>
                </a:solidFill>
                <a:latin typeface="Calibri" pitchFamily="34" charset="0"/>
                <a:ea typeface="Calibri" pitchFamily="34" charset="-122"/>
                <a:cs typeface="Calibri" pitchFamily="34" charset="-120"/>
              </a:rPr>
              <a:t>Pydantic v2</a:t>
            </a:r>
            <a:endParaRPr lang="en-US" sz="950" dirty="0"/>
          </a:p>
        </p:txBody>
      </p:sp>
      <p:sp>
        <p:nvSpPr>
          <p:cNvPr id="19" name="Shape 17"/>
          <p:cNvSpPr/>
          <p:nvPr/>
        </p:nvSpPr>
        <p:spPr>
          <a:xfrm>
            <a:off x="411480" y="2304288"/>
            <a:ext cx="3749040" cy="310896"/>
          </a:xfrm>
          <a:prstGeom prst="rect">
            <a:avLst/>
          </a:prstGeom>
          <a:solidFill>
            <a:srgbClr val="111113"/>
          </a:solidFill>
          <a:ln w="12700">
            <a:solidFill>
              <a:srgbClr val="27272A"/>
            </a:solidFill>
            <a:prstDash val="solid"/>
          </a:ln>
        </p:spPr>
      </p:sp>
      <p:sp>
        <p:nvSpPr>
          <p:cNvPr id="20" name="Text 18"/>
          <p:cNvSpPr/>
          <p:nvPr/>
        </p:nvSpPr>
        <p:spPr>
          <a:xfrm>
            <a:off x="548640" y="2350008"/>
            <a:ext cx="1371600" cy="219456"/>
          </a:xfrm>
          <a:prstGeom prst="rect">
            <a:avLst/>
          </a:prstGeom>
          <a:noFill/>
          <a:ln/>
        </p:spPr>
        <p:txBody>
          <a:bodyPr wrap="square" lIns="0" tIns="0" rIns="0" bIns="0" rtlCol="0" anchor="ctr"/>
          <a:lstStyle/>
          <a:p>
            <a:pPr indent="0" marL="0">
              <a:buNone/>
            </a:pPr>
            <a:r>
              <a:rPr lang="en-US" sz="950" dirty="0">
                <a:solidFill>
                  <a:srgbClr val="52525B"/>
                </a:solidFill>
                <a:latin typeface="Calibri" pitchFamily="34" charset="0"/>
                <a:ea typeface="Calibri" pitchFamily="34" charset="-122"/>
                <a:cs typeface="Calibri" pitchFamily="34" charset="-120"/>
              </a:rPr>
              <a:t>Database</a:t>
            </a:r>
            <a:endParaRPr lang="en-US" sz="950" dirty="0"/>
          </a:p>
        </p:txBody>
      </p:sp>
      <p:sp>
        <p:nvSpPr>
          <p:cNvPr id="21" name="Text 19"/>
          <p:cNvSpPr/>
          <p:nvPr/>
        </p:nvSpPr>
        <p:spPr>
          <a:xfrm>
            <a:off x="1965960" y="2350008"/>
            <a:ext cx="2011680" cy="219456"/>
          </a:xfrm>
          <a:prstGeom prst="rect">
            <a:avLst/>
          </a:prstGeom>
          <a:noFill/>
          <a:ln/>
        </p:spPr>
        <p:txBody>
          <a:bodyPr wrap="square" lIns="0" tIns="0" rIns="0" bIns="0"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SQLite → PostgreSQL</a:t>
            </a:r>
            <a:endParaRPr lang="en-US" sz="950" dirty="0"/>
          </a:p>
        </p:txBody>
      </p:sp>
      <p:sp>
        <p:nvSpPr>
          <p:cNvPr id="22" name="Shape 20"/>
          <p:cNvSpPr/>
          <p:nvPr/>
        </p:nvSpPr>
        <p:spPr>
          <a:xfrm>
            <a:off x="411480" y="2638044"/>
            <a:ext cx="3749040" cy="310896"/>
          </a:xfrm>
          <a:prstGeom prst="rect">
            <a:avLst/>
          </a:prstGeom>
          <a:solidFill>
            <a:srgbClr val="18181B"/>
          </a:solidFill>
          <a:ln w="12700">
            <a:solidFill>
              <a:srgbClr val="27272A"/>
            </a:solidFill>
            <a:prstDash val="solid"/>
          </a:ln>
        </p:spPr>
      </p:sp>
      <p:sp>
        <p:nvSpPr>
          <p:cNvPr id="23" name="Text 21"/>
          <p:cNvSpPr/>
          <p:nvPr/>
        </p:nvSpPr>
        <p:spPr>
          <a:xfrm>
            <a:off x="548640" y="2683764"/>
            <a:ext cx="1371600" cy="219456"/>
          </a:xfrm>
          <a:prstGeom prst="rect">
            <a:avLst/>
          </a:prstGeom>
          <a:noFill/>
          <a:ln/>
        </p:spPr>
        <p:txBody>
          <a:bodyPr wrap="square" lIns="0" tIns="0" rIns="0" bIns="0" rtlCol="0" anchor="ctr"/>
          <a:lstStyle/>
          <a:p>
            <a:pPr indent="0" marL="0">
              <a:buNone/>
            </a:pPr>
            <a:r>
              <a:rPr lang="en-US" sz="950" dirty="0">
                <a:solidFill>
                  <a:srgbClr val="52525B"/>
                </a:solidFill>
                <a:latin typeface="Calibri" pitchFamily="34" charset="0"/>
                <a:ea typeface="Calibri" pitchFamily="34" charset="-122"/>
                <a:cs typeface="Calibri" pitchFamily="34" charset="-120"/>
              </a:rPr>
              <a:t>Statistics</a:t>
            </a:r>
            <a:endParaRPr lang="en-US" sz="950" dirty="0"/>
          </a:p>
        </p:txBody>
      </p:sp>
      <p:sp>
        <p:nvSpPr>
          <p:cNvPr id="24" name="Text 22"/>
          <p:cNvSpPr/>
          <p:nvPr/>
        </p:nvSpPr>
        <p:spPr>
          <a:xfrm>
            <a:off x="1965960" y="2683764"/>
            <a:ext cx="2011680" cy="219456"/>
          </a:xfrm>
          <a:prstGeom prst="rect">
            <a:avLst/>
          </a:prstGeom>
          <a:noFill/>
          <a:ln/>
        </p:spPr>
        <p:txBody>
          <a:bodyPr wrap="square" lIns="0" tIns="0" rIns="0" bIns="0"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scipy + numpy</a:t>
            </a:r>
            <a:endParaRPr lang="en-US" sz="950" dirty="0"/>
          </a:p>
        </p:txBody>
      </p:sp>
      <p:sp>
        <p:nvSpPr>
          <p:cNvPr id="25" name="Shape 23"/>
          <p:cNvSpPr/>
          <p:nvPr/>
        </p:nvSpPr>
        <p:spPr>
          <a:xfrm>
            <a:off x="411480" y="2971800"/>
            <a:ext cx="3749040" cy="310896"/>
          </a:xfrm>
          <a:prstGeom prst="rect">
            <a:avLst/>
          </a:prstGeom>
          <a:solidFill>
            <a:srgbClr val="111113"/>
          </a:solidFill>
          <a:ln w="12700">
            <a:solidFill>
              <a:srgbClr val="27272A"/>
            </a:solidFill>
            <a:prstDash val="solid"/>
          </a:ln>
        </p:spPr>
      </p:sp>
      <p:sp>
        <p:nvSpPr>
          <p:cNvPr id="26" name="Text 24"/>
          <p:cNvSpPr/>
          <p:nvPr/>
        </p:nvSpPr>
        <p:spPr>
          <a:xfrm>
            <a:off x="548640" y="3017520"/>
            <a:ext cx="1371600" cy="219456"/>
          </a:xfrm>
          <a:prstGeom prst="rect">
            <a:avLst/>
          </a:prstGeom>
          <a:noFill/>
          <a:ln/>
        </p:spPr>
        <p:txBody>
          <a:bodyPr wrap="square" lIns="0" tIns="0" rIns="0" bIns="0" rtlCol="0" anchor="ctr"/>
          <a:lstStyle/>
          <a:p>
            <a:pPr indent="0" marL="0">
              <a:buNone/>
            </a:pPr>
            <a:r>
              <a:rPr lang="en-US" sz="950" dirty="0">
                <a:solidFill>
                  <a:srgbClr val="52525B"/>
                </a:solidFill>
                <a:latin typeface="Calibri" pitchFamily="34" charset="0"/>
                <a:ea typeface="Calibri" pitchFamily="34" charset="-122"/>
                <a:cs typeface="Calibri" pitchFamily="34" charset="-120"/>
              </a:rPr>
              <a:t>Time-Series</a:t>
            </a:r>
            <a:endParaRPr lang="en-US" sz="950" dirty="0"/>
          </a:p>
        </p:txBody>
      </p:sp>
      <p:sp>
        <p:nvSpPr>
          <p:cNvPr id="27" name="Text 25"/>
          <p:cNvSpPr/>
          <p:nvPr/>
        </p:nvSpPr>
        <p:spPr>
          <a:xfrm>
            <a:off x="1965960" y="3017520"/>
            <a:ext cx="2011680" cy="219456"/>
          </a:xfrm>
          <a:prstGeom prst="rect">
            <a:avLst/>
          </a:prstGeom>
          <a:noFill/>
          <a:ln/>
        </p:spPr>
        <p:txBody>
          <a:bodyPr wrap="square" lIns="0" tIns="0" rIns="0" bIns="0"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pandas 2.2</a:t>
            </a:r>
            <a:endParaRPr lang="en-US" sz="950" dirty="0"/>
          </a:p>
        </p:txBody>
      </p:sp>
      <p:sp>
        <p:nvSpPr>
          <p:cNvPr id="28" name="Shape 26"/>
          <p:cNvSpPr/>
          <p:nvPr/>
        </p:nvSpPr>
        <p:spPr>
          <a:xfrm>
            <a:off x="411480" y="3305556"/>
            <a:ext cx="3749040" cy="310896"/>
          </a:xfrm>
          <a:prstGeom prst="rect">
            <a:avLst/>
          </a:prstGeom>
          <a:solidFill>
            <a:srgbClr val="18181B"/>
          </a:solidFill>
          <a:ln w="12700">
            <a:solidFill>
              <a:srgbClr val="27272A"/>
            </a:solidFill>
            <a:prstDash val="solid"/>
          </a:ln>
        </p:spPr>
      </p:sp>
      <p:sp>
        <p:nvSpPr>
          <p:cNvPr id="29" name="Text 27"/>
          <p:cNvSpPr/>
          <p:nvPr/>
        </p:nvSpPr>
        <p:spPr>
          <a:xfrm>
            <a:off x="548640" y="3351276"/>
            <a:ext cx="1371600" cy="219456"/>
          </a:xfrm>
          <a:prstGeom prst="rect">
            <a:avLst/>
          </a:prstGeom>
          <a:noFill/>
          <a:ln/>
        </p:spPr>
        <p:txBody>
          <a:bodyPr wrap="square" lIns="0" tIns="0" rIns="0" bIns="0" rtlCol="0" anchor="ctr"/>
          <a:lstStyle/>
          <a:p>
            <a:pPr indent="0" marL="0">
              <a:buNone/>
            </a:pPr>
            <a:r>
              <a:rPr lang="en-US" sz="950" dirty="0">
                <a:solidFill>
                  <a:srgbClr val="52525B"/>
                </a:solidFill>
                <a:latin typeface="Calibri" pitchFamily="34" charset="0"/>
                <a:ea typeface="Calibri" pitchFamily="34" charset="-122"/>
                <a:cs typeface="Calibri" pitchFamily="34" charset="-120"/>
              </a:rPr>
              <a:t>FRED Data</a:t>
            </a:r>
            <a:endParaRPr lang="en-US" sz="950" dirty="0"/>
          </a:p>
        </p:txBody>
      </p:sp>
      <p:sp>
        <p:nvSpPr>
          <p:cNvPr id="30" name="Text 28"/>
          <p:cNvSpPr/>
          <p:nvPr/>
        </p:nvSpPr>
        <p:spPr>
          <a:xfrm>
            <a:off x="1965960" y="3351276"/>
            <a:ext cx="2011680" cy="219456"/>
          </a:xfrm>
          <a:prstGeom prst="rect">
            <a:avLst/>
          </a:prstGeom>
          <a:noFill/>
          <a:ln/>
        </p:spPr>
        <p:txBody>
          <a:bodyPr wrap="square" lIns="0" tIns="0" rIns="0" bIns="0" rtlCol="0" anchor="ctr"/>
          <a:lstStyle/>
          <a:p>
            <a:pPr indent="0" marL="0">
              <a:buNone/>
            </a:pPr>
            <a:r>
              <a:rPr lang="en-US" sz="950" b="1" dirty="0">
                <a:solidFill>
                  <a:srgbClr val="A1A1AA"/>
                </a:solidFill>
                <a:latin typeface="Calibri" pitchFamily="34" charset="0"/>
                <a:ea typeface="Calibri" pitchFamily="34" charset="-122"/>
                <a:cs typeface="Calibri" pitchFamily="34" charset="-120"/>
              </a:rPr>
              <a:t>fredapi</a:t>
            </a:r>
            <a:endParaRPr lang="en-US" sz="950" dirty="0"/>
          </a:p>
        </p:txBody>
      </p:sp>
      <p:sp>
        <p:nvSpPr>
          <p:cNvPr id="31" name="Shape 29"/>
          <p:cNvSpPr/>
          <p:nvPr/>
        </p:nvSpPr>
        <p:spPr>
          <a:xfrm>
            <a:off x="411480" y="3639312"/>
            <a:ext cx="3749040" cy="310896"/>
          </a:xfrm>
          <a:prstGeom prst="rect">
            <a:avLst/>
          </a:prstGeom>
          <a:solidFill>
            <a:srgbClr val="111113"/>
          </a:solidFill>
          <a:ln w="12700">
            <a:solidFill>
              <a:srgbClr val="27272A"/>
            </a:solidFill>
            <a:prstDash val="solid"/>
          </a:ln>
        </p:spPr>
      </p:sp>
      <p:sp>
        <p:nvSpPr>
          <p:cNvPr id="32" name="Text 30"/>
          <p:cNvSpPr/>
          <p:nvPr/>
        </p:nvSpPr>
        <p:spPr>
          <a:xfrm>
            <a:off x="548640" y="3685032"/>
            <a:ext cx="1371600" cy="219456"/>
          </a:xfrm>
          <a:prstGeom prst="rect">
            <a:avLst/>
          </a:prstGeom>
          <a:noFill/>
          <a:ln/>
        </p:spPr>
        <p:txBody>
          <a:bodyPr wrap="square" lIns="0" tIns="0" rIns="0" bIns="0" rtlCol="0" anchor="ctr"/>
          <a:lstStyle/>
          <a:p>
            <a:pPr indent="0" marL="0">
              <a:buNone/>
            </a:pPr>
            <a:r>
              <a:rPr lang="en-US" sz="950" dirty="0">
                <a:solidFill>
                  <a:srgbClr val="52525B"/>
                </a:solidFill>
                <a:latin typeface="Calibri" pitchFamily="34" charset="0"/>
                <a:ea typeface="Calibri" pitchFamily="34" charset="-122"/>
                <a:cs typeface="Calibri" pitchFamily="34" charset="-120"/>
              </a:rPr>
              <a:t>Market Data</a:t>
            </a:r>
            <a:endParaRPr lang="en-US" sz="950" dirty="0"/>
          </a:p>
        </p:txBody>
      </p:sp>
      <p:sp>
        <p:nvSpPr>
          <p:cNvPr id="33" name="Text 31"/>
          <p:cNvSpPr/>
          <p:nvPr/>
        </p:nvSpPr>
        <p:spPr>
          <a:xfrm>
            <a:off x="1965960" y="3685032"/>
            <a:ext cx="2011680" cy="219456"/>
          </a:xfrm>
          <a:prstGeom prst="rect">
            <a:avLst/>
          </a:prstGeom>
          <a:noFill/>
          <a:ln/>
        </p:spPr>
        <p:txBody>
          <a:bodyPr wrap="square" lIns="0" tIns="0" rIns="0" bIns="0" rtlCol="0" anchor="ctr"/>
          <a:lstStyle/>
          <a:p>
            <a:pPr indent="0" marL="0">
              <a:buNone/>
            </a:pPr>
            <a:r>
              <a:rPr lang="en-US" sz="950" b="1" dirty="0">
                <a:solidFill>
                  <a:srgbClr val="A1A1AA"/>
                </a:solidFill>
                <a:latin typeface="Calibri" pitchFamily="34" charset="0"/>
                <a:ea typeface="Calibri" pitchFamily="34" charset="-122"/>
                <a:cs typeface="Calibri" pitchFamily="34" charset="-120"/>
              </a:rPr>
              <a:t>yfinance</a:t>
            </a:r>
            <a:endParaRPr lang="en-US" sz="950" dirty="0"/>
          </a:p>
        </p:txBody>
      </p:sp>
      <p:sp>
        <p:nvSpPr>
          <p:cNvPr id="34" name="Shape 32"/>
          <p:cNvSpPr/>
          <p:nvPr/>
        </p:nvSpPr>
        <p:spPr>
          <a:xfrm>
            <a:off x="411480" y="3973068"/>
            <a:ext cx="3749040" cy="310896"/>
          </a:xfrm>
          <a:prstGeom prst="rect">
            <a:avLst/>
          </a:prstGeom>
          <a:solidFill>
            <a:srgbClr val="18181B"/>
          </a:solidFill>
          <a:ln w="12700">
            <a:solidFill>
              <a:srgbClr val="27272A"/>
            </a:solidFill>
            <a:prstDash val="solid"/>
          </a:ln>
        </p:spPr>
      </p:sp>
      <p:sp>
        <p:nvSpPr>
          <p:cNvPr id="35" name="Text 33"/>
          <p:cNvSpPr/>
          <p:nvPr/>
        </p:nvSpPr>
        <p:spPr>
          <a:xfrm>
            <a:off x="548640" y="4018788"/>
            <a:ext cx="1371600" cy="219456"/>
          </a:xfrm>
          <a:prstGeom prst="rect">
            <a:avLst/>
          </a:prstGeom>
          <a:noFill/>
          <a:ln/>
        </p:spPr>
        <p:txBody>
          <a:bodyPr wrap="square" lIns="0" tIns="0" rIns="0" bIns="0" rtlCol="0" anchor="ctr"/>
          <a:lstStyle/>
          <a:p>
            <a:pPr indent="0" marL="0">
              <a:buNone/>
            </a:pPr>
            <a:r>
              <a:rPr lang="en-US" sz="950" dirty="0">
                <a:solidFill>
                  <a:srgbClr val="52525B"/>
                </a:solidFill>
                <a:latin typeface="Calibri" pitchFamily="34" charset="0"/>
                <a:ea typeface="Calibri" pitchFamily="34" charset="-122"/>
                <a:cs typeface="Calibri" pitchFamily="34" charset="-120"/>
              </a:rPr>
              <a:t>Rate Limiting</a:t>
            </a:r>
            <a:endParaRPr lang="en-US" sz="950" dirty="0"/>
          </a:p>
        </p:txBody>
      </p:sp>
      <p:sp>
        <p:nvSpPr>
          <p:cNvPr id="36" name="Text 34"/>
          <p:cNvSpPr/>
          <p:nvPr/>
        </p:nvSpPr>
        <p:spPr>
          <a:xfrm>
            <a:off x="1965960" y="4018788"/>
            <a:ext cx="2011680" cy="219456"/>
          </a:xfrm>
          <a:prstGeom prst="rect">
            <a:avLst/>
          </a:prstGeom>
          <a:noFill/>
          <a:ln/>
        </p:spPr>
        <p:txBody>
          <a:bodyPr wrap="square" lIns="0" tIns="0" rIns="0" bIns="0" rtlCol="0" anchor="ctr"/>
          <a:lstStyle/>
          <a:p>
            <a:pPr indent="0" marL="0">
              <a:buNone/>
            </a:pPr>
            <a:r>
              <a:rPr lang="en-US" sz="950" b="1" dirty="0">
                <a:solidFill>
                  <a:srgbClr val="FB923C"/>
                </a:solidFill>
                <a:latin typeface="Calibri" pitchFamily="34" charset="0"/>
                <a:ea typeface="Calibri" pitchFamily="34" charset="-122"/>
                <a:cs typeface="Calibri" pitchFamily="34" charset="-120"/>
              </a:rPr>
              <a:t>slowapi</a:t>
            </a:r>
            <a:endParaRPr lang="en-US" sz="950" dirty="0"/>
          </a:p>
        </p:txBody>
      </p:sp>
      <p:sp>
        <p:nvSpPr>
          <p:cNvPr id="37" name="Shape 35"/>
          <p:cNvSpPr/>
          <p:nvPr/>
        </p:nvSpPr>
        <p:spPr>
          <a:xfrm>
            <a:off x="411480" y="4306824"/>
            <a:ext cx="3749040" cy="310896"/>
          </a:xfrm>
          <a:prstGeom prst="rect">
            <a:avLst/>
          </a:prstGeom>
          <a:solidFill>
            <a:srgbClr val="111113"/>
          </a:solidFill>
          <a:ln w="12700">
            <a:solidFill>
              <a:srgbClr val="27272A"/>
            </a:solidFill>
            <a:prstDash val="solid"/>
          </a:ln>
        </p:spPr>
      </p:sp>
      <p:sp>
        <p:nvSpPr>
          <p:cNvPr id="38" name="Text 36"/>
          <p:cNvSpPr/>
          <p:nvPr/>
        </p:nvSpPr>
        <p:spPr>
          <a:xfrm>
            <a:off x="548640" y="4352544"/>
            <a:ext cx="1371600" cy="219456"/>
          </a:xfrm>
          <a:prstGeom prst="rect">
            <a:avLst/>
          </a:prstGeom>
          <a:noFill/>
          <a:ln/>
        </p:spPr>
        <p:txBody>
          <a:bodyPr wrap="square" lIns="0" tIns="0" rIns="0" bIns="0" rtlCol="0" anchor="ctr"/>
          <a:lstStyle/>
          <a:p>
            <a:pPr indent="0" marL="0">
              <a:buNone/>
            </a:pPr>
            <a:r>
              <a:rPr lang="en-US" sz="950" dirty="0">
                <a:solidFill>
                  <a:srgbClr val="52525B"/>
                </a:solidFill>
                <a:latin typeface="Calibri" pitchFamily="34" charset="0"/>
                <a:ea typeface="Calibri" pitchFamily="34" charset="-122"/>
                <a:cs typeface="Calibri" pitchFamily="34" charset="-120"/>
              </a:rPr>
              <a:t>AI Protocol</a:t>
            </a:r>
            <a:endParaRPr lang="en-US" sz="950" dirty="0"/>
          </a:p>
        </p:txBody>
      </p:sp>
      <p:sp>
        <p:nvSpPr>
          <p:cNvPr id="39" name="Text 37"/>
          <p:cNvSpPr/>
          <p:nvPr/>
        </p:nvSpPr>
        <p:spPr>
          <a:xfrm>
            <a:off x="1965960" y="4352544"/>
            <a:ext cx="2011680" cy="219456"/>
          </a:xfrm>
          <a:prstGeom prst="rect">
            <a:avLst/>
          </a:prstGeom>
          <a:noFill/>
          <a:ln/>
        </p:spPr>
        <p:txBody>
          <a:bodyPr wrap="square" lIns="0" tIns="0" rIns="0" bIns="0" rtlCol="0" anchor="ctr"/>
          <a:lstStyle/>
          <a:p>
            <a:pPr indent="0" marL="0">
              <a:buNone/>
            </a:pPr>
            <a:r>
              <a:rPr lang="en-US" sz="950" b="1" dirty="0">
                <a:solidFill>
                  <a:srgbClr val="C084FC"/>
                </a:solidFill>
                <a:latin typeface="Calibri" pitchFamily="34" charset="0"/>
                <a:ea typeface="Calibri" pitchFamily="34" charset="-122"/>
                <a:cs typeface="Calibri" pitchFamily="34" charset="-120"/>
              </a:rPr>
              <a:t>MCP 1.26</a:t>
            </a:r>
            <a:endParaRPr lang="en-US" sz="950" dirty="0"/>
          </a:p>
        </p:txBody>
      </p:sp>
      <p:sp>
        <p:nvSpPr>
          <p:cNvPr id="40" name="Shape 38"/>
          <p:cNvSpPr/>
          <p:nvPr/>
        </p:nvSpPr>
        <p:spPr>
          <a:xfrm>
            <a:off x="411480" y="4640580"/>
            <a:ext cx="3749040" cy="310896"/>
          </a:xfrm>
          <a:prstGeom prst="rect">
            <a:avLst/>
          </a:prstGeom>
          <a:solidFill>
            <a:srgbClr val="18181B"/>
          </a:solidFill>
          <a:ln w="12700">
            <a:solidFill>
              <a:srgbClr val="27272A"/>
            </a:solidFill>
            <a:prstDash val="solid"/>
          </a:ln>
        </p:spPr>
      </p:sp>
      <p:sp>
        <p:nvSpPr>
          <p:cNvPr id="41" name="Text 39"/>
          <p:cNvSpPr/>
          <p:nvPr/>
        </p:nvSpPr>
        <p:spPr>
          <a:xfrm>
            <a:off x="548640" y="4686300"/>
            <a:ext cx="1371600" cy="219456"/>
          </a:xfrm>
          <a:prstGeom prst="rect">
            <a:avLst/>
          </a:prstGeom>
          <a:noFill/>
          <a:ln/>
        </p:spPr>
        <p:txBody>
          <a:bodyPr wrap="square" lIns="0" tIns="0" rIns="0" bIns="0" rtlCol="0" anchor="ctr"/>
          <a:lstStyle/>
          <a:p>
            <a:pPr indent="0" marL="0">
              <a:buNone/>
            </a:pPr>
            <a:r>
              <a:rPr lang="en-US" sz="950" dirty="0">
                <a:solidFill>
                  <a:srgbClr val="52525B"/>
                </a:solidFill>
                <a:latin typeface="Calibri" pitchFamily="34" charset="0"/>
                <a:ea typeface="Calibri" pitchFamily="34" charset="-122"/>
                <a:cs typeface="Calibri" pitchFamily="34" charset="-120"/>
              </a:rPr>
              <a:t>Deployment</a:t>
            </a:r>
            <a:endParaRPr lang="en-US" sz="950" dirty="0"/>
          </a:p>
        </p:txBody>
      </p:sp>
      <p:sp>
        <p:nvSpPr>
          <p:cNvPr id="42" name="Text 40"/>
          <p:cNvSpPr/>
          <p:nvPr/>
        </p:nvSpPr>
        <p:spPr>
          <a:xfrm>
            <a:off x="1965960" y="4686300"/>
            <a:ext cx="2011680" cy="219456"/>
          </a:xfrm>
          <a:prstGeom prst="rect">
            <a:avLst/>
          </a:prstGeom>
          <a:noFill/>
          <a:ln/>
        </p:spPr>
        <p:txBody>
          <a:bodyPr wrap="square" lIns="0" tIns="0" rIns="0" bIns="0" rtlCol="0" anchor="ctr"/>
          <a:lstStyle/>
          <a:p>
            <a:pPr indent="0" marL="0">
              <a:buNone/>
            </a:pPr>
            <a:r>
              <a:rPr lang="en-US" sz="950" b="1" dirty="0">
                <a:solidFill>
                  <a:srgbClr val="A1A1AA"/>
                </a:solidFill>
                <a:latin typeface="Calibri" pitchFamily="34" charset="0"/>
                <a:ea typeface="Calibri" pitchFamily="34" charset="-122"/>
                <a:cs typeface="Calibri" pitchFamily="34" charset="-120"/>
              </a:rPr>
              <a:t>Railway · Python 3.11</a:t>
            </a:r>
            <a:endParaRPr lang="en-US" sz="950" dirty="0"/>
          </a:p>
        </p:txBody>
      </p:sp>
      <p:sp>
        <p:nvSpPr>
          <p:cNvPr id="43" name="Text 41"/>
          <p:cNvSpPr/>
          <p:nvPr/>
        </p:nvSpPr>
        <p:spPr>
          <a:xfrm>
            <a:off x="4434840" y="713232"/>
            <a:ext cx="4389120" cy="201168"/>
          </a:xfrm>
          <a:prstGeom prst="rect">
            <a:avLst/>
          </a:prstGeom>
          <a:noFill/>
          <a:ln/>
        </p:spPr>
        <p:txBody>
          <a:bodyPr wrap="square" lIns="0" tIns="0" rIns="0" bIns="0" rtlCol="0" anchor="ctr"/>
          <a:lstStyle/>
          <a:p>
            <a:pPr indent="0" marL="0">
              <a:buNone/>
            </a:pPr>
            <a:r>
              <a:rPr lang="en-US" sz="850" b="1" spc="150" kern="0" dirty="0">
                <a:solidFill>
                  <a:srgbClr val="52525B"/>
                </a:solidFill>
                <a:latin typeface="Courier New" pitchFamily="34" charset="0"/>
                <a:ea typeface="Courier New" pitchFamily="34" charset="-122"/>
                <a:cs typeface="Courier New" pitchFamily="34" charset="-120"/>
              </a:rPr>
              <a:t>ENDPOINTS  (23 total)</a:t>
            </a:r>
            <a:endParaRPr lang="en-US" sz="850" dirty="0"/>
          </a:p>
        </p:txBody>
      </p:sp>
      <p:sp>
        <p:nvSpPr>
          <p:cNvPr id="44" name="Text 42"/>
          <p:cNvSpPr/>
          <p:nvPr/>
        </p:nvSpPr>
        <p:spPr>
          <a:xfrm>
            <a:off x="4434840" y="969264"/>
            <a:ext cx="4389120" cy="182880"/>
          </a:xfrm>
          <a:prstGeom prst="rect">
            <a:avLst/>
          </a:prstGeom>
          <a:noFill/>
          <a:ln/>
        </p:spPr>
        <p:txBody>
          <a:bodyPr wrap="square" lIns="0" tIns="0" rIns="0" bIns="0" rtlCol="0" anchor="ctr"/>
          <a:lstStyle/>
          <a:p>
            <a:pPr indent="0" marL="0">
              <a:buNone/>
            </a:pPr>
            <a:r>
              <a:rPr lang="en-US" sz="800" b="1" spc="100" kern="0" dirty="0">
                <a:solidFill>
                  <a:srgbClr val="52525B"/>
                </a:solidFill>
                <a:latin typeface="Courier New" pitchFamily="34" charset="0"/>
                <a:ea typeface="Courier New" pitchFamily="34" charset="-122"/>
                <a:cs typeface="Courier New" pitchFamily="34" charset="-120"/>
              </a:rPr>
              <a:t>HEALTH</a:t>
            </a:r>
            <a:endParaRPr lang="en-US" sz="800" dirty="0"/>
          </a:p>
        </p:txBody>
      </p:sp>
      <p:sp>
        <p:nvSpPr>
          <p:cNvPr id="45" name="Shape 43"/>
          <p:cNvSpPr/>
          <p:nvPr/>
        </p:nvSpPr>
        <p:spPr>
          <a:xfrm>
            <a:off x="4434840" y="1161288"/>
            <a:ext cx="4389120" cy="246888"/>
          </a:xfrm>
          <a:prstGeom prst="rect">
            <a:avLst/>
          </a:prstGeom>
          <a:solidFill>
            <a:srgbClr val="111113"/>
          </a:solidFill>
          <a:ln w="12700">
            <a:solidFill>
              <a:srgbClr val="27272A"/>
            </a:solidFill>
            <a:prstDash val="solid"/>
          </a:ln>
        </p:spPr>
      </p:sp>
      <p:sp>
        <p:nvSpPr>
          <p:cNvPr id="46" name="Shape 44"/>
          <p:cNvSpPr/>
          <p:nvPr/>
        </p:nvSpPr>
        <p:spPr>
          <a:xfrm>
            <a:off x="4453128" y="1197864"/>
            <a:ext cx="502920" cy="173736"/>
          </a:xfrm>
          <a:prstGeom prst="rect">
            <a:avLst/>
          </a:prstGeom>
          <a:solidFill>
            <a:srgbClr val="4ADE80">
              <a:alpha val="15000"/>
            </a:srgbClr>
          </a:solidFill>
          <a:ln/>
        </p:spPr>
      </p:sp>
      <p:sp>
        <p:nvSpPr>
          <p:cNvPr id="47" name="Text 45"/>
          <p:cNvSpPr/>
          <p:nvPr/>
        </p:nvSpPr>
        <p:spPr>
          <a:xfrm>
            <a:off x="4453128" y="1197864"/>
            <a:ext cx="502920" cy="173736"/>
          </a:xfrm>
          <a:prstGeom prst="rect">
            <a:avLst/>
          </a:prstGeom>
          <a:noFill/>
          <a:ln/>
        </p:spPr>
        <p:txBody>
          <a:bodyPr wrap="square" lIns="0" tIns="0" rIns="0" bIns="0" rtlCol="0" anchor="ctr"/>
          <a:lstStyle/>
          <a:p>
            <a:pPr algn="ctr" indent="0" marL="0">
              <a:buNone/>
            </a:pPr>
            <a:r>
              <a:rPr lang="en-US" sz="700" b="1" dirty="0">
                <a:solidFill>
                  <a:srgbClr val="4ADE80"/>
                </a:solidFill>
                <a:latin typeface="Calibri" pitchFamily="34" charset="0"/>
                <a:ea typeface="Calibri" pitchFamily="34" charset="-122"/>
                <a:cs typeface="Calibri" pitchFamily="34" charset="-120"/>
              </a:rPr>
              <a:t>GET</a:t>
            </a:r>
            <a:endParaRPr lang="en-US" sz="700" dirty="0"/>
          </a:p>
        </p:txBody>
      </p:sp>
      <p:sp>
        <p:nvSpPr>
          <p:cNvPr id="48" name="Text 46"/>
          <p:cNvSpPr/>
          <p:nvPr/>
        </p:nvSpPr>
        <p:spPr>
          <a:xfrm>
            <a:off x="5001768" y="1197864"/>
            <a:ext cx="3749040" cy="182880"/>
          </a:xfrm>
          <a:prstGeom prst="rect">
            <a:avLst/>
          </a:prstGeom>
          <a:noFill/>
          <a:ln/>
        </p:spPr>
        <p:txBody>
          <a:bodyPr wrap="square" lIns="0" tIns="0" rIns="0" bIns="0" rtlCol="0" anchor="ctr"/>
          <a:lstStyle/>
          <a:p>
            <a:pPr indent="0" marL="0">
              <a:buNone/>
            </a:pPr>
            <a:r>
              <a:rPr lang="en-US" sz="800" dirty="0">
                <a:solidFill>
                  <a:srgbClr val="FAFAFA"/>
                </a:solidFill>
                <a:latin typeface="Courier New" pitchFamily="34" charset="0"/>
                <a:ea typeface="Courier New" pitchFamily="34" charset="-122"/>
                <a:cs typeface="Courier New" pitchFamily="34" charset="-120"/>
              </a:rPr>
              <a:t>/health</a:t>
            </a:r>
            <a:endParaRPr lang="en-US" sz="800" dirty="0"/>
          </a:p>
        </p:txBody>
      </p:sp>
      <p:sp>
        <p:nvSpPr>
          <p:cNvPr id="49" name="Text 47"/>
          <p:cNvSpPr/>
          <p:nvPr/>
        </p:nvSpPr>
        <p:spPr>
          <a:xfrm>
            <a:off x="4434840" y="1463040"/>
            <a:ext cx="4389120" cy="182880"/>
          </a:xfrm>
          <a:prstGeom prst="rect">
            <a:avLst/>
          </a:prstGeom>
          <a:noFill/>
          <a:ln/>
        </p:spPr>
        <p:txBody>
          <a:bodyPr wrap="square" lIns="0" tIns="0" rIns="0" bIns="0" rtlCol="0" anchor="ctr"/>
          <a:lstStyle/>
          <a:p>
            <a:pPr indent="0" marL="0">
              <a:buNone/>
            </a:pPr>
            <a:r>
              <a:rPr lang="en-US" sz="800" b="1" spc="100" kern="0" dirty="0">
                <a:solidFill>
                  <a:srgbClr val="D4A853"/>
                </a:solidFill>
                <a:latin typeface="Courier New" pitchFamily="34" charset="0"/>
                <a:ea typeface="Courier New" pitchFamily="34" charset="-122"/>
                <a:cs typeface="Courier New" pitchFamily="34" charset="-120"/>
              </a:rPr>
              <a:t>INDICATORS</a:t>
            </a:r>
            <a:endParaRPr lang="en-US" sz="800" dirty="0"/>
          </a:p>
        </p:txBody>
      </p:sp>
      <p:sp>
        <p:nvSpPr>
          <p:cNvPr id="50" name="Shape 48"/>
          <p:cNvSpPr/>
          <p:nvPr/>
        </p:nvSpPr>
        <p:spPr>
          <a:xfrm>
            <a:off x="4434840" y="1655064"/>
            <a:ext cx="4389120" cy="246888"/>
          </a:xfrm>
          <a:prstGeom prst="rect">
            <a:avLst/>
          </a:prstGeom>
          <a:solidFill>
            <a:srgbClr val="111113"/>
          </a:solidFill>
          <a:ln w="12700">
            <a:solidFill>
              <a:srgbClr val="27272A"/>
            </a:solidFill>
            <a:prstDash val="solid"/>
          </a:ln>
        </p:spPr>
      </p:sp>
      <p:sp>
        <p:nvSpPr>
          <p:cNvPr id="51" name="Shape 49"/>
          <p:cNvSpPr/>
          <p:nvPr/>
        </p:nvSpPr>
        <p:spPr>
          <a:xfrm>
            <a:off x="4453128" y="1691640"/>
            <a:ext cx="502920" cy="173736"/>
          </a:xfrm>
          <a:prstGeom prst="rect">
            <a:avLst/>
          </a:prstGeom>
          <a:solidFill>
            <a:srgbClr val="4ADE80">
              <a:alpha val="15000"/>
            </a:srgbClr>
          </a:solidFill>
          <a:ln/>
        </p:spPr>
      </p:sp>
      <p:sp>
        <p:nvSpPr>
          <p:cNvPr id="52" name="Text 50"/>
          <p:cNvSpPr/>
          <p:nvPr/>
        </p:nvSpPr>
        <p:spPr>
          <a:xfrm>
            <a:off x="4453128" y="1691640"/>
            <a:ext cx="502920" cy="173736"/>
          </a:xfrm>
          <a:prstGeom prst="rect">
            <a:avLst/>
          </a:prstGeom>
          <a:noFill/>
          <a:ln/>
        </p:spPr>
        <p:txBody>
          <a:bodyPr wrap="square" lIns="0" tIns="0" rIns="0" bIns="0" rtlCol="0" anchor="ctr"/>
          <a:lstStyle/>
          <a:p>
            <a:pPr algn="ctr" indent="0" marL="0">
              <a:buNone/>
            </a:pPr>
            <a:r>
              <a:rPr lang="en-US" sz="700" b="1" dirty="0">
                <a:solidFill>
                  <a:srgbClr val="4ADE80"/>
                </a:solidFill>
                <a:latin typeface="Calibri" pitchFamily="34" charset="0"/>
                <a:ea typeface="Calibri" pitchFamily="34" charset="-122"/>
                <a:cs typeface="Calibri" pitchFamily="34" charset="-120"/>
              </a:rPr>
              <a:t>GET</a:t>
            </a:r>
            <a:endParaRPr lang="en-US" sz="700" dirty="0"/>
          </a:p>
        </p:txBody>
      </p:sp>
      <p:sp>
        <p:nvSpPr>
          <p:cNvPr id="53" name="Text 51"/>
          <p:cNvSpPr/>
          <p:nvPr/>
        </p:nvSpPr>
        <p:spPr>
          <a:xfrm>
            <a:off x="5001768" y="1691640"/>
            <a:ext cx="3749040" cy="182880"/>
          </a:xfrm>
          <a:prstGeom prst="rect">
            <a:avLst/>
          </a:prstGeom>
          <a:noFill/>
          <a:ln/>
        </p:spPr>
        <p:txBody>
          <a:bodyPr wrap="square" lIns="0" tIns="0" rIns="0" bIns="0" rtlCol="0" anchor="ctr"/>
          <a:lstStyle/>
          <a:p>
            <a:pPr indent="0" marL="0">
              <a:buNone/>
            </a:pPr>
            <a:r>
              <a:rPr lang="en-US" sz="800" dirty="0">
                <a:solidFill>
                  <a:srgbClr val="FAFAFA"/>
                </a:solidFill>
                <a:latin typeface="Courier New" pitchFamily="34" charset="0"/>
                <a:ea typeface="Courier New" pitchFamily="34" charset="-122"/>
                <a:cs typeface="Courier New" pitchFamily="34" charset="-120"/>
              </a:rPr>
              <a:t>/api/v1/indicators</a:t>
            </a:r>
            <a:endParaRPr lang="en-US" sz="800" dirty="0"/>
          </a:p>
        </p:txBody>
      </p:sp>
      <p:sp>
        <p:nvSpPr>
          <p:cNvPr id="54" name="Shape 52"/>
          <p:cNvSpPr/>
          <p:nvPr/>
        </p:nvSpPr>
        <p:spPr>
          <a:xfrm>
            <a:off x="4434840" y="1911096"/>
            <a:ext cx="4389120" cy="246888"/>
          </a:xfrm>
          <a:prstGeom prst="rect">
            <a:avLst/>
          </a:prstGeom>
          <a:solidFill>
            <a:srgbClr val="111113"/>
          </a:solidFill>
          <a:ln w="12700">
            <a:solidFill>
              <a:srgbClr val="27272A"/>
            </a:solidFill>
            <a:prstDash val="solid"/>
          </a:ln>
        </p:spPr>
      </p:sp>
      <p:sp>
        <p:nvSpPr>
          <p:cNvPr id="55" name="Shape 53"/>
          <p:cNvSpPr/>
          <p:nvPr/>
        </p:nvSpPr>
        <p:spPr>
          <a:xfrm>
            <a:off x="4453128" y="1947672"/>
            <a:ext cx="502920" cy="173736"/>
          </a:xfrm>
          <a:prstGeom prst="rect">
            <a:avLst/>
          </a:prstGeom>
          <a:solidFill>
            <a:srgbClr val="60A5FA">
              <a:alpha val="15000"/>
            </a:srgbClr>
          </a:solidFill>
          <a:ln/>
        </p:spPr>
      </p:sp>
      <p:sp>
        <p:nvSpPr>
          <p:cNvPr id="56" name="Text 54"/>
          <p:cNvSpPr/>
          <p:nvPr/>
        </p:nvSpPr>
        <p:spPr>
          <a:xfrm>
            <a:off x="4453128" y="1947672"/>
            <a:ext cx="502920" cy="173736"/>
          </a:xfrm>
          <a:prstGeom prst="rect">
            <a:avLst/>
          </a:prstGeom>
          <a:noFill/>
          <a:ln/>
        </p:spPr>
        <p:txBody>
          <a:bodyPr wrap="square" lIns="0" tIns="0" rIns="0" bIns="0" rtlCol="0" anchor="ctr"/>
          <a:lstStyle/>
          <a:p>
            <a:pPr algn="ctr" indent="0" marL="0">
              <a:buNone/>
            </a:pPr>
            <a:r>
              <a:rPr lang="en-US" sz="700" b="1" dirty="0">
                <a:solidFill>
                  <a:srgbClr val="60A5FA"/>
                </a:solidFill>
                <a:latin typeface="Calibri" pitchFamily="34" charset="0"/>
                <a:ea typeface="Calibri" pitchFamily="34" charset="-122"/>
                <a:cs typeface="Calibri" pitchFamily="34" charset="-120"/>
              </a:rPr>
              <a:t>POST</a:t>
            </a:r>
            <a:endParaRPr lang="en-US" sz="700" dirty="0"/>
          </a:p>
        </p:txBody>
      </p:sp>
      <p:sp>
        <p:nvSpPr>
          <p:cNvPr id="57" name="Text 55"/>
          <p:cNvSpPr/>
          <p:nvPr/>
        </p:nvSpPr>
        <p:spPr>
          <a:xfrm>
            <a:off x="5001768" y="1947672"/>
            <a:ext cx="3749040" cy="182880"/>
          </a:xfrm>
          <a:prstGeom prst="rect">
            <a:avLst/>
          </a:prstGeom>
          <a:noFill/>
          <a:ln/>
        </p:spPr>
        <p:txBody>
          <a:bodyPr wrap="square" lIns="0" tIns="0" rIns="0" bIns="0" rtlCol="0" anchor="ctr"/>
          <a:lstStyle/>
          <a:p>
            <a:pPr indent="0" marL="0">
              <a:buNone/>
            </a:pPr>
            <a:r>
              <a:rPr lang="en-US" sz="800" dirty="0">
                <a:solidFill>
                  <a:srgbClr val="FAFAFA"/>
                </a:solidFill>
                <a:latin typeface="Courier New" pitchFamily="34" charset="0"/>
                <a:ea typeface="Courier New" pitchFamily="34" charset="-122"/>
                <a:cs typeface="Courier New" pitchFamily="34" charset="-120"/>
              </a:rPr>
              <a:t>/api/v1/indicators</a:t>
            </a:r>
            <a:endParaRPr lang="en-US" sz="800" dirty="0"/>
          </a:p>
        </p:txBody>
      </p:sp>
      <p:sp>
        <p:nvSpPr>
          <p:cNvPr id="58" name="Shape 56"/>
          <p:cNvSpPr/>
          <p:nvPr/>
        </p:nvSpPr>
        <p:spPr>
          <a:xfrm>
            <a:off x="4434840" y="2167128"/>
            <a:ext cx="4389120" cy="246888"/>
          </a:xfrm>
          <a:prstGeom prst="rect">
            <a:avLst/>
          </a:prstGeom>
          <a:solidFill>
            <a:srgbClr val="111113"/>
          </a:solidFill>
          <a:ln w="12700">
            <a:solidFill>
              <a:srgbClr val="27272A"/>
            </a:solidFill>
            <a:prstDash val="solid"/>
          </a:ln>
        </p:spPr>
      </p:sp>
      <p:sp>
        <p:nvSpPr>
          <p:cNvPr id="59" name="Shape 57"/>
          <p:cNvSpPr/>
          <p:nvPr/>
        </p:nvSpPr>
        <p:spPr>
          <a:xfrm>
            <a:off x="4453128" y="2203704"/>
            <a:ext cx="502920" cy="173736"/>
          </a:xfrm>
          <a:prstGeom prst="rect">
            <a:avLst/>
          </a:prstGeom>
          <a:solidFill>
            <a:srgbClr val="4ADE80">
              <a:alpha val="15000"/>
            </a:srgbClr>
          </a:solidFill>
          <a:ln/>
        </p:spPr>
      </p:sp>
      <p:sp>
        <p:nvSpPr>
          <p:cNvPr id="60" name="Text 58"/>
          <p:cNvSpPr/>
          <p:nvPr/>
        </p:nvSpPr>
        <p:spPr>
          <a:xfrm>
            <a:off x="4453128" y="2203704"/>
            <a:ext cx="502920" cy="173736"/>
          </a:xfrm>
          <a:prstGeom prst="rect">
            <a:avLst/>
          </a:prstGeom>
          <a:noFill/>
          <a:ln/>
        </p:spPr>
        <p:txBody>
          <a:bodyPr wrap="square" lIns="0" tIns="0" rIns="0" bIns="0" rtlCol="0" anchor="ctr"/>
          <a:lstStyle/>
          <a:p>
            <a:pPr algn="ctr" indent="0" marL="0">
              <a:buNone/>
            </a:pPr>
            <a:r>
              <a:rPr lang="en-US" sz="700" b="1" dirty="0">
                <a:solidFill>
                  <a:srgbClr val="4ADE80"/>
                </a:solidFill>
                <a:latin typeface="Calibri" pitchFamily="34" charset="0"/>
                <a:ea typeface="Calibri" pitchFamily="34" charset="-122"/>
                <a:cs typeface="Calibri" pitchFamily="34" charset="-120"/>
              </a:rPr>
              <a:t>GET</a:t>
            </a:r>
            <a:endParaRPr lang="en-US" sz="700" dirty="0"/>
          </a:p>
        </p:txBody>
      </p:sp>
      <p:sp>
        <p:nvSpPr>
          <p:cNvPr id="61" name="Text 59"/>
          <p:cNvSpPr/>
          <p:nvPr/>
        </p:nvSpPr>
        <p:spPr>
          <a:xfrm>
            <a:off x="5001768" y="2203704"/>
            <a:ext cx="3749040" cy="182880"/>
          </a:xfrm>
          <a:prstGeom prst="rect">
            <a:avLst/>
          </a:prstGeom>
          <a:noFill/>
          <a:ln/>
        </p:spPr>
        <p:txBody>
          <a:bodyPr wrap="square" lIns="0" tIns="0" rIns="0" bIns="0" rtlCol="0" anchor="ctr"/>
          <a:lstStyle/>
          <a:p>
            <a:pPr indent="0" marL="0">
              <a:buNone/>
            </a:pPr>
            <a:r>
              <a:rPr lang="en-US" sz="800" dirty="0">
                <a:solidFill>
                  <a:srgbClr val="FAFAFA"/>
                </a:solidFill>
                <a:latin typeface="Courier New" pitchFamily="34" charset="0"/>
                <a:ea typeface="Courier New" pitchFamily="34" charset="-122"/>
                <a:cs typeface="Courier New" pitchFamily="34" charset="-120"/>
              </a:rPr>
              <a:t>/api/v1/indicators/{id}</a:t>
            </a:r>
            <a:endParaRPr lang="en-US" sz="800" dirty="0"/>
          </a:p>
        </p:txBody>
      </p:sp>
      <p:sp>
        <p:nvSpPr>
          <p:cNvPr id="62" name="Shape 60"/>
          <p:cNvSpPr/>
          <p:nvPr/>
        </p:nvSpPr>
        <p:spPr>
          <a:xfrm>
            <a:off x="4434840" y="2423160"/>
            <a:ext cx="4389120" cy="246888"/>
          </a:xfrm>
          <a:prstGeom prst="rect">
            <a:avLst/>
          </a:prstGeom>
          <a:solidFill>
            <a:srgbClr val="111113"/>
          </a:solidFill>
          <a:ln w="12700">
            <a:solidFill>
              <a:srgbClr val="27272A"/>
            </a:solidFill>
            <a:prstDash val="solid"/>
          </a:ln>
        </p:spPr>
      </p:sp>
      <p:sp>
        <p:nvSpPr>
          <p:cNvPr id="63" name="Shape 61"/>
          <p:cNvSpPr/>
          <p:nvPr/>
        </p:nvSpPr>
        <p:spPr>
          <a:xfrm>
            <a:off x="4453128" y="2459736"/>
            <a:ext cx="502920" cy="173736"/>
          </a:xfrm>
          <a:prstGeom prst="rect">
            <a:avLst/>
          </a:prstGeom>
          <a:solidFill>
            <a:srgbClr val="FB923C">
              <a:alpha val="15000"/>
            </a:srgbClr>
          </a:solidFill>
          <a:ln/>
        </p:spPr>
      </p:sp>
      <p:sp>
        <p:nvSpPr>
          <p:cNvPr id="64" name="Text 62"/>
          <p:cNvSpPr/>
          <p:nvPr/>
        </p:nvSpPr>
        <p:spPr>
          <a:xfrm>
            <a:off x="4453128" y="2459736"/>
            <a:ext cx="502920" cy="173736"/>
          </a:xfrm>
          <a:prstGeom prst="rect">
            <a:avLst/>
          </a:prstGeom>
          <a:noFill/>
          <a:ln/>
        </p:spPr>
        <p:txBody>
          <a:bodyPr wrap="square" lIns="0" tIns="0" rIns="0" bIns="0" rtlCol="0" anchor="ctr"/>
          <a:lstStyle/>
          <a:p>
            <a:pPr algn="ctr" indent="0" marL="0">
              <a:buNone/>
            </a:pPr>
            <a:r>
              <a:rPr lang="en-US" sz="700" b="1" dirty="0">
                <a:solidFill>
                  <a:srgbClr val="FB923C"/>
                </a:solidFill>
                <a:latin typeface="Calibri" pitchFamily="34" charset="0"/>
                <a:ea typeface="Calibri" pitchFamily="34" charset="-122"/>
                <a:cs typeface="Calibri" pitchFamily="34" charset="-120"/>
              </a:rPr>
              <a:t>PATCH</a:t>
            </a:r>
            <a:endParaRPr lang="en-US" sz="700" dirty="0"/>
          </a:p>
        </p:txBody>
      </p:sp>
      <p:sp>
        <p:nvSpPr>
          <p:cNvPr id="65" name="Text 63"/>
          <p:cNvSpPr/>
          <p:nvPr/>
        </p:nvSpPr>
        <p:spPr>
          <a:xfrm>
            <a:off x="5001768" y="2459736"/>
            <a:ext cx="3749040" cy="182880"/>
          </a:xfrm>
          <a:prstGeom prst="rect">
            <a:avLst/>
          </a:prstGeom>
          <a:noFill/>
          <a:ln/>
        </p:spPr>
        <p:txBody>
          <a:bodyPr wrap="square" lIns="0" tIns="0" rIns="0" bIns="0" rtlCol="0" anchor="ctr"/>
          <a:lstStyle/>
          <a:p>
            <a:pPr indent="0" marL="0">
              <a:buNone/>
            </a:pPr>
            <a:r>
              <a:rPr lang="en-US" sz="800" dirty="0">
                <a:solidFill>
                  <a:srgbClr val="FAFAFA"/>
                </a:solidFill>
                <a:latin typeface="Courier New" pitchFamily="34" charset="0"/>
                <a:ea typeface="Courier New" pitchFamily="34" charset="-122"/>
                <a:cs typeface="Courier New" pitchFamily="34" charset="-120"/>
              </a:rPr>
              <a:t>/api/v1/indicators/{id}</a:t>
            </a:r>
            <a:endParaRPr lang="en-US" sz="800" dirty="0"/>
          </a:p>
        </p:txBody>
      </p:sp>
      <p:sp>
        <p:nvSpPr>
          <p:cNvPr id="66" name="Shape 64"/>
          <p:cNvSpPr/>
          <p:nvPr/>
        </p:nvSpPr>
        <p:spPr>
          <a:xfrm>
            <a:off x="4434840" y="2679192"/>
            <a:ext cx="4389120" cy="246888"/>
          </a:xfrm>
          <a:prstGeom prst="rect">
            <a:avLst/>
          </a:prstGeom>
          <a:solidFill>
            <a:srgbClr val="111113"/>
          </a:solidFill>
          <a:ln w="12700">
            <a:solidFill>
              <a:srgbClr val="27272A"/>
            </a:solidFill>
            <a:prstDash val="solid"/>
          </a:ln>
        </p:spPr>
      </p:sp>
      <p:sp>
        <p:nvSpPr>
          <p:cNvPr id="67" name="Shape 65"/>
          <p:cNvSpPr/>
          <p:nvPr/>
        </p:nvSpPr>
        <p:spPr>
          <a:xfrm>
            <a:off x="4453128" y="2715768"/>
            <a:ext cx="502920" cy="173736"/>
          </a:xfrm>
          <a:prstGeom prst="rect">
            <a:avLst/>
          </a:prstGeom>
          <a:solidFill>
            <a:srgbClr val="F87171">
              <a:alpha val="15000"/>
            </a:srgbClr>
          </a:solidFill>
          <a:ln/>
        </p:spPr>
      </p:sp>
      <p:sp>
        <p:nvSpPr>
          <p:cNvPr id="68" name="Text 66"/>
          <p:cNvSpPr/>
          <p:nvPr/>
        </p:nvSpPr>
        <p:spPr>
          <a:xfrm>
            <a:off x="4453128" y="2715768"/>
            <a:ext cx="502920" cy="173736"/>
          </a:xfrm>
          <a:prstGeom prst="rect">
            <a:avLst/>
          </a:prstGeom>
          <a:noFill/>
          <a:ln/>
        </p:spPr>
        <p:txBody>
          <a:bodyPr wrap="square" lIns="0" tIns="0" rIns="0" bIns="0" rtlCol="0" anchor="ctr"/>
          <a:lstStyle/>
          <a:p>
            <a:pPr algn="ctr" indent="0" marL="0">
              <a:buNone/>
            </a:pPr>
            <a:r>
              <a:rPr lang="en-US" sz="700" b="1" dirty="0">
                <a:solidFill>
                  <a:srgbClr val="F87171"/>
                </a:solidFill>
                <a:latin typeface="Calibri" pitchFamily="34" charset="0"/>
                <a:ea typeface="Calibri" pitchFamily="34" charset="-122"/>
                <a:cs typeface="Calibri" pitchFamily="34" charset="-120"/>
              </a:rPr>
              <a:t>DELETE</a:t>
            </a:r>
            <a:endParaRPr lang="en-US" sz="700" dirty="0"/>
          </a:p>
        </p:txBody>
      </p:sp>
      <p:sp>
        <p:nvSpPr>
          <p:cNvPr id="69" name="Text 67"/>
          <p:cNvSpPr/>
          <p:nvPr/>
        </p:nvSpPr>
        <p:spPr>
          <a:xfrm>
            <a:off x="5001768" y="2715768"/>
            <a:ext cx="3749040" cy="182880"/>
          </a:xfrm>
          <a:prstGeom prst="rect">
            <a:avLst/>
          </a:prstGeom>
          <a:noFill/>
          <a:ln/>
        </p:spPr>
        <p:txBody>
          <a:bodyPr wrap="square" lIns="0" tIns="0" rIns="0" bIns="0" rtlCol="0" anchor="ctr"/>
          <a:lstStyle/>
          <a:p>
            <a:pPr indent="0" marL="0">
              <a:buNone/>
            </a:pPr>
            <a:r>
              <a:rPr lang="en-US" sz="800" dirty="0">
                <a:solidFill>
                  <a:srgbClr val="FAFAFA"/>
                </a:solidFill>
                <a:latin typeface="Courier New" pitchFamily="34" charset="0"/>
                <a:ea typeface="Courier New" pitchFamily="34" charset="-122"/>
                <a:cs typeface="Courier New" pitchFamily="34" charset="-120"/>
              </a:rPr>
              <a:t>/api/v1/indicators/{id}</a:t>
            </a:r>
            <a:endParaRPr lang="en-US" sz="800" dirty="0"/>
          </a:p>
        </p:txBody>
      </p:sp>
      <p:sp>
        <p:nvSpPr>
          <p:cNvPr id="70" name="Text 68"/>
          <p:cNvSpPr/>
          <p:nvPr/>
        </p:nvSpPr>
        <p:spPr>
          <a:xfrm>
            <a:off x="4434840" y="2980944"/>
            <a:ext cx="4389120" cy="182880"/>
          </a:xfrm>
          <a:prstGeom prst="rect">
            <a:avLst/>
          </a:prstGeom>
          <a:noFill/>
          <a:ln/>
        </p:spPr>
        <p:txBody>
          <a:bodyPr wrap="square" lIns="0" tIns="0" rIns="0" bIns="0" rtlCol="0" anchor="ctr"/>
          <a:lstStyle/>
          <a:p>
            <a:pPr indent="0" marL="0">
              <a:buNone/>
            </a:pPr>
            <a:r>
              <a:rPr lang="en-US" sz="800" b="1" spc="100" kern="0" dirty="0">
                <a:solidFill>
                  <a:srgbClr val="4ADE80"/>
                </a:solidFill>
                <a:latin typeface="Courier New" pitchFamily="34" charset="0"/>
                <a:ea typeface="Courier New" pitchFamily="34" charset="-122"/>
                <a:cs typeface="Courier New" pitchFamily="34" charset="-120"/>
              </a:rPr>
              <a:t>ASSETS</a:t>
            </a:r>
            <a:endParaRPr lang="en-US" sz="800" dirty="0"/>
          </a:p>
        </p:txBody>
      </p:sp>
      <p:sp>
        <p:nvSpPr>
          <p:cNvPr id="71" name="Shape 69"/>
          <p:cNvSpPr/>
          <p:nvPr/>
        </p:nvSpPr>
        <p:spPr>
          <a:xfrm>
            <a:off x="4434840" y="3172968"/>
            <a:ext cx="4389120" cy="246888"/>
          </a:xfrm>
          <a:prstGeom prst="rect">
            <a:avLst/>
          </a:prstGeom>
          <a:solidFill>
            <a:srgbClr val="111113"/>
          </a:solidFill>
          <a:ln w="12700">
            <a:solidFill>
              <a:srgbClr val="27272A"/>
            </a:solidFill>
            <a:prstDash val="solid"/>
          </a:ln>
        </p:spPr>
      </p:sp>
      <p:sp>
        <p:nvSpPr>
          <p:cNvPr id="72" name="Shape 70"/>
          <p:cNvSpPr/>
          <p:nvPr/>
        </p:nvSpPr>
        <p:spPr>
          <a:xfrm>
            <a:off x="4453128" y="3209544"/>
            <a:ext cx="502920" cy="173736"/>
          </a:xfrm>
          <a:prstGeom prst="rect">
            <a:avLst/>
          </a:prstGeom>
          <a:solidFill>
            <a:srgbClr val="4ADE80">
              <a:alpha val="15000"/>
            </a:srgbClr>
          </a:solidFill>
          <a:ln/>
        </p:spPr>
      </p:sp>
      <p:sp>
        <p:nvSpPr>
          <p:cNvPr id="73" name="Text 71"/>
          <p:cNvSpPr/>
          <p:nvPr/>
        </p:nvSpPr>
        <p:spPr>
          <a:xfrm>
            <a:off x="4453128" y="3209544"/>
            <a:ext cx="502920" cy="173736"/>
          </a:xfrm>
          <a:prstGeom prst="rect">
            <a:avLst/>
          </a:prstGeom>
          <a:noFill/>
          <a:ln/>
        </p:spPr>
        <p:txBody>
          <a:bodyPr wrap="square" lIns="0" tIns="0" rIns="0" bIns="0" rtlCol="0" anchor="ctr"/>
          <a:lstStyle/>
          <a:p>
            <a:pPr algn="ctr" indent="0" marL="0">
              <a:buNone/>
            </a:pPr>
            <a:r>
              <a:rPr lang="en-US" sz="700" b="1" dirty="0">
                <a:solidFill>
                  <a:srgbClr val="4ADE80"/>
                </a:solidFill>
                <a:latin typeface="Calibri" pitchFamily="34" charset="0"/>
                <a:ea typeface="Calibri" pitchFamily="34" charset="-122"/>
                <a:cs typeface="Calibri" pitchFamily="34" charset="-120"/>
              </a:rPr>
              <a:t>GET</a:t>
            </a:r>
            <a:endParaRPr lang="en-US" sz="700" dirty="0"/>
          </a:p>
        </p:txBody>
      </p:sp>
      <p:sp>
        <p:nvSpPr>
          <p:cNvPr id="74" name="Text 72"/>
          <p:cNvSpPr/>
          <p:nvPr/>
        </p:nvSpPr>
        <p:spPr>
          <a:xfrm>
            <a:off x="5001768" y="3209544"/>
            <a:ext cx="3749040" cy="182880"/>
          </a:xfrm>
          <a:prstGeom prst="rect">
            <a:avLst/>
          </a:prstGeom>
          <a:noFill/>
          <a:ln/>
        </p:spPr>
        <p:txBody>
          <a:bodyPr wrap="square" lIns="0" tIns="0" rIns="0" bIns="0" rtlCol="0" anchor="ctr"/>
          <a:lstStyle/>
          <a:p>
            <a:pPr indent="0" marL="0">
              <a:buNone/>
            </a:pPr>
            <a:r>
              <a:rPr lang="en-US" sz="800" dirty="0">
                <a:solidFill>
                  <a:srgbClr val="FAFAFA"/>
                </a:solidFill>
                <a:latin typeface="Courier New" pitchFamily="34" charset="0"/>
                <a:ea typeface="Courier New" pitchFamily="34" charset="-122"/>
                <a:cs typeface="Courier New" pitchFamily="34" charset="-120"/>
              </a:rPr>
              <a:t>/api/v1/assets</a:t>
            </a:r>
            <a:endParaRPr lang="en-US" sz="800" dirty="0"/>
          </a:p>
        </p:txBody>
      </p:sp>
      <p:sp>
        <p:nvSpPr>
          <p:cNvPr id="75" name="Shape 73"/>
          <p:cNvSpPr/>
          <p:nvPr/>
        </p:nvSpPr>
        <p:spPr>
          <a:xfrm>
            <a:off x="4434840" y="3429000"/>
            <a:ext cx="4389120" cy="246888"/>
          </a:xfrm>
          <a:prstGeom prst="rect">
            <a:avLst/>
          </a:prstGeom>
          <a:solidFill>
            <a:srgbClr val="111113"/>
          </a:solidFill>
          <a:ln w="12700">
            <a:solidFill>
              <a:srgbClr val="27272A"/>
            </a:solidFill>
            <a:prstDash val="solid"/>
          </a:ln>
        </p:spPr>
      </p:sp>
      <p:sp>
        <p:nvSpPr>
          <p:cNvPr id="76" name="Shape 74"/>
          <p:cNvSpPr/>
          <p:nvPr/>
        </p:nvSpPr>
        <p:spPr>
          <a:xfrm>
            <a:off x="4453128" y="3465576"/>
            <a:ext cx="502920" cy="173736"/>
          </a:xfrm>
          <a:prstGeom prst="rect">
            <a:avLst/>
          </a:prstGeom>
          <a:solidFill>
            <a:srgbClr val="60A5FA">
              <a:alpha val="15000"/>
            </a:srgbClr>
          </a:solidFill>
          <a:ln/>
        </p:spPr>
      </p:sp>
      <p:sp>
        <p:nvSpPr>
          <p:cNvPr id="77" name="Text 75"/>
          <p:cNvSpPr/>
          <p:nvPr/>
        </p:nvSpPr>
        <p:spPr>
          <a:xfrm>
            <a:off x="4453128" y="3465576"/>
            <a:ext cx="502920" cy="173736"/>
          </a:xfrm>
          <a:prstGeom prst="rect">
            <a:avLst/>
          </a:prstGeom>
          <a:noFill/>
          <a:ln/>
        </p:spPr>
        <p:txBody>
          <a:bodyPr wrap="square" lIns="0" tIns="0" rIns="0" bIns="0" rtlCol="0" anchor="ctr"/>
          <a:lstStyle/>
          <a:p>
            <a:pPr algn="ctr" indent="0" marL="0">
              <a:buNone/>
            </a:pPr>
            <a:r>
              <a:rPr lang="en-US" sz="700" b="1" dirty="0">
                <a:solidFill>
                  <a:srgbClr val="60A5FA"/>
                </a:solidFill>
                <a:latin typeface="Calibri" pitchFamily="34" charset="0"/>
                <a:ea typeface="Calibri" pitchFamily="34" charset="-122"/>
                <a:cs typeface="Calibri" pitchFamily="34" charset="-120"/>
              </a:rPr>
              <a:t>POST</a:t>
            </a:r>
            <a:endParaRPr lang="en-US" sz="700" dirty="0"/>
          </a:p>
        </p:txBody>
      </p:sp>
      <p:sp>
        <p:nvSpPr>
          <p:cNvPr id="78" name="Text 76"/>
          <p:cNvSpPr/>
          <p:nvPr/>
        </p:nvSpPr>
        <p:spPr>
          <a:xfrm>
            <a:off x="5001768" y="3465576"/>
            <a:ext cx="3749040" cy="182880"/>
          </a:xfrm>
          <a:prstGeom prst="rect">
            <a:avLst/>
          </a:prstGeom>
          <a:noFill/>
          <a:ln/>
        </p:spPr>
        <p:txBody>
          <a:bodyPr wrap="square" lIns="0" tIns="0" rIns="0" bIns="0" rtlCol="0" anchor="ctr"/>
          <a:lstStyle/>
          <a:p>
            <a:pPr indent="0" marL="0">
              <a:buNone/>
            </a:pPr>
            <a:r>
              <a:rPr lang="en-US" sz="800" dirty="0">
                <a:solidFill>
                  <a:srgbClr val="FAFAFA"/>
                </a:solidFill>
                <a:latin typeface="Courier New" pitchFamily="34" charset="0"/>
                <a:ea typeface="Courier New" pitchFamily="34" charset="-122"/>
                <a:cs typeface="Courier New" pitchFamily="34" charset="-120"/>
              </a:rPr>
              <a:t>/api/v1/assets</a:t>
            </a:r>
            <a:endParaRPr lang="en-US" sz="800" dirty="0"/>
          </a:p>
        </p:txBody>
      </p:sp>
      <p:sp>
        <p:nvSpPr>
          <p:cNvPr id="79" name="Shape 77"/>
          <p:cNvSpPr/>
          <p:nvPr/>
        </p:nvSpPr>
        <p:spPr>
          <a:xfrm>
            <a:off x="4434840" y="3685032"/>
            <a:ext cx="4389120" cy="246888"/>
          </a:xfrm>
          <a:prstGeom prst="rect">
            <a:avLst/>
          </a:prstGeom>
          <a:solidFill>
            <a:srgbClr val="111113"/>
          </a:solidFill>
          <a:ln w="12700">
            <a:solidFill>
              <a:srgbClr val="27272A"/>
            </a:solidFill>
            <a:prstDash val="solid"/>
          </a:ln>
        </p:spPr>
      </p:sp>
      <p:sp>
        <p:nvSpPr>
          <p:cNvPr id="80" name="Shape 78"/>
          <p:cNvSpPr/>
          <p:nvPr/>
        </p:nvSpPr>
        <p:spPr>
          <a:xfrm>
            <a:off x="4453128" y="3721608"/>
            <a:ext cx="502920" cy="173736"/>
          </a:xfrm>
          <a:prstGeom prst="rect">
            <a:avLst/>
          </a:prstGeom>
          <a:solidFill>
            <a:srgbClr val="4ADE80">
              <a:alpha val="15000"/>
            </a:srgbClr>
          </a:solidFill>
          <a:ln/>
        </p:spPr>
      </p:sp>
      <p:sp>
        <p:nvSpPr>
          <p:cNvPr id="81" name="Text 79"/>
          <p:cNvSpPr/>
          <p:nvPr/>
        </p:nvSpPr>
        <p:spPr>
          <a:xfrm>
            <a:off x="4453128" y="3721608"/>
            <a:ext cx="502920" cy="173736"/>
          </a:xfrm>
          <a:prstGeom prst="rect">
            <a:avLst/>
          </a:prstGeom>
          <a:noFill/>
          <a:ln/>
        </p:spPr>
        <p:txBody>
          <a:bodyPr wrap="square" lIns="0" tIns="0" rIns="0" bIns="0" rtlCol="0" anchor="ctr"/>
          <a:lstStyle/>
          <a:p>
            <a:pPr algn="ctr" indent="0" marL="0">
              <a:buNone/>
            </a:pPr>
            <a:r>
              <a:rPr lang="en-US" sz="700" b="1" dirty="0">
                <a:solidFill>
                  <a:srgbClr val="4ADE80"/>
                </a:solidFill>
                <a:latin typeface="Calibri" pitchFamily="34" charset="0"/>
                <a:ea typeface="Calibri" pitchFamily="34" charset="-122"/>
                <a:cs typeface="Calibri" pitchFamily="34" charset="-120"/>
              </a:rPr>
              <a:t>GET</a:t>
            </a:r>
            <a:endParaRPr lang="en-US" sz="700" dirty="0"/>
          </a:p>
        </p:txBody>
      </p:sp>
      <p:sp>
        <p:nvSpPr>
          <p:cNvPr id="82" name="Text 80"/>
          <p:cNvSpPr/>
          <p:nvPr/>
        </p:nvSpPr>
        <p:spPr>
          <a:xfrm>
            <a:off x="5001768" y="3721608"/>
            <a:ext cx="3749040" cy="182880"/>
          </a:xfrm>
          <a:prstGeom prst="rect">
            <a:avLst/>
          </a:prstGeom>
          <a:noFill/>
          <a:ln/>
        </p:spPr>
        <p:txBody>
          <a:bodyPr wrap="square" lIns="0" tIns="0" rIns="0" bIns="0" rtlCol="0" anchor="ctr"/>
          <a:lstStyle/>
          <a:p>
            <a:pPr indent="0" marL="0">
              <a:buNone/>
            </a:pPr>
            <a:r>
              <a:rPr lang="en-US" sz="800" dirty="0">
                <a:solidFill>
                  <a:srgbClr val="FAFAFA"/>
                </a:solidFill>
                <a:latin typeface="Courier New" pitchFamily="34" charset="0"/>
                <a:ea typeface="Courier New" pitchFamily="34" charset="-122"/>
                <a:cs typeface="Courier New" pitchFamily="34" charset="-120"/>
              </a:rPr>
              <a:t>/api/v1/assets/{id}</a:t>
            </a:r>
            <a:endParaRPr lang="en-US" sz="800" dirty="0"/>
          </a:p>
        </p:txBody>
      </p:sp>
      <p:sp>
        <p:nvSpPr>
          <p:cNvPr id="83" name="Shape 81"/>
          <p:cNvSpPr/>
          <p:nvPr/>
        </p:nvSpPr>
        <p:spPr>
          <a:xfrm>
            <a:off x="4434840" y="3941064"/>
            <a:ext cx="4389120" cy="246888"/>
          </a:xfrm>
          <a:prstGeom prst="rect">
            <a:avLst/>
          </a:prstGeom>
          <a:solidFill>
            <a:srgbClr val="111113"/>
          </a:solidFill>
          <a:ln w="12700">
            <a:solidFill>
              <a:srgbClr val="27272A"/>
            </a:solidFill>
            <a:prstDash val="solid"/>
          </a:ln>
        </p:spPr>
      </p:sp>
      <p:sp>
        <p:nvSpPr>
          <p:cNvPr id="84" name="Shape 82"/>
          <p:cNvSpPr/>
          <p:nvPr/>
        </p:nvSpPr>
        <p:spPr>
          <a:xfrm>
            <a:off x="4453128" y="3977640"/>
            <a:ext cx="502920" cy="173736"/>
          </a:xfrm>
          <a:prstGeom prst="rect">
            <a:avLst/>
          </a:prstGeom>
          <a:solidFill>
            <a:srgbClr val="FB923C">
              <a:alpha val="15000"/>
            </a:srgbClr>
          </a:solidFill>
          <a:ln/>
        </p:spPr>
      </p:sp>
      <p:sp>
        <p:nvSpPr>
          <p:cNvPr id="85" name="Text 83"/>
          <p:cNvSpPr/>
          <p:nvPr/>
        </p:nvSpPr>
        <p:spPr>
          <a:xfrm>
            <a:off x="4453128" y="3977640"/>
            <a:ext cx="502920" cy="173736"/>
          </a:xfrm>
          <a:prstGeom prst="rect">
            <a:avLst/>
          </a:prstGeom>
          <a:noFill/>
          <a:ln/>
        </p:spPr>
        <p:txBody>
          <a:bodyPr wrap="square" lIns="0" tIns="0" rIns="0" bIns="0" rtlCol="0" anchor="ctr"/>
          <a:lstStyle/>
          <a:p>
            <a:pPr algn="ctr" indent="0" marL="0">
              <a:buNone/>
            </a:pPr>
            <a:r>
              <a:rPr lang="en-US" sz="700" b="1" dirty="0">
                <a:solidFill>
                  <a:srgbClr val="FB923C"/>
                </a:solidFill>
                <a:latin typeface="Calibri" pitchFamily="34" charset="0"/>
                <a:ea typeface="Calibri" pitchFamily="34" charset="-122"/>
                <a:cs typeface="Calibri" pitchFamily="34" charset="-120"/>
              </a:rPr>
              <a:t>PATCH</a:t>
            </a:r>
            <a:endParaRPr lang="en-US" sz="700" dirty="0"/>
          </a:p>
        </p:txBody>
      </p:sp>
      <p:sp>
        <p:nvSpPr>
          <p:cNvPr id="86" name="Text 84"/>
          <p:cNvSpPr/>
          <p:nvPr/>
        </p:nvSpPr>
        <p:spPr>
          <a:xfrm>
            <a:off x="5001768" y="3977640"/>
            <a:ext cx="3749040" cy="182880"/>
          </a:xfrm>
          <a:prstGeom prst="rect">
            <a:avLst/>
          </a:prstGeom>
          <a:noFill/>
          <a:ln/>
        </p:spPr>
        <p:txBody>
          <a:bodyPr wrap="square" lIns="0" tIns="0" rIns="0" bIns="0" rtlCol="0" anchor="ctr"/>
          <a:lstStyle/>
          <a:p>
            <a:pPr indent="0" marL="0">
              <a:buNone/>
            </a:pPr>
            <a:r>
              <a:rPr lang="en-US" sz="800" dirty="0">
                <a:solidFill>
                  <a:srgbClr val="FAFAFA"/>
                </a:solidFill>
                <a:latin typeface="Courier New" pitchFamily="34" charset="0"/>
                <a:ea typeface="Courier New" pitchFamily="34" charset="-122"/>
                <a:cs typeface="Courier New" pitchFamily="34" charset="-120"/>
              </a:rPr>
              <a:t>/api/v1/assets/{id}</a:t>
            </a:r>
            <a:endParaRPr lang="en-US" sz="800" dirty="0"/>
          </a:p>
        </p:txBody>
      </p:sp>
      <p:sp>
        <p:nvSpPr>
          <p:cNvPr id="87" name="Shape 85"/>
          <p:cNvSpPr/>
          <p:nvPr/>
        </p:nvSpPr>
        <p:spPr>
          <a:xfrm>
            <a:off x="4434840" y="4197096"/>
            <a:ext cx="4389120" cy="246888"/>
          </a:xfrm>
          <a:prstGeom prst="rect">
            <a:avLst/>
          </a:prstGeom>
          <a:solidFill>
            <a:srgbClr val="111113"/>
          </a:solidFill>
          <a:ln w="12700">
            <a:solidFill>
              <a:srgbClr val="27272A"/>
            </a:solidFill>
            <a:prstDash val="solid"/>
          </a:ln>
        </p:spPr>
      </p:sp>
      <p:sp>
        <p:nvSpPr>
          <p:cNvPr id="88" name="Shape 86"/>
          <p:cNvSpPr/>
          <p:nvPr/>
        </p:nvSpPr>
        <p:spPr>
          <a:xfrm>
            <a:off x="4453128" y="4233672"/>
            <a:ext cx="502920" cy="173736"/>
          </a:xfrm>
          <a:prstGeom prst="rect">
            <a:avLst/>
          </a:prstGeom>
          <a:solidFill>
            <a:srgbClr val="F87171">
              <a:alpha val="15000"/>
            </a:srgbClr>
          </a:solidFill>
          <a:ln/>
        </p:spPr>
      </p:sp>
      <p:sp>
        <p:nvSpPr>
          <p:cNvPr id="89" name="Text 87"/>
          <p:cNvSpPr/>
          <p:nvPr/>
        </p:nvSpPr>
        <p:spPr>
          <a:xfrm>
            <a:off x="4453128" y="4233672"/>
            <a:ext cx="502920" cy="173736"/>
          </a:xfrm>
          <a:prstGeom prst="rect">
            <a:avLst/>
          </a:prstGeom>
          <a:noFill/>
          <a:ln/>
        </p:spPr>
        <p:txBody>
          <a:bodyPr wrap="square" lIns="0" tIns="0" rIns="0" bIns="0" rtlCol="0" anchor="ctr"/>
          <a:lstStyle/>
          <a:p>
            <a:pPr algn="ctr" indent="0" marL="0">
              <a:buNone/>
            </a:pPr>
            <a:r>
              <a:rPr lang="en-US" sz="700" b="1" dirty="0">
                <a:solidFill>
                  <a:srgbClr val="F87171"/>
                </a:solidFill>
                <a:latin typeface="Calibri" pitchFamily="34" charset="0"/>
                <a:ea typeface="Calibri" pitchFamily="34" charset="-122"/>
                <a:cs typeface="Calibri" pitchFamily="34" charset="-120"/>
              </a:rPr>
              <a:t>DELETE</a:t>
            </a:r>
            <a:endParaRPr lang="en-US" sz="700" dirty="0"/>
          </a:p>
        </p:txBody>
      </p:sp>
      <p:sp>
        <p:nvSpPr>
          <p:cNvPr id="90" name="Text 88"/>
          <p:cNvSpPr/>
          <p:nvPr/>
        </p:nvSpPr>
        <p:spPr>
          <a:xfrm>
            <a:off x="5001768" y="4233672"/>
            <a:ext cx="3749040" cy="182880"/>
          </a:xfrm>
          <a:prstGeom prst="rect">
            <a:avLst/>
          </a:prstGeom>
          <a:noFill/>
          <a:ln/>
        </p:spPr>
        <p:txBody>
          <a:bodyPr wrap="square" lIns="0" tIns="0" rIns="0" bIns="0" rtlCol="0" anchor="ctr"/>
          <a:lstStyle/>
          <a:p>
            <a:pPr indent="0" marL="0">
              <a:buNone/>
            </a:pPr>
            <a:r>
              <a:rPr lang="en-US" sz="800" dirty="0">
                <a:solidFill>
                  <a:srgbClr val="FAFAFA"/>
                </a:solidFill>
                <a:latin typeface="Courier New" pitchFamily="34" charset="0"/>
                <a:ea typeface="Courier New" pitchFamily="34" charset="-122"/>
                <a:cs typeface="Courier New" pitchFamily="34" charset="-120"/>
              </a:rPr>
              <a:t>/api/v1/assets/{id}</a:t>
            </a:r>
            <a:endParaRPr lang="en-US" sz="800" dirty="0"/>
          </a:p>
        </p:txBody>
      </p:sp>
      <p:sp>
        <p:nvSpPr>
          <p:cNvPr id="91" name="Text 89"/>
          <p:cNvSpPr/>
          <p:nvPr/>
        </p:nvSpPr>
        <p:spPr>
          <a:xfrm>
            <a:off x="4434840" y="4498848"/>
            <a:ext cx="4389120" cy="182880"/>
          </a:xfrm>
          <a:prstGeom prst="rect">
            <a:avLst/>
          </a:prstGeom>
          <a:noFill/>
          <a:ln/>
        </p:spPr>
        <p:txBody>
          <a:bodyPr wrap="square" lIns="0" tIns="0" rIns="0" bIns="0" rtlCol="0" anchor="ctr"/>
          <a:lstStyle/>
          <a:p>
            <a:pPr indent="0" marL="0">
              <a:buNone/>
            </a:pPr>
            <a:r>
              <a:rPr lang="en-US" sz="800" b="1" spc="100" kern="0" dirty="0">
                <a:solidFill>
                  <a:srgbClr val="60A5FA"/>
                </a:solidFill>
                <a:latin typeface="Courier New" pitchFamily="34" charset="0"/>
                <a:ea typeface="Courier New" pitchFamily="34" charset="-122"/>
                <a:cs typeface="Courier New" pitchFamily="34" charset="-120"/>
              </a:rPr>
              <a:t>SNAPSHOTS</a:t>
            </a:r>
            <a:endParaRPr lang="en-US" sz="800" dirty="0"/>
          </a:p>
        </p:txBody>
      </p:sp>
      <p:sp>
        <p:nvSpPr>
          <p:cNvPr id="92" name="Shape 90"/>
          <p:cNvSpPr/>
          <p:nvPr/>
        </p:nvSpPr>
        <p:spPr>
          <a:xfrm>
            <a:off x="4434840" y="4690872"/>
            <a:ext cx="4389120" cy="246888"/>
          </a:xfrm>
          <a:prstGeom prst="rect">
            <a:avLst/>
          </a:prstGeom>
          <a:solidFill>
            <a:srgbClr val="111113"/>
          </a:solidFill>
          <a:ln w="12700">
            <a:solidFill>
              <a:srgbClr val="27272A"/>
            </a:solidFill>
            <a:prstDash val="solid"/>
          </a:ln>
        </p:spPr>
      </p:sp>
      <p:sp>
        <p:nvSpPr>
          <p:cNvPr id="93" name="Shape 91"/>
          <p:cNvSpPr/>
          <p:nvPr/>
        </p:nvSpPr>
        <p:spPr>
          <a:xfrm>
            <a:off x="4453128" y="4727448"/>
            <a:ext cx="502920" cy="173736"/>
          </a:xfrm>
          <a:prstGeom prst="rect">
            <a:avLst/>
          </a:prstGeom>
          <a:solidFill>
            <a:srgbClr val="60A5FA">
              <a:alpha val="15000"/>
            </a:srgbClr>
          </a:solidFill>
          <a:ln/>
        </p:spPr>
      </p:sp>
      <p:sp>
        <p:nvSpPr>
          <p:cNvPr id="94" name="Text 92"/>
          <p:cNvSpPr/>
          <p:nvPr/>
        </p:nvSpPr>
        <p:spPr>
          <a:xfrm>
            <a:off x="4453128" y="4727448"/>
            <a:ext cx="502920" cy="173736"/>
          </a:xfrm>
          <a:prstGeom prst="rect">
            <a:avLst/>
          </a:prstGeom>
          <a:noFill/>
          <a:ln/>
        </p:spPr>
        <p:txBody>
          <a:bodyPr wrap="square" lIns="0" tIns="0" rIns="0" bIns="0" rtlCol="0" anchor="ctr"/>
          <a:lstStyle/>
          <a:p>
            <a:pPr algn="ctr" indent="0" marL="0">
              <a:buNone/>
            </a:pPr>
            <a:r>
              <a:rPr lang="en-US" sz="700" b="1" dirty="0">
                <a:solidFill>
                  <a:srgbClr val="60A5FA"/>
                </a:solidFill>
                <a:latin typeface="Calibri" pitchFamily="34" charset="0"/>
                <a:ea typeface="Calibri" pitchFamily="34" charset="-122"/>
                <a:cs typeface="Calibri" pitchFamily="34" charset="-120"/>
              </a:rPr>
              <a:t>POST</a:t>
            </a:r>
            <a:endParaRPr lang="en-US" sz="700" dirty="0"/>
          </a:p>
        </p:txBody>
      </p:sp>
      <p:sp>
        <p:nvSpPr>
          <p:cNvPr id="95" name="Text 93"/>
          <p:cNvSpPr/>
          <p:nvPr/>
        </p:nvSpPr>
        <p:spPr>
          <a:xfrm>
            <a:off x="5001768" y="4727448"/>
            <a:ext cx="3749040" cy="182880"/>
          </a:xfrm>
          <a:prstGeom prst="rect">
            <a:avLst/>
          </a:prstGeom>
          <a:noFill/>
          <a:ln/>
        </p:spPr>
        <p:txBody>
          <a:bodyPr wrap="square" lIns="0" tIns="0" rIns="0" bIns="0" rtlCol="0" anchor="ctr"/>
          <a:lstStyle/>
          <a:p>
            <a:pPr indent="0" marL="0">
              <a:buNone/>
            </a:pPr>
            <a:r>
              <a:rPr lang="en-US" sz="800" dirty="0">
                <a:solidFill>
                  <a:srgbClr val="FAFAFA"/>
                </a:solidFill>
                <a:latin typeface="Courier New" pitchFamily="34" charset="0"/>
                <a:ea typeface="Courier New" pitchFamily="34" charset="-122"/>
                <a:cs typeface="Courier New" pitchFamily="34" charset="-120"/>
              </a:rPr>
              <a:t>/api/v1/snapshots/indicators/{id}/ingest</a:t>
            </a:r>
            <a:endParaRPr lang="en-US" sz="800" dirty="0"/>
          </a:p>
        </p:txBody>
      </p:sp>
      <p:sp>
        <p:nvSpPr>
          <p:cNvPr id="96" name="Shape 94"/>
          <p:cNvSpPr/>
          <p:nvPr/>
        </p:nvSpPr>
        <p:spPr>
          <a:xfrm>
            <a:off x="4434840" y="4946904"/>
            <a:ext cx="4389120" cy="246888"/>
          </a:xfrm>
          <a:prstGeom prst="rect">
            <a:avLst/>
          </a:prstGeom>
          <a:solidFill>
            <a:srgbClr val="111113"/>
          </a:solidFill>
          <a:ln w="12700">
            <a:solidFill>
              <a:srgbClr val="27272A"/>
            </a:solidFill>
            <a:prstDash val="solid"/>
          </a:ln>
        </p:spPr>
      </p:sp>
      <p:sp>
        <p:nvSpPr>
          <p:cNvPr id="97" name="Shape 95"/>
          <p:cNvSpPr/>
          <p:nvPr/>
        </p:nvSpPr>
        <p:spPr>
          <a:xfrm>
            <a:off x="4453128" y="4983480"/>
            <a:ext cx="502920" cy="173736"/>
          </a:xfrm>
          <a:prstGeom prst="rect">
            <a:avLst/>
          </a:prstGeom>
          <a:solidFill>
            <a:srgbClr val="4ADE80">
              <a:alpha val="15000"/>
            </a:srgbClr>
          </a:solidFill>
          <a:ln/>
        </p:spPr>
      </p:sp>
      <p:sp>
        <p:nvSpPr>
          <p:cNvPr id="98" name="Text 96"/>
          <p:cNvSpPr/>
          <p:nvPr/>
        </p:nvSpPr>
        <p:spPr>
          <a:xfrm>
            <a:off x="4453128" y="4983480"/>
            <a:ext cx="502920" cy="173736"/>
          </a:xfrm>
          <a:prstGeom prst="rect">
            <a:avLst/>
          </a:prstGeom>
          <a:noFill/>
          <a:ln/>
        </p:spPr>
        <p:txBody>
          <a:bodyPr wrap="square" lIns="0" tIns="0" rIns="0" bIns="0" rtlCol="0" anchor="ctr"/>
          <a:lstStyle/>
          <a:p>
            <a:pPr algn="ctr" indent="0" marL="0">
              <a:buNone/>
            </a:pPr>
            <a:r>
              <a:rPr lang="en-US" sz="700" b="1" dirty="0">
                <a:solidFill>
                  <a:srgbClr val="4ADE80"/>
                </a:solidFill>
                <a:latin typeface="Calibri" pitchFamily="34" charset="0"/>
                <a:ea typeface="Calibri" pitchFamily="34" charset="-122"/>
                <a:cs typeface="Calibri" pitchFamily="34" charset="-120"/>
              </a:rPr>
              <a:t>GET</a:t>
            </a:r>
            <a:endParaRPr lang="en-US" sz="700" dirty="0"/>
          </a:p>
        </p:txBody>
      </p:sp>
      <p:sp>
        <p:nvSpPr>
          <p:cNvPr id="99" name="Text 97"/>
          <p:cNvSpPr/>
          <p:nvPr/>
        </p:nvSpPr>
        <p:spPr>
          <a:xfrm>
            <a:off x="5001768" y="4983480"/>
            <a:ext cx="3749040" cy="182880"/>
          </a:xfrm>
          <a:prstGeom prst="rect">
            <a:avLst/>
          </a:prstGeom>
          <a:noFill/>
          <a:ln/>
        </p:spPr>
        <p:txBody>
          <a:bodyPr wrap="square" lIns="0" tIns="0" rIns="0" bIns="0" rtlCol="0" anchor="ctr"/>
          <a:lstStyle/>
          <a:p>
            <a:pPr indent="0" marL="0">
              <a:buNone/>
            </a:pPr>
            <a:r>
              <a:rPr lang="en-US" sz="800" dirty="0">
                <a:solidFill>
                  <a:srgbClr val="FAFAFA"/>
                </a:solidFill>
                <a:latin typeface="Courier New" pitchFamily="34" charset="0"/>
                <a:ea typeface="Courier New" pitchFamily="34" charset="-122"/>
                <a:cs typeface="Courier New" pitchFamily="34" charset="-120"/>
              </a:rPr>
              <a:t>/api/v1/snapshots/indicators/{id}</a:t>
            </a:r>
            <a:endParaRPr lang="en-US" sz="800" dirty="0"/>
          </a:p>
        </p:txBody>
      </p:sp>
      <p:sp>
        <p:nvSpPr>
          <p:cNvPr id="100" name="Shape 98"/>
          <p:cNvSpPr/>
          <p:nvPr/>
        </p:nvSpPr>
        <p:spPr>
          <a:xfrm>
            <a:off x="4434840" y="5202936"/>
            <a:ext cx="4389120" cy="246888"/>
          </a:xfrm>
          <a:prstGeom prst="rect">
            <a:avLst/>
          </a:prstGeom>
          <a:solidFill>
            <a:srgbClr val="111113"/>
          </a:solidFill>
          <a:ln w="12700">
            <a:solidFill>
              <a:srgbClr val="27272A"/>
            </a:solidFill>
            <a:prstDash val="solid"/>
          </a:ln>
        </p:spPr>
      </p:sp>
      <p:sp>
        <p:nvSpPr>
          <p:cNvPr id="101" name="Shape 99"/>
          <p:cNvSpPr/>
          <p:nvPr/>
        </p:nvSpPr>
        <p:spPr>
          <a:xfrm>
            <a:off x="4453128" y="5239512"/>
            <a:ext cx="502920" cy="173736"/>
          </a:xfrm>
          <a:prstGeom prst="rect">
            <a:avLst/>
          </a:prstGeom>
          <a:solidFill>
            <a:srgbClr val="60A5FA">
              <a:alpha val="15000"/>
            </a:srgbClr>
          </a:solidFill>
          <a:ln/>
        </p:spPr>
      </p:sp>
      <p:sp>
        <p:nvSpPr>
          <p:cNvPr id="102" name="Text 100"/>
          <p:cNvSpPr/>
          <p:nvPr/>
        </p:nvSpPr>
        <p:spPr>
          <a:xfrm>
            <a:off x="4453128" y="5239512"/>
            <a:ext cx="502920" cy="173736"/>
          </a:xfrm>
          <a:prstGeom prst="rect">
            <a:avLst/>
          </a:prstGeom>
          <a:noFill/>
          <a:ln/>
        </p:spPr>
        <p:txBody>
          <a:bodyPr wrap="square" lIns="0" tIns="0" rIns="0" bIns="0" rtlCol="0" anchor="ctr"/>
          <a:lstStyle/>
          <a:p>
            <a:pPr algn="ctr" indent="0" marL="0">
              <a:buNone/>
            </a:pPr>
            <a:r>
              <a:rPr lang="en-US" sz="700" b="1" dirty="0">
                <a:solidFill>
                  <a:srgbClr val="60A5FA"/>
                </a:solidFill>
                <a:latin typeface="Calibri" pitchFamily="34" charset="0"/>
                <a:ea typeface="Calibri" pitchFamily="34" charset="-122"/>
                <a:cs typeface="Calibri" pitchFamily="34" charset="-120"/>
              </a:rPr>
              <a:t>POST</a:t>
            </a:r>
            <a:endParaRPr lang="en-US" sz="700" dirty="0"/>
          </a:p>
        </p:txBody>
      </p:sp>
      <p:sp>
        <p:nvSpPr>
          <p:cNvPr id="103" name="Text 101"/>
          <p:cNvSpPr/>
          <p:nvPr/>
        </p:nvSpPr>
        <p:spPr>
          <a:xfrm>
            <a:off x="5001768" y="5239512"/>
            <a:ext cx="3749040" cy="182880"/>
          </a:xfrm>
          <a:prstGeom prst="rect">
            <a:avLst/>
          </a:prstGeom>
          <a:noFill/>
          <a:ln/>
        </p:spPr>
        <p:txBody>
          <a:bodyPr wrap="square" lIns="0" tIns="0" rIns="0" bIns="0" rtlCol="0" anchor="ctr"/>
          <a:lstStyle/>
          <a:p>
            <a:pPr indent="0" marL="0">
              <a:buNone/>
            </a:pPr>
            <a:r>
              <a:rPr lang="en-US" sz="800" dirty="0">
                <a:solidFill>
                  <a:srgbClr val="FAFAFA"/>
                </a:solidFill>
                <a:latin typeface="Courier New" pitchFamily="34" charset="0"/>
                <a:ea typeface="Courier New" pitchFamily="34" charset="-122"/>
                <a:cs typeface="Courier New" pitchFamily="34" charset="-120"/>
              </a:rPr>
              <a:t>/api/v1/snapshots/assets/{id}/ingest</a:t>
            </a:r>
            <a:endParaRPr lang="en-US" sz="800" dirty="0"/>
          </a:p>
        </p:txBody>
      </p:sp>
      <p:sp>
        <p:nvSpPr>
          <p:cNvPr id="104" name="Shape 102"/>
          <p:cNvSpPr/>
          <p:nvPr/>
        </p:nvSpPr>
        <p:spPr>
          <a:xfrm>
            <a:off x="4434840" y="5458968"/>
            <a:ext cx="4389120" cy="246888"/>
          </a:xfrm>
          <a:prstGeom prst="rect">
            <a:avLst/>
          </a:prstGeom>
          <a:solidFill>
            <a:srgbClr val="111113"/>
          </a:solidFill>
          <a:ln w="12700">
            <a:solidFill>
              <a:srgbClr val="27272A"/>
            </a:solidFill>
            <a:prstDash val="solid"/>
          </a:ln>
        </p:spPr>
      </p:sp>
      <p:sp>
        <p:nvSpPr>
          <p:cNvPr id="105" name="Shape 103"/>
          <p:cNvSpPr/>
          <p:nvPr/>
        </p:nvSpPr>
        <p:spPr>
          <a:xfrm>
            <a:off x="4453128" y="5495544"/>
            <a:ext cx="502920" cy="173736"/>
          </a:xfrm>
          <a:prstGeom prst="rect">
            <a:avLst/>
          </a:prstGeom>
          <a:solidFill>
            <a:srgbClr val="4ADE80">
              <a:alpha val="15000"/>
            </a:srgbClr>
          </a:solidFill>
          <a:ln/>
        </p:spPr>
      </p:sp>
      <p:sp>
        <p:nvSpPr>
          <p:cNvPr id="106" name="Text 104"/>
          <p:cNvSpPr/>
          <p:nvPr/>
        </p:nvSpPr>
        <p:spPr>
          <a:xfrm>
            <a:off x="4453128" y="5495544"/>
            <a:ext cx="502920" cy="173736"/>
          </a:xfrm>
          <a:prstGeom prst="rect">
            <a:avLst/>
          </a:prstGeom>
          <a:noFill/>
          <a:ln/>
        </p:spPr>
        <p:txBody>
          <a:bodyPr wrap="square" lIns="0" tIns="0" rIns="0" bIns="0" rtlCol="0" anchor="ctr"/>
          <a:lstStyle/>
          <a:p>
            <a:pPr algn="ctr" indent="0" marL="0">
              <a:buNone/>
            </a:pPr>
            <a:r>
              <a:rPr lang="en-US" sz="700" b="1" dirty="0">
                <a:solidFill>
                  <a:srgbClr val="4ADE80"/>
                </a:solidFill>
                <a:latin typeface="Calibri" pitchFamily="34" charset="0"/>
                <a:ea typeface="Calibri" pitchFamily="34" charset="-122"/>
                <a:cs typeface="Calibri" pitchFamily="34" charset="-120"/>
              </a:rPr>
              <a:t>GET</a:t>
            </a:r>
            <a:endParaRPr lang="en-US" sz="700" dirty="0"/>
          </a:p>
        </p:txBody>
      </p:sp>
      <p:sp>
        <p:nvSpPr>
          <p:cNvPr id="107" name="Text 105"/>
          <p:cNvSpPr/>
          <p:nvPr/>
        </p:nvSpPr>
        <p:spPr>
          <a:xfrm>
            <a:off x="5001768" y="5495544"/>
            <a:ext cx="3749040" cy="182880"/>
          </a:xfrm>
          <a:prstGeom prst="rect">
            <a:avLst/>
          </a:prstGeom>
          <a:noFill/>
          <a:ln/>
        </p:spPr>
        <p:txBody>
          <a:bodyPr wrap="square" lIns="0" tIns="0" rIns="0" bIns="0" rtlCol="0" anchor="ctr"/>
          <a:lstStyle/>
          <a:p>
            <a:pPr indent="0" marL="0">
              <a:buNone/>
            </a:pPr>
            <a:r>
              <a:rPr lang="en-US" sz="800" dirty="0">
                <a:solidFill>
                  <a:srgbClr val="FAFAFA"/>
                </a:solidFill>
                <a:latin typeface="Courier New" pitchFamily="34" charset="0"/>
                <a:ea typeface="Courier New" pitchFamily="34" charset="-122"/>
                <a:cs typeface="Courier New" pitchFamily="34" charset="-120"/>
              </a:rPr>
              <a:t>/api/v1/snapshots/assets/{id}</a:t>
            </a:r>
            <a:endParaRPr lang="en-US" sz="800" dirty="0"/>
          </a:p>
        </p:txBody>
      </p:sp>
      <p:sp>
        <p:nvSpPr>
          <p:cNvPr id="108" name="Text 106"/>
          <p:cNvSpPr/>
          <p:nvPr/>
        </p:nvSpPr>
        <p:spPr>
          <a:xfrm>
            <a:off x="4434840" y="5760720"/>
            <a:ext cx="4389120" cy="182880"/>
          </a:xfrm>
          <a:prstGeom prst="rect">
            <a:avLst/>
          </a:prstGeom>
          <a:noFill/>
          <a:ln/>
        </p:spPr>
        <p:txBody>
          <a:bodyPr wrap="square" lIns="0" tIns="0" rIns="0" bIns="0" rtlCol="0" anchor="ctr"/>
          <a:lstStyle/>
          <a:p>
            <a:pPr indent="0" marL="0">
              <a:buNone/>
            </a:pPr>
            <a:r>
              <a:rPr lang="en-US" sz="800" b="1" spc="100" kern="0" dirty="0">
                <a:solidFill>
                  <a:srgbClr val="C084FC"/>
                </a:solidFill>
                <a:latin typeface="Courier New" pitchFamily="34" charset="0"/>
                <a:ea typeface="Courier New" pitchFamily="34" charset="-122"/>
                <a:cs typeface="Courier New" pitchFamily="34" charset="-120"/>
              </a:rPr>
              <a:t>ANALYTICS</a:t>
            </a:r>
            <a:endParaRPr lang="en-US" sz="800" dirty="0"/>
          </a:p>
        </p:txBody>
      </p:sp>
      <p:sp>
        <p:nvSpPr>
          <p:cNvPr id="109" name="Shape 107"/>
          <p:cNvSpPr/>
          <p:nvPr/>
        </p:nvSpPr>
        <p:spPr>
          <a:xfrm>
            <a:off x="4434840" y="5952744"/>
            <a:ext cx="4389120" cy="246888"/>
          </a:xfrm>
          <a:prstGeom prst="rect">
            <a:avLst/>
          </a:prstGeom>
          <a:solidFill>
            <a:srgbClr val="111113"/>
          </a:solidFill>
          <a:ln w="12700">
            <a:solidFill>
              <a:srgbClr val="27272A"/>
            </a:solidFill>
            <a:prstDash val="solid"/>
          </a:ln>
        </p:spPr>
      </p:sp>
      <p:sp>
        <p:nvSpPr>
          <p:cNvPr id="110" name="Shape 108"/>
          <p:cNvSpPr/>
          <p:nvPr/>
        </p:nvSpPr>
        <p:spPr>
          <a:xfrm>
            <a:off x="4453128" y="5989320"/>
            <a:ext cx="502920" cy="173736"/>
          </a:xfrm>
          <a:prstGeom prst="rect">
            <a:avLst/>
          </a:prstGeom>
          <a:solidFill>
            <a:srgbClr val="4ADE80">
              <a:alpha val="15000"/>
            </a:srgbClr>
          </a:solidFill>
          <a:ln/>
        </p:spPr>
      </p:sp>
      <p:sp>
        <p:nvSpPr>
          <p:cNvPr id="111" name="Text 109"/>
          <p:cNvSpPr/>
          <p:nvPr/>
        </p:nvSpPr>
        <p:spPr>
          <a:xfrm>
            <a:off x="4453128" y="5989320"/>
            <a:ext cx="502920" cy="173736"/>
          </a:xfrm>
          <a:prstGeom prst="rect">
            <a:avLst/>
          </a:prstGeom>
          <a:noFill/>
          <a:ln/>
        </p:spPr>
        <p:txBody>
          <a:bodyPr wrap="square" lIns="0" tIns="0" rIns="0" bIns="0" rtlCol="0" anchor="ctr"/>
          <a:lstStyle/>
          <a:p>
            <a:pPr algn="ctr" indent="0" marL="0">
              <a:buNone/>
            </a:pPr>
            <a:r>
              <a:rPr lang="en-US" sz="700" b="1" dirty="0">
                <a:solidFill>
                  <a:srgbClr val="4ADE80"/>
                </a:solidFill>
                <a:latin typeface="Calibri" pitchFamily="34" charset="0"/>
                <a:ea typeface="Calibri" pitchFamily="34" charset="-122"/>
                <a:cs typeface="Calibri" pitchFamily="34" charset="-120"/>
              </a:rPr>
              <a:t>GET</a:t>
            </a:r>
            <a:endParaRPr lang="en-US" sz="700" dirty="0"/>
          </a:p>
        </p:txBody>
      </p:sp>
      <p:sp>
        <p:nvSpPr>
          <p:cNvPr id="112" name="Text 110"/>
          <p:cNvSpPr/>
          <p:nvPr/>
        </p:nvSpPr>
        <p:spPr>
          <a:xfrm>
            <a:off x="5001768" y="5989320"/>
            <a:ext cx="3749040" cy="182880"/>
          </a:xfrm>
          <a:prstGeom prst="rect">
            <a:avLst/>
          </a:prstGeom>
          <a:noFill/>
          <a:ln/>
        </p:spPr>
        <p:txBody>
          <a:bodyPr wrap="square" lIns="0" tIns="0" rIns="0" bIns="0" rtlCol="0" anchor="ctr"/>
          <a:lstStyle/>
          <a:p>
            <a:pPr indent="0" marL="0">
              <a:buNone/>
            </a:pPr>
            <a:r>
              <a:rPr lang="en-US" sz="800" dirty="0">
                <a:solidFill>
                  <a:srgbClr val="FAFAFA"/>
                </a:solidFill>
                <a:latin typeface="Courier New" pitchFamily="34" charset="0"/>
                <a:ea typeface="Courier New" pitchFamily="34" charset="-122"/>
                <a:cs typeface="Courier New" pitchFamily="34" charset="-120"/>
              </a:rPr>
              <a:t>/api/v1/analytics/correlation</a:t>
            </a:r>
            <a:endParaRPr lang="en-US" sz="800" dirty="0"/>
          </a:p>
        </p:txBody>
      </p:sp>
      <p:sp>
        <p:nvSpPr>
          <p:cNvPr id="113" name="Shape 111"/>
          <p:cNvSpPr/>
          <p:nvPr/>
        </p:nvSpPr>
        <p:spPr>
          <a:xfrm>
            <a:off x="4434840" y="6208776"/>
            <a:ext cx="4389120" cy="246888"/>
          </a:xfrm>
          <a:prstGeom prst="rect">
            <a:avLst/>
          </a:prstGeom>
          <a:solidFill>
            <a:srgbClr val="111113"/>
          </a:solidFill>
          <a:ln w="12700">
            <a:solidFill>
              <a:srgbClr val="27272A"/>
            </a:solidFill>
            <a:prstDash val="solid"/>
          </a:ln>
        </p:spPr>
      </p:sp>
      <p:sp>
        <p:nvSpPr>
          <p:cNvPr id="114" name="Shape 112"/>
          <p:cNvSpPr/>
          <p:nvPr/>
        </p:nvSpPr>
        <p:spPr>
          <a:xfrm>
            <a:off x="4453128" y="6245352"/>
            <a:ext cx="502920" cy="173736"/>
          </a:xfrm>
          <a:prstGeom prst="rect">
            <a:avLst/>
          </a:prstGeom>
          <a:solidFill>
            <a:srgbClr val="4ADE80">
              <a:alpha val="15000"/>
            </a:srgbClr>
          </a:solidFill>
          <a:ln/>
        </p:spPr>
      </p:sp>
      <p:sp>
        <p:nvSpPr>
          <p:cNvPr id="115" name="Text 113"/>
          <p:cNvSpPr/>
          <p:nvPr/>
        </p:nvSpPr>
        <p:spPr>
          <a:xfrm>
            <a:off x="4453128" y="6245352"/>
            <a:ext cx="502920" cy="173736"/>
          </a:xfrm>
          <a:prstGeom prst="rect">
            <a:avLst/>
          </a:prstGeom>
          <a:noFill/>
          <a:ln/>
        </p:spPr>
        <p:txBody>
          <a:bodyPr wrap="square" lIns="0" tIns="0" rIns="0" bIns="0" rtlCol="0" anchor="ctr"/>
          <a:lstStyle/>
          <a:p>
            <a:pPr algn="ctr" indent="0" marL="0">
              <a:buNone/>
            </a:pPr>
            <a:r>
              <a:rPr lang="en-US" sz="700" b="1" dirty="0">
                <a:solidFill>
                  <a:srgbClr val="4ADE80"/>
                </a:solidFill>
                <a:latin typeface="Calibri" pitchFamily="34" charset="0"/>
                <a:ea typeface="Calibri" pitchFamily="34" charset="-122"/>
                <a:cs typeface="Calibri" pitchFamily="34" charset="-120"/>
              </a:rPr>
              <a:t>GET</a:t>
            </a:r>
            <a:endParaRPr lang="en-US" sz="700" dirty="0"/>
          </a:p>
        </p:txBody>
      </p:sp>
      <p:sp>
        <p:nvSpPr>
          <p:cNvPr id="116" name="Text 114"/>
          <p:cNvSpPr/>
          <p:nvPr/>
        </p:nvSpPr>
        <p:spPr>
          <a:xfrm>
            <a:off x="5001768" y="6245352"/>
            <a:ext cx="3749040" cy="182880"/>
          </a:xfrm>
          <a:prstGeom prst="rect">
            <a:avLst/>
          </a:prstGeom>
          <a:noFill/>
          <a:ln/>
        </p:spPr>
        <p:txBody>
          <a:bodyPr wrap="square" lIns="0" tIns="0" rIns="0" bIns="0" rtlCol="0" anchor="ctr"/>
          <a:lstStyle/>
          <a:p>
            <a:pPr indent="0" marL="0">
              <a:buNone/>
            </a:pPr>
            <a:r>
              <a:rPr lang="en-US" sz="800" dirty="0">
                <a:solidFill>
                  <a:srgbClr val="FAFAFA"/>
                </a:solidFill>
                <a:latin typeface="Courier New" pitchFamily="34" charset="0"/>
                <a:ea typeface="Courier New" pitchFamily="34" charset="-122"/>
                <a:cs typeface="Courier New" pitchFamily="34" charset="-120"/>
              </a:rPr>
              <a:t>/api/v1/analytics/recession-risk</a:t>
            </a:r>
            <a:endParaRPr lang="en-US" sz="800" dirty="0"/>
          </a:p>
        </p:txBody>
      </p:sp>
      <p:sp>
        <p:nvSpPr>
          <p:cNvPr id="117" name="Shape 115"/>
          <p:cNvSpPr/>
          <p:nvPr/>
        </p:nvSpPr>
        <p:spPr>
          <a:xfrm>
            <a:off x="4434840" y="6464808"/>
            <a:ext cx="4389120" cy="246888"/>
          </a:xfrm>
          <a:prstGeom prst="rect">
            <a:avLst/>
          </a:prstGeom>
          <a:solidFill>
            <a:srgbClr val="111113"/>
          </a:solidFill>
          <a:ln w="12700">
            <a:solidFill>
              <a:srgbClr val="27272A"/>
            </a:solidFill>
            <a:prstDash val="solid"/>
          </a:ln>
        </p:spPr>
      </p:sp>
      <p:sp>
        <p:nvSpPr>
          <p:cNvPr id="118" name="Shape 116"/>
          <p:cNvSpPr/>
          <p:nvPr/>
        </p:nvSpPr>
        <p:spPr>
          <a:xfrm>
            <a:off x="4453128" y="6501384"/>
            <a:ext cx="502920" cy="173736"/>
          </a:xfrm>
          <a:prstGeom prst="rect">
            <a:avLst/>
          </a:prstGeom>
          <a:solidFill>
            <a:srgbClr val="4ADE80">
              <a:alpha val="15000"/>
            </a:srgbClr>
          </a:solidFill>
          <a:ln/>
        </p:spPr>
      </p:sp>
      <p:sp>
        <p:nvSpPr>
          <p:cNvPr id="119" name="Text 117"/>
          <p:cNvSpPr/>
          <p:nvPr/>
        </p:nvSpPr>
        <p:spPr>
          <a:xfrm>
            <a:off x="4453128" y="6501384"/>
            <a:ext cx="502920" cy="173736"/>
          </a:xfrm>
          <a:prstGeom prst="rect">
            <a:avLst/>
          </a:prstGeom>
          <a:noFill/>
          <a:ln/>
        </p:spPr>
        <p:txBody>
          <a:bodyPr wrap="square" lIns="0" tIns="0" rIns="0" bIns="0" rtlCol="0" anchor="ctr"/>
          <a:lstStyle/>
          <a:p>
            <a:pPr algn="ctr" indent="0" marL="0">
              <a:buNone/>
            </a:pPr>
            <a:r>
              <a:rPr lang="en-US" sz="700" b="1" dirty="0">
                <a:solidFill>
                  <a:srgbClr val="4ADE80"/>
                </a:solidFill>
                <a:latin typeface="Calibri" pitchFamily="34" charset="0"/>
                <a:ea typeface="Calibri" pitchFamily="34" charset="-122"/>
                <a:cs typeface="Calibri" pitchFamily="34" charset="-120"/>
              </a:rPr>
              <a:t>GET</a:t>
            </a:r>
            <a:endParaRPr lang="en-US" sz="700" dirty="0"/>
          </a:p>
        </p:txBody>
      </p:sp>
      <p:sp>
        <p:nvSpPr>
          <p:cNvPr id="120" name="Text 118"/>
          <p:cNvSpPr/>
          <p:nvPr/>
        </p:nvSpPr>
        <p:spPr>
          <a:xfrm>
            <a:off x="5001768" y="6501384"/>
            <a:ext cx="3749040" cy="182880"/>
          </a:xfrm>
          <a:prstGeom prst="rect">
            <a:avLst/>
          </a:prstGeom>
          <a:noFill/>
          <a:ln/>
        </p:spPr>
        <p:txBody>
          <a:bodyPr wrap="square" lIns="0" tIns="0" rIns="0" bIns="0" rtlCol="0" anchor="ctr"/>
          <a:lstStyle/>
          <a:p>
            <a:pPr indent="0" marL="0">
              <a:buNone/>
            </a:pPr>
            <a:r>
              <a:rPr lang="en-US" sz="800" dirty="0">
                <a:solidFill>
                  <a:srgbClr val="FAFAFA"/>
                </a:solidFill>
                <a:latin typeface="Courier New" pitchFamily="34" charset="0"/>
                <a:ea typeface="Courier New" pitchFamily="34" charset="-122"/>
                <a:cs typeface="Courier New" pitchFamily="34" charset="-120"/>
              </a:rPr>
              <a:t>/api/v1/analytics/macro-trend/{id}</a:t>
            </a:r>
            <a:endParaRPr lang="en-US" sz="800" dirty="0"/>
          </a:p>
        </p:txBody>
      </p:sp>
      <p:sp>
        <p:nvSpPr>
          <p:cNvPr id="121" name="Shape 119"/>
          <p:cNvSpPr/>
          <p:nvPr/>
        </p:nvSpPr>
        <p:spPr>
          <a:xfrm>
            <a:off x="4434840" y="6720840"/>
            <a:ext cx="4389120" cy="246888"/>
          </a:xfrm>
          <a:prstGeom prst="rect">
            <a:avLst/>
          </a:prstGeom>
          <a:solidFill>
            <a:srgbClr val="111113"/>
          </a:solidFill>
          <a:ln w="12700">
            <a:solidFill>
              <a:srgbClr val="27272A"/>
            </a:solidFill>
            <a:prstDash val="solid"/>
          </a:ln>
        </p:spPr>
      </p:sp>
      <p:sp>
        <p:nvSpPr>
          <p:cNvPr id="122" name="Shape 120"/>
          <p:cNvSpPr/>
          <p:nvPr/>
        </p:nvSpPr>
        <p:spPr>
          <a:xfrm>
            <a:off x="4453128" y="6757416"/>
            <a:ext cx="502920" cy="173736"/>
          </a:xfrm>
          <a:prstGeom prst="rect">
            <a:avLst/>
          </a:prstGeom>
          <a:solidFill>
            <a:srgbClr val="4ADE80">
              <a:alpha val="15000"/>
            </a:srgbClr>
          </a:solidFill>
          <a:ln/>
        </p:spPr>
      </p:sp>
      <p:sp>
        <p:nvSpPr>
          <p:cNvPr id="123" name="Text 121"/>
          <p:cNvSpPr/>
          <p:nvPr/>
        </p:nvSpPr>
        <p:spPr>
          <a:xfrm>
            <a:off x="4453128" y="6757416"/>
            <a:ext cx="502920" cy="173736"/>
          </a:xfrm>
          <a:prstGeom prst="rect">
            <a:avLst/>
          </a:prstGeom>
          <a:noFill/>
          <a:ln/>
        </p:spPr>
        <p:txBody>
          <a:bodyPr wrap="square" lIns="0" tIns="0" rIns="0" bIns="0" rtlCol="0" anchor="ctr"/>
          <a:lstStyle/>
          <a:p>
            <a:pPr algn="ctr" indent="0" marL="0">
              <a:buNone/>
            </a:pPr>
            <a:r>
              <a:rPr lang="en-US" sz="700" b="1" dirty="0">
                <a:solidFill>
                  <a:srgbClr val="4ADE80"/>
                </a:solidFill>
                <a:latin typeface="Calibri" pitchFamily="34" charset="0"/>
                <a:ea typeface="Calibri" pitchFamily="34" charset="-122"/>
                <a:cs typeface="Calibri" pitchFamily="34" charset="-120"/>
              </a:rPr>
              <a:t>GET</a:t>
            </a:r>
            <a:endParaRPr lang="en-US" sz="700" dirty="0"/>
          </a:p>
        </p:txBody>
      </p:sp>
      <p:sp>
        <p:nvSpPr>
          <p:cNvPr id="124" name="Text 122"/>
          <p:cNvSpPr/>
          <p:nvPr/>
        </p:nvSpPr>
        <p:spPr>
          <a:xfrm>
            <a:off x="5001768" y="6757416"/>
            <a:ext cx="3749040" cy="182880"/>
          </a:xfrm>
          <a:prstGeom prst="rect">
            <a:avLst/>
          </a:prstGeom>
          <a:noFill/>
          <a:ln/>
        </p:spPr>
        <p:txBody>
          <a:bodyPr wrap="square" lIns="0" tIns="0" rIns="0" bIns="0" rtlCol="0" anchor="ctr"/>
          <a:lstStyle/>
          <a:p>
            <a:pPr indent="0" marL="0">
              <a:buNone/>
            </a:pPr>
            <a:r>
              <a:rPr lang="en-US" sz="800" dirty="0">
                <a:solidFill>
                  <a:srgbClr val="FAFAFA"/>
                </a:solidFill>
                <a:latin typeface="Courier New" pitchFamily="34" charset="0"/>
                <a:ea typeface="Courier New" pitchFamily="34" charset="-122"/>
                <a:cs typeface="Courier New" pitchFamily="34" charset="-120"/>
              </a:rPr>
              <a:t>/api/v1/analytics/sector-impact/{id}</a:t>
            </a:r>
            <a:endParaRPr lang="en-US" sz="800" dirty="0"/>
          </a:p>
        </p:txBody>
      </p:sp>
      <p:sp>
        <p:nvSpPr>
          <p:cNvPr id="125" name="Shape 123"/>
          <p:cNvSpPr/>
          <p:nvPr/>
        </p:nvSpPr>
        <p:spPr>
          <a:xfrm>
            <a:off x="4434840" y="6976872"/>
            <a:ext cx="4389120" cy="246888"/>
          </a:xfrm>
          <a:prstGeom prst="rect">
            <a:avLst/>
          </a:prstGeom>
          <a:solidFill>
            <a:srgbClr val="111113"/>
          </a:solidFill>
          <a:ln w="12700">
            <a:solidFill>
              <a:srgbClr val="27272A"/>
            </a:solidFill>
            <a:prstDash val="solid"/>
          </a:ln>
        </p:spPr>
      </p:sp>
      <p:sp>
        <p:nvSpPr>
          <p:cNvPr id="126" name="Shape 124"/>
          <p:cNvSpPr/>
          <p:nvPr/>
        </p:nvSpPr>
        <p:spPr>
          <a:xfrm>
            <a:off x="4453128" y="7013448"/>
            <a:ext cx="502920" cy="173736"/>
          </a:xfrm>
          <a:prstGeom prst="rect">
            <a:avLst/>
          </a:prstGeom>
          <a:solidFill>
            <a:srgbClr val="4ADE80">
              <a:alpha val="15000"/>
            </a:srgbClr>
          </a:solidFill>
          <a:ln/>
        </p:spPr>
      </p:sp>
      <p:sp>
        <p:nvSpPr>
          <p:cNvPr id="127" name="Text 125"/>
          <p:cNvSpPr/>
          <p:nvPr/>
        </p:nvSpPr>
        <p:spPr>
          <a:xfrm>
            <a:off x="4453128" y="7013448"/>
            <a:ext cx="502920" cy="173736"/>
          </a:xfrm>
          <a:prstGeom prst="rect">
            <a:avLst/>
          </a:prstGeom>
          <a:noFill/>
          <a:ln/>
        </p:spPr>
        <p:txBody>
          <a:bodyPr wrap="square" lIns="0" tIns="0" rIns="0" bIns="0" rtlCol="0" anchor="ctr"/>
          <a:lstStyle/>
          <a:p>
            <a:pPr algn="ctr" indent="0" marL="0">
              <a:buNone/>
            </a:pPr>
            <a:r>
              <a:rPr lang="en-US" sz="700" b="1" dirty="0">
                <a:solidFill>
                  <a:srgbClr val="4ADE80"/>
                </a:solidFill>
                <a:latin typeface="Calibri" pitchFamily="34" charset="0"/>
                <a:ea typeface="Calibri" pitchFamily="34" charset="-122"/>
                <a:cs typeface="Calibri" pitchFamily="34" charset="-120"/>
              </a:rPr>
              <a:t>GET</a:t>
            </a:r>
            <a:endParaRPr lang="en-US" sz="700" dirty="0"/>
          </a:p>
        </p:txBody>
      </p:sp>
      <p:sp>
        <p:nvSpPr>
          <p:cNvPr id="128" name="Text 126"/>
          <p:cNvSpPr/>
          <p:nvPr/>
        </p:nvSpPr>
        <p:spPr>
          <a:xfrm>
            <a:off x="5001768" y="7013448"/>
            <a:ext cx="3749040" cy="182880"/>
          </a:xfrm>
          <a:prstGeom prst="rect">
            <a:avLst/>
          </a:prstGeom>
          <a:noFill/>
          <a:ln/>
        </p:spPr>
        <p:txBody>
          <a:bodyPr wrap="square" lIns="0" tIns="0" rIns="0" bIns="0" rtlCol="0" anchor="ctr"/>
          <a:lstStyle/>
          <a:p>
            <a:pPr indent="0" marL="0">
              <a:buNone/>
            </a:pPr>
            <a:r>
              <a:rPr lang="en-US" sz="800" dirty="0">
                <a:solidFill>
                  <a:srgbClr val="FAFAFA"/>
                </a:solidFill>
                <a:latin typeface="Courier New" pitchFamily="34" charset="0"/>
                <a:ea typeface="Courier New" pitchFamily="34" charset="-122"/>
                <a:cs typeface="Courier New" pitchFamily="34" charset="-120"/>
              </a:rPr>
              <a:t>/api/v1/analytics/market-summary</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B"/>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0A0B"/>
          </a:solidFill>
          <a:ln/>
        </p:spPr>
      </p:sp>
      <p:sp>
        <p:nvSpPr>
          <p:cNvPr id="3" name="Shape 1"/>
          <p:cNvSpPr/>
          <p:nvPr/>
        </p:nvSpPr>
        <p:spPr>
          <a:xfrm>
            <a:off x="0" y="0"/>
            <a:ext cx="9144000" cy="2743"/>
          </a:xfrm>
          <a:prstGeom prst="rect">
            <a:avLst/>
          </a:prstGeom>
          <a:solidFill>
            <a:srgbClr val="27272A"/>
          </a:solidFill>
          <a:ln/>
        </p:spPr>
      </p:sp>
      <p:sp>
        <p:nvSpPr>
          <p:cNvPr id="4" name="Text 2"/>
          <p:cNvSpPr/>
          <p:nvPr/>
        </p:nvSpPr>
        <p:spPr>
          <a:xfrm>
            <a:off x="411480" y="164592"/>
            <a:ext cx="8229600" cy="384048"/>
          </a:xfrm>
          <a:prstGeom prst="rect">
            <a:avLst/>
          </a:prstGeom>
          <a:noFill/>
          <a:ln/>
        </p:spPr>
        <p:txBody>
          <a:bodyPr wrap="square" rtlCol="0" anchor="ctr"/>
          <a:lstStyle/>
          <a:p>
            <a:pPr indent="0" marL="0">
              <a:buNone/>
            </a:pPr>
            <a:r>
              <a:rPr lang="en-US" sz="2000" b="1" spc="-50" kern="0" dirty="0">
                <a:solidFill>
                  <a:srgbClr val="FAFAFA"/>
                </a:solidFill>
                <a:latin typeface="Calibri" pitchFamily="34" charset="0"/>
                <a:ea typeface="Calibri" pitchFamily="34" charset="-122"/>
                <a:cs typeface="Calibri" pitchFamily="34" charset="-120"/>
              </a:rPr>
              <a:t>Analytics Engine — Five Endpoints</a:t>
            </a:r>
            <a:endParaRPr lang="en-US" sz="2000" dirty="0"/>
          </a:p>
        </p:txBody>
      </p:sp>
      <p:sp>
        <p:nvSpPr>
          <p:cNvPr id="5" name="Shape 3"/>
          <p:cNvSpPr/>
          <p:nvPr/>
        </p:nvSpPr>
        <p:spPr>
          <a:xfrm>
            <a:off x="411480" y="585216"/>
            <a:ext cx="8321040" cy="10973"/>
          </a:xfrm>
          <a:prstGeom prst="rect">
            <a:avLst/>
          </a:prstGeom>
          <a:solidFill>
            <a:srgbClr val="27272A"/>
          </a:solidFill>
          <a:ln/>
        </p:spPr>
      </p:sp>
      <p:sp>
        <p:nvSpPr>
          <p:cNvPr id="6" name="Shape 4"/>
          <p:cNvSpPr/>
          <p:nvPr/>
        </p:nvSpPr>
        <p:spPr>
          <a:xfrm>
            <a:off x="411480" y="713232"/>
            <a:ext cx="4114800" cy="1371600"/>
          </a:xfrm>
          <a:prstGeom prst="rect">
            <a:avLst/>
          </a:prstGeom>
          <a:solidFill>
            <a:srgbClr val="111113"/>
          </a:solidFill>
          <a:ln w="12700">
            <a:solidFill>
              <a:srgbClr val="27272A"/>
            </a:solidFill>
            <a:prstDash val="solid"/>
          </a:ln>
        </p:spPr>
      </p:sp>
      <p:sp>
        <p:nvSpPr>
          <p:cNvPr id="7" name="Shape 5"/>
          <p:cNvSpPr/>
          <p:nvPr/>
        </p:nvSpPr>
        <p:spPr>
          <a:xfrm>
            <a:off x="411480" y="713232"/>
            <a:ext cx="45720" cy="1371600"/>
          </a:xfrm>
          <a:prstGeom prst="rect">
            <a:avLst/>
          </a:prstGeom>
          <a:solidFill>
            <a:srgbClr val="D4A853"/>
          </a:solidFill>
          <a:ln/>
        </p:spPr>
      </p:sp>
      <p:sp>
        <p:nvSpPr>
          <p:cNvPr id="8" name="Shape 6"/>
          <p:cNvSpPr/>
          <p:nvPr/>
        </p:nvSpPr>
        <p:spPr>
          <a:xfrm>
            <a:off x="576072" y="804672"/>
            <a:ext cx="2446020" cy="201168"/>
          </a:xfrm>
          <a:prstGeom prst="rect">
            <a:avLst/>
          </a:prstGeom>
          <a:solidFill>
            <a:srgbClr val="D4A853">
              <a:alpha val="12000"/>
            </a:srgbClr>
          </a:solidFill>
          <a:ln/>
        </p:spPr>
      </p:sp>
      <p:sp>
        <p:nvSpPr>
          <p:cNvPr id="9" name="Text 7"/>
          <p:cNvSpPr/>
          <p:nvPr/>
        </p:nvSpPr>
        <p:spPr>
          <a:xfrm>
            <a:off x="649224" y="804672"/>
            <a:ext cx="2354580" cy="201168"/>
          </a:xfrm>
          <a:prstGeom prst="rect">
            <a:avLst/>
          </a:prstGeom>
          <a:noFill/>
          <a:ln/>
        </p:spPr>
        <p:txBody>
          <a:bodyPr wrap="square" lIns="0" tIns="0" rIns="0" bIns="0" rtlCol="0" anchor="ctr"/>
          <a:lstStyle/>
          <a:p>
            <a:pPr indent="0" marL="0">
              <a:buNone/>
            </a:pPr>
            <a:r>
              <a:rPr lang="en-US" sz="850" b="1" dirty="0">
                <a:solidFill>
                  <a:srgbClr val="D4A853"/>
                </a:solidFill>
                <a:latin typeface="Courier New" pitchFamily="34" charset="0"/>
                <a:ea typeface="Courier New" pitchFamily="34" charset="-122"/>
                <a:cs typeface="Courier New" pitchFamily="34" charset="-120"/>
              </a:rPr>
              <a:t>GET /api/v1/analytics/correlation</a:t>
            </a:r>
            <a:endParaRPr lang="en-US" sz="850" dirty="0"/>
          </a:p>
        </p:txBody>
      </p:sp>
      <p:sp>
        <p:nvSpPr>
          <p:cNvPr id="10" name="Text 8"/>
          <p:cNvSpPr/>
          <p:nvPr/>
        </p:nvSpPr>
        <p:spPr>
          <a:xfrm>
            <a:off x="576072" y="1051560"/>
            <a:ext cx="3794760" cy="237744"/>
          </a:xfrm>
          <a:prstGeom prst="rect">
            <a:avLst/>
          </a:prstGeom>
          <a:noFill/>
          <a:ln/>
        </p:spPr>
        <p:txBody>
          <a:bodyPr wrap="square" lIns="0" tIns="0" rIns="0" bIns="0" rtlCol="0" anchor="ctr"/>
          <a:lstStyle/>
          <a:p>
            <a:pPr indent="0" marL="0">
              <a:buNone/>
            </a:pPr>
            <a:r>
              <a:rPr lang="en-US" sz="1200" b="1" dirty="0">
                <a:solidFill>
                  <a:srgbClr val="FAFAFA"/>
                </a:solidFill>
                <a:latin typeface="Calibri" pitchFamily="34" charset="0"/>
                <a:ea typeface="Calibri" pitchFamily="34" charset="-122"/>
                <a:cs typeface="Calibri" pitchFamily="34" charset="-120"/>
              </a:rPr>
              <a:t>Correlation Analysis</a:t>
            </a:r>
            <a:endParaRPr lang="en-US" sz="1200" dirty="0"/>
          </a:p>
        </p:txBody>
      </p:sp>
      <p:sp>
        <p:nvSpPr>
          <p:cNvPr id="11" name="Text 9"/>
          <p:cNvSpPr/>
          <p:nvPr/>
        </p:nvSpPr>
        <p:spPr>
          <a:xfrm>
            <a:off x="576072" y="1307592"/>
            <a:ext cx="3794760" cy="219456"/>
          </a:xfrm>
          <a:prstGeom prst="rect">
            <a:avLst/>
          </a:prstGeom>
          <a:noFill/>
          <a:ln/>
        </p:spPr>
        <p:txBody>
          <a:bodyPr wrap="square" lIns="0" tIns="0" rIns="0" bIns="0" rtlCol="0" anchor="ctr"/>
          <a:lstStyle/>
          <a:p>
            <a:pPr indent="0" marL="0">
              <a:buNone/>
            </a:pPr>
            <a:r>
              <a:rPr lang="en-US" sz="1000" i="1" dirty="0">
                <a:solidFill>
                  <a:srgbClr val="A1A1AA"/>
                </a:solidFill>
                <a:latin typeface="Calibri" pitchFamily="34" charset="0"/>
                <a:ea typeface="Calibri" pitchFamily="34" charset="-122"/>
                <a:cs typeface="Calibri" pitchFamily="34" charset="-120"/>
              </a:rPr>
              <a:t>"Does gold rise when inflation rises?"</a:t>
            </a:r>
            <a:endParaRPr lang="en-US" sz="1000" dirty="0"/>
          </a:p>
        </p:txBody>
      </p:sp>
      <p:sp>
        <p:nvSpPr>
          <p:cNvPr id="12" name="Text 10"/>
          <p:cNvSpPr/>
          <p:nvPr/>
        </p:nvSpPr>
        <p:spPr>
          <a:xfrm>
            <a:off x="576072" y="1554480"/>
            <a:ext cx="3794760" cy="457200"/>
          </a:xfrm>
          <a:prstGeom prst="rect">
            <a:avLst/>
          </a:prstGeom>
          <a:noFill/>
          <a:ln/>
        </p:spPr>
        <p:txBody>
          <a:bodyPr wrap="square" lIns="0" tIns="0" rIns="0" bIns="0" rtlCol="0" anchor="ctr"/>
          <a:lstStyle/>
          <a:p>
            <a:pPr indent="0" marL="0">
              <a:buNone/>
            </a:pPr>
            <a:r>
              <a:rPr lang="en-US" sz="950" dirty="0">
                <a:solidFill>
                  <a:srgbClr val="52525B"/>
                </a:solidFill>
                <a:latin typeface="Calibri" pitchFamily="34" charset="0"/>
                <a:ea typeface="Calibri" pitchFamily="34" charset="-122"/>
                <a:cs typeface="Calibri" pitchFamily="34" charset="-120"/>
              </a:rPr>
              <a:t>scipy.stats.pearsonr on month-end aligned series. Returns r coefficient, interpretation, data points, and the full aligned time-series for charting.</a:t>
            </a:r>
            <a:endParaRPr lang="en-US" sz="950" dirty="0"/>
          </a:p>
        </p:txBody>
      </p:sp>
      <p:sp>
        <p:nvSpPr>
          <p:cNvPr id="13" name="Shape 11"/>
          <p:cNvSpPr/>
          <p:nvPr/>
        </p:nvSpPr>
        <p:spPr>
          <a:xfrm>
            <a:off x="411480" y="2157984"/>
            <a:ext cx="4114800" cy="1371600"/>
          </a:xfrm>
          <a:prstGeom prst="rect">
            <a:avLst/>
          </a:prstGeom>
          <a:solidFill>
            <a:srgbClr val="111113"/>
          </a:solidFill>
          <a:ln w="12700">
            <a:solidFill>
              <a:srgbClr val="27272A"/>
            </a:solidFill>
            <a:prstDash val="solid"/>
          </a:ln>
        </p:spPr>
      </p:sp>
      <p:sp>
        <p:nvSpPr>
          <p:cNvPr id="14" name="Shape 12"/>
          <p:cNvSpPr/>
          <p:nvPr/>
        </p:nvSpPr>
        <p:spPr>
          <a:xfrm>
            <a:off x="411480" y="2157984"/>
            <a:ext cx="45720" cy="1371600"/>
          </a:xfrm>
          <a:prstGeom prst="rect">
            <a:avLst/>
          </a:prstGeom>
          <a:solidFill>
            <a:srgbClr val="F87171"/>
          </a:solidFill>
          <a:ln/>
        </p:spPr>
      </p:sp>
      <p:sp>
        <p:nvSpPr>
          <p:cNvPr id="15" name="Shape 13"/>
          <p:cNvSpPr/>
          <p:nvPr/>
        </p:nvSpPr>
        <p:spPr>
          <a:xfrm>
            <a:off x="576072" y="2249424"/>
            <a:ext cx="2651760" cy="201168"/>
          </a:xfrm>
          <a:prstGeom prst="rect">
            <a:avLst/>
          </a:prstGeom>
          <a:solidFill>
            <a:srgbClr val="F87171">
              <a:alpha val="12000"/>
            </a:srgbClr>
          </a:solidFill>
          <a:ln/>
        </p:spPr>
      </p:sp>
      <p:sp>
        <p:nvSpPr>
          <p:cNvPr id="16" name="Text 14"/>
          <p:cNvSpPr/>
          <p:nvPr/>
        </p:nvSpPr>
        <p:spPr>
          <a:xfrm>
            <a:off x="649224" y="2249424"/>
            <a:ext cx="2560320" cy="201168"/>
          </a:xfrm>
          <a:prstGeom prst="rect">
            <a:avLst/>
          </a:prstGeom>
          <a:noFill/>
          <a:ln/>
        </p:spPr>
        <p:txBody>
          <a:bodyPr wrap="square" lIns="0" tIns="0" rIns="0" bIns="0" rtlCol="0" anchor="ctr"/>
          <a:lstStyle/>
          <a:p>
            <a:pPr indent="0" marL="0">
              <a:buNone/>
            </a:pPr>
            <a:r>
              <a:rPr lang="en-US" sz="850" b="1" dirty="0">
                <a:solidFill>
                  <a:srgbClr val="F87171"/>
                </a:solidFill>
                <a:latin typeface="Courier New" pitchFamily="34" charset="0"/>
                <a:ea typeface="Courier New" pitchFamily="34" charset="-122"/>
                <a:cs typeface="Courier New" pitchFamily="34" charset="-120"/>
              </a:rPr>
              <a:t>GET /api/v1/analytics/recession-risk</a:t>
            </a:r>
            <a:endParaRPr lang="en-US" sz="850" dirty="0"/>
          </a:p>
        </p:txBody>
      </p:sp>
      <p:sp>
        <p:nvSpPr>
          <p:cNvPr id="17" name="Text 15"/>
          <p:cNvSpPr/>
          <p:nvPr/>
        </p:nvSpPr>
        <p:spPr>
          <a:xfrm>
            <a:off x="576072" y="2496312"/>
            <a:ext cx="3794760" cy="237744"/>
          </a:xfrm>
          <a:prstGeom prst="rect">
            <a:avLst/>
          </a:prstGeom>
          <a:noFill/>
          <a:ln/>
        </p:spPr>
        <p:txBody>
          <a:bodyPr wrap="square" lIns="0" tIns="0" rIns="0" bIns="0" rtlCol="0" anchor="ctr"/>
          <a:lstStyle/>
          <a:p>
            <a:pPr indent="0" marL="0">
              <a:buNone/>
            </a:pPr>
            <a:r>
              <a:rPr lang="en-US" sz="1200" b="1" dirty="0">
                <a:solidFill>
                  <a:srgbClr val="FAFAFA"/>
                </a:solidFill>
                <a:latin typeface="Calibri" pitchFamily="34" charset="0"/>
                <a:ea typeface="Calibri" pitchFamily="34" charset="-122"/>
                <a:cs typeface="Calibri" pitchFamily="34" charset="-120"/>
              </a:rPr>
              <a:t>Recession Risk Score</a:t>
            </a:r>
            <a:endParaRPr lang="en-US" sz="1200" dirty="0"/>
          </a:p>
        </p:txBody>
      </p:sp>
      <p:sp>
        <p:nvSpPr>
          <p:cNvPr id="18" name="Text 16"/>
          <p:cNvSpPr/>
          <p:nvPr/>
        </p:nvSpPr>
        <p:spPr>
          <a:xfrm>
            <a:off x="576072" y="2752344"/>
            <a:ext cx="3794760" cy="219456"/>
          </a:xfrm>
          <a:prstGeom prst="rect">
            <a:avLst/>
          </a:prstGeom>
          <a:noFill/>
          <a:ln/>
        </p:spPr>
        <p:txBody>
          <a:bodyPr wrap="square" lIns="0" tIns="0" rIns="0" bIns="0" rtlCol="0" anchor="ctr"/>
          <a:lstStyle/>
          <a:p>
            <a:pPr indent="0" marL="0">
              <a:buNone/>
            </a:pPr>
            <a:r>
              <a:rPr lang="en-US" sz="1000" i="1" dirty="0">
                <a:solidFill>
                  <a:srgbClr val="A1A1AA"/>
                </a:solidFill>
                <a:latin typeface="Calibri" pitchFamily="34" charset="0"/>
                <a:ea typeface="Calibri" pitchFamily="34" charset="-122"/>
                <a:cs typeface="Calibri" pitchFamily="34" charset="-120"/>
              </a:rPr>
              <a:t>"How close are we to a recession right now?"</a:t>
            </a:r>
            <a:endParaRPr lang="en-US" sz="1000" dirty="0"/>
          </a:p>
        </p:txBody>
      </p:sp>
      <p:sp>
        <p:nvSpPr>
          <p:cNvPr id="19" name="Text 17"/>
          <p:cNvSpPr/>
          <p:nvPr/>
        </p:nvSpPr>
        <p:spPr>
          <a:xfrm>
            <a:off x="576072" y="2999232"/>
            <a:ext cx="3794760" cy="457200"/>
          </a:xfrm>
          <a:prstGeom prst="rect">
            <a:avLst/>
          </a:prstGeom>
          <a:noFill/>
          <a:ln/>
        </p:spPr>
        <p:txBody>
          <a:bodyPr wrap="square" lIns="0" tIns="0" rIns="0" bIns="0" rtlCol="0" anchor="ctr"/>
          <a:lstStyle/>
          <a:p>
            <a:pPr indent="0" marL="0">
              <a:buNone/>
            </a:pPr>
            <a:r>
              <a:rPr lang="en-US" sz="950" dirty="0">
                <a:solidFill>
                  <a:srgbClr val="52525B"/>
                </a:solidFill>
                <a:latin typeface="Calibri" pitchFamily="34" charset="0"/>
                <a:ea typeface="Calibri" pitchFamily="34" charset="-122"/>
                <a:cs typeface="Calibri" pitchFamily="34" charset="-120"/>
              </a:rPr>
              <a:t>Weighted composite: T10Y2Y yield spread (0.35), UNRATE via Sahm Rule (0.25), CPIAUCSL YoY change (0.20), FEDFUNDS 12-month change (0.20). Returns 0–100 score + Low/Elevated/High/Critical classification.</a:t>
            </a:r>
            <a:endParaRPr lang="en-US" sz="950" dirty="0"/>
          </a:p>
        </p:txBody>
      </p:sp>
      <p:sp>
        <p:nvSpPr>
          <p:cNvPr id="20" name="Shape 18"/>
          <p:cNvSpPr/>
          <p:nvPr/>
        </p:nvSpPr>
        <p:spPr>
          <a:xfrm>
            <a:off x="411480" y="3602736"/>
            <a:ext cx="4114800" cy="1371600"/>
          </a:xfrm>
          <a:prstGeom prst="rect">
            <a:avLst/>
          </a:prstGeom>
          <a:solidFill>
            <a:srgbClr val="111113"/>
          </a:solidFill>
          <a:ln w="12700">
            <a:solidFill>
              <a:srgbClr val="27272A"/>
            </a:solidFill>
            <a:prstDash val="solid"/>
          </a:ln>
        </p:spPr>
      </p:sp>
      <p:sp>
        <p:nvSpPr>
          <p:cNvPr id="21" name="Shape 19"/>
          <p:cNvSpPr/>
          <p:nvPr/>
        </p:nvSpPr>
        <p:spPr>
          <a:xfrm>
            <a:off x="411480" y="3602736"/>
            <a:ext cx="45720" cy="1371600"/>
          </a:xfrm>
          <a:prstGeom prst="rect">
            <a:avLst/>
          </a:prstGeom>
          <a:solidFill>
            <a:srgbClr val="60A5FA"/>
          </a:solidFill>
          <a:ln/>
        </p:spPr>
      </p:sp>
      <p:sp>
        <p:nvSpPr>
          <p:cNvPr id="22" name="Shape 20"/>
          <p:cNvSpPr/>
          <p:nvPr/>
        </p:nvSpPr>
        <p:spPr>
          <a:xfrm>
            <a:off x="576072" y="3694176"/>
            <a:ext cx="2788920" cy="201168"/>
          </a:xfrm>
          <a:prstGeom prst="rect">
            <a:avLst/>
          </a:prstGeom>
          <a:solidFill>
            <a:srgbClr val="60A5FA">
              <a:alpha val="12000"/>
            </a:srgbClr>
          </a:solidFill>
          <a:ln/>
        </p:spPr>
      </p:sp>
      <p:sp>
        <p:nvSpPr>
          <p:cNvPr id="23" name="Text 21"/>
          <p:cNvSpPr/>
          <p:nvPr/>
        </p:nvSpPr>
        <p:spPr>
          <a:xfrm>
            <a:off x="649224" y="3694176"/>
            <a:ext cx="2697480" cy="201168"/>
          </a:xfrm>
          <a:prstGeom prst="rect">
            <a:avLst/>
          </a:prstGeom>
          <a:noFill/>
          <a:ln/>
        </p:spPr>
        <p:txBody>
          <a:bodyPr wrap="square" lIns="0" tIns="0" rIns="0" bIns="0" rtlCol="0" anchor="ctr"/>
          <a:lstStyle/>
          <a:p>
            <a:pPr indent="0" marL="0">
              <a:buNone/>
            </a:pPr>
            <a:r>
              <a:rPr lang="en-US" sz="850" b="1" dirty="0">
                <a:solidFill>
                  <a:srgbClr val="60A5FA"/>
                </a:solidFill>
                <a:latin typeface="Courier New" pitchFamily="34" charset="0"/>
                <a:ea typeface="Courier New" pitchFamily="34" charset="-122"/>
                <a:cs typeface="Courier New" pitchFamily="34" charset="-120"/>
              </a:rPr>
              <a:t>GET /api/v1/analytics/macro-trend/{id}</a:t>
            </a:r>
            <a:endParaRPr lang="en-US" sz="850" dirty="0"/>
          </a:p>
        </p:txBody>
      </p:sp>
      <p:sp>
        <p:nvSpPr>
          <p:cNvPr id="24" name="Text 22"/>
          <p:cNvSpPr/>
          <p:nvPr/>
        </p:nvSpPr>
        <p:spPr>
          <a:xfrm>
            <a:off x="576072" y="3941064"/>
            <a:ext cx="3794760" cy="237744"/>
          </a:xfrm>
          <a:prstGeom prst="rect">
            <a:avLst/>
          </a:prstGeom>
          <a:noFill/>
          <a:ln/>
        </p:spPr>
        <p:txBody>
          <a:bodyPr wrap="square" lIns="0" tIns="0" rIns="0" bIns="0" rtlCol="0" anchor="ctr"/>
          <a:lstStyle/>
          <a:p>
            <a:pPr indent="0" marL="0">
              <a:buNone/>
            </a:pPr>
            <a:r>
              <a:rPr lang="en-US" sz="1200" b="1" dirty="0">
                <a:solidFill>
                  <a:srgbClr val="FAFAFA"/>
                </a:solidFill>
                <a:latin typeface="Calibri" pitchFamily="34" charset="0"/>
                <a:ea typeface="Calibri" pitchFamily="34" charset="-122"/>
                <a:cs typeface="Calibri" pitchFamily="34" charset="-120"/>
              </a:rPr>
              <a:t>Macro Trend Detection</a:t>
            </a:r>
            <a:endParaRPr lang="en-US" sz="1200" dirty="0"/>
          </a:p>
        </p:txBody>
      </p:sp>
      <p:sp>
        <p:nvSpPr>
          <p:cNvPr id="25" name="Text 23"/>
          <p:cNvSpPr/>
          <p:nvPr/>
        </p:nvSpPr>
        <p:spPr>
          <a:xfrm>
            <a:off x="576072" y="4197096"/>
            <a:ext cx="3794760" cy="219456"/>
          </a:xfrm>
          <a:prstGeom prst="rect">
            <a:avLst/>
          </a:prstGeom>
          <a:noFill/>
          <a:ln/>
        </p:spPr>
        <p:txBody>
          <a:bodyPr wrap="square" lIns="0" tIns="0" rIns="0" bIns="0" rtlCol="0" anchor="ctr"/>
          <a:lstStyle/>
          <a:p>
            <a:pPr indent="0" marL="0">
              <a:buNone/>
            </a:pPr>
            <a:r>
              <a:rPr lang="en-US" sz="1000" i="1" dirty="0">
                <a:solidFill>
                  <a:srgbClr val="A1A1AA"/>
                </a:solidFill>
                <a:latin typeface="Calibri" pitchFamily="34" charset="0"/>
                <a:ea typeface="Calibri" pitchFamily="34" charset="-122"/>
                <a:cs typeface="Calibri" pitchFamily="34" charset="-120"/>
              </a:rPr>
              <a:t>"Is unemployment rising or falling over the last 2 years?"</a:t>
            </a:r>
            <a:endParaRPr lang="en-US" sz="1000" dirty="0"/>
          </a:p>
        </p:txBody>
      </p:sp>
      <p:sp>
        <p:nvSpPr>
          <p:cNvPr id="26" name="Text 24"/>
          <p:cNvSpPr/>
          <p:nvPr/>
        </p:nvSpPr>
        <p:spPr>
          <a:xfrm>
            <a:off x="576072" y="4443984"/>
            <a:ext cx="3794760" cy="457200"/>
          </a:xfrm>
          <a:prstGeom prst="rect">
            <a:avLst/>
          </a:prstGeom>
          <a:noFill/>
          <a:ln/>
        </p:spPr>
        <p:txBody>
          <a:bodyPr wrap="square" lIns="0" tIns="0" rIns="0" bIns="0" rtlCol="0" anchor="ctr"/>
          <a:lstStyle/>
          <a:p>
            <a:pPr indent="0" marL="0">
              <a:buNone/>
            </a:pPr>
            <a:r>
              <a:rPr lang="en-US" sz="950" dirty="0">
                <a:solidFill>
                  <a:srgbClr val="52525B"/>
                </a:solidFill>
                <a:latin typeface="Calibri" pitchFamily="34" charset="0"/>
                <a:ea typeface="Calibri" pitchFamily="34" charset="-122"/>
                <a:cs typeface="Calibri" pitchFamily="34" charset="-120"/>
              </a:rPr>
              <a:t>numpy.polyfit linear regression over N periods. Slope normalised by mean so CPI (~300) and Fed Funds (~5) are comparable. Returns direction, % change, and plain-English interpretation.</a:t>
            </a:r>
            <a:endParaRPr lang="en-US" sz="950" dirty="0"/>
          </a:p>
        </p:txBody>
      </p:sp>
      <p:sp>
        <p:nvSpPr>
          <p:cNvPr id="27" name="Shape 25"/>
          <p:cNvSpPr/>
          <p:nvPr/>
        </p:nvSpPr>
        <p:spPr>
          <a:xfrm>
            <a:off x="4736592" y="713232"/>
            <a:ext cx="4114800" cy="2011680"/>
          </a:xfrm>
          <a:prstGeom prst="rect">
            <a:avLst/>
          </a:prstGeom>
          <a:solidFill>
            <a:srgbClr val="111113"/>
          </a:solidFill>
          <a:ln w="12700">
            <a:solidFill>
              <a:srgbClr val="27272A"/>
            </a:solidFill>
            <a:prstDash val="solid"/>
          </a:ln>
        </p:spPr>
      </p:sp>
      <p:sp>
        <p:nvSpPr>
          <p:cNvPr id="28" name="Shape 26"/>
          <p:cNvSpPr/>
          <p:nvPr/>
        </p:nvSpPr>
        <p:spPr>
          <a:xfrm>
            <a:off x="4736592" y="713232"/>
            <a:ext cx="45720" cy="2011680"/>
          </a:xfrm>
          <a:prstGeom prst="rect">
            <a:avLst/>
          </a:prstGeom>
          <a:solidFill>
            <a:srgbClr val="4ADE80"/>
          </a:solidFill>
          <a:ln/>
        </p:spPr>
      </p:sp>
      <p:sp>
        <p:nvSpPr>
          <p:cNvPr id="29" name="Shape 27"/>
          <p:cNvSpPr/>
          <p:nvPr/>
        </p:nvSpPr>
        <p:spPr>
          <a:xfrm>
            <a:off x="4901184" y="804672"/>
            <a:ext cx="2926080" cy="201168"/>
          </a:xfrm>
          <a:prstGeom prst="rect">
            <a:avLst/>
          </a:prstGeom>
          <a:solidFill>
            <a:srgbClr val="4ADE80">
              <a:alpha val="12000"/>
            </a:srgbClr>
          </a:solidFill>
          <a:ln/>
        </p:spPr>
      </p:sp>
      <p:sp>
        <p:nvSpPr>
          <p:cNvPr id="30" name="Text 28"/>
          <p:cNvSpPr/>
          <p:nvPr/>
        </p:nvSpPr>
        <p:spPr>
          <a:xfrm>
            <a:off x="4974336" y="804672"/>
            <a:ext cx="2834640" cy="201168"/>
          </a:xfrm>
          <a:prstGeom prst="rect">
            <a:avLst/>
          </a:prstGeom>
          <a:noFill/>
          <a:ln/>
        </p:spPr>
        <p:txBody>
          <a:bodyPr wrap="square" lIns="0" tIns="0" rIns="0" bIns="0" rtlCol="0" anchor="ctr"/>
          <a:lstStyle/>
          <a:p>
            <a:pPr indent="0" marL="0">
              <a:buNone/>
            </a:pPr>
            <a:r>
              <a:rPr lang="en-US" sz="850" b="1" dirty="0">
                <a:solidFill>
                  <a:srgbClr val="4ADE80"/>
                </a:solidFill>
                <a:latin typeface="Courier New" pitchFamily="34" charset="0"/>
                <a:ea typeface="Courier New" pitchFamily="34" charset="-122"/>
                <a:cs typeface="Courier New" pitchFamily="34" charset="-120"/>
              </a:rPr>
              <a:t>GET /api/v1/analytics/sector-impact/{id}</a:t>
            </a:r>
            <a:endParaRPr lang="en-US" sz="850" dirty="0"/>
          </a:p>
        </p:txBody>
      </p:sp>
      <p:sp>
        <p:nvSpPr>
          <p:cNvPr id="31" name="Text 29"/>
          <p:cNvSpPr/>
          <p:nvPr/>
        </p:nvSpPr>
        <p:spPr>
          <a:xfrm>
            <a:off x="4901184" y="1051560"/>
            <a:ext cx="3794760" cy="237744"/>
          </a:xfrm>
          <a:prstGeom prst="rect">
            <a:avLst/>
          </a:prstGeom>
          <a:noFill/>
          <a:ln/>
        </p:spPr>
        <p:txBody>
          <a:bodyPr wrap="square" lIns="0" tIns="0" rIns="0" bIns="0" rtlCol="0" anchor="ctr"/>
          <a:lstStyle/>
          <a:p>
            <a:pPr indent="0" marL="0">
              <a:buNone/>
            </a:pPr>
            <a:r>
              <a:rPr lang="en-US" sz="1200" b="1" dirty="0">
                <a:solidFill>
                  <a:srgbClr val="FAFAFA"/>
                </a:solidFill>
                <a:latin typeface="Calibri" pitchFamily="34" charset="0"/>
                <a:ea typeface="Calibri" pitchFamily="34" charset="-122"/>
                <a:cs typeface="Calibri" pitchFamily="34" charset="-120"/>
              </a:rPr>
              <a:t>Sector Impact Analysis</a:t>
            </a:r>
            <a:endParaRPr lang="en-US" sz="1200" dirty="0"/>
          </a:p>
        </p:txBody>
      </p:sp>
      <p:sp>
        <p:nvSpPr>
          <p:cNvPr id="32" name="Text 30"/>
          <p:cNvSpPr/>
          <p:nvPr/>
        </p:nvSpPr>
        <p:spPr>
          <a:xfrm>
            <a:off x="4901184" y="1307592"/>
            <a:ext cx="3794760" cy="219456"/>
          </a:xfrm>
          <a:prstGeom prst="rect">
            <a:avLst/>
          </a:prstGeom>
          <a:noFill/>
          <a:ln/>
        </p:spPr>
        <p:txBody>
          <a:bodyPr wrap="square" lIns="0" tIns="0" rIns="0" bIns="0" rtlCol="0" anchor="ctr"/>
          <a:lstStyle/>
          <a:p>
            <a:pPr indent="0" marL="0">
              <a:buNone/>
            </a:pPr>
            <a:r>
              <a:rPr lang="en-US" sz="1000" i="1" dirty="0">
                <a:solidFill>
                  <a:srgbClr val="A1A1AA"/>
                </a:solidFill>
                <a:latin typeface="Calibri" pitchFamily="34" charset="0"/>
                <a:ea typeface="Calibri" pitchFamily="34" charset="-122"/>
                <a:cs typeface="Calibri" pitchFamily="34" charset="-120"/>
              </a:rPr>
              <a:t>"Which ETFs are most exposed to rising interest rates?"</a:t>
            </a:r>
            <a:endParaRPr lang="en-US" sz="1000" dirty="0"/>
          </a:p>
        </p:txBody>
      </p:sp>
      <p:sp>
        <p:nvSpPr>
          <p:cNvPr id="33" name="Text 31"/>
          <p:cNvSpPr/>
          <p:nvPr/>
        </p:nvSpPr>
        <p:spPr>
          <a:xfrm>
            <a:off x="4901184" y="1554480"/>
            <a:ext cx="3794760" cy="1097280"/>
          </a:xfrm>
          <a:prstGeom prst="rect">
            <a:avLst/>
          </a:prstGeom>
          <a:noFill/>
          <a:ln/>
        </p:spPr>
        <p:txBody>
          <a:bodyPr wrap="square" lIns="0" tIns="0" rIns="0" bIns="0" rtlCol="0" anchor="ctr"/>
          <a:lstStyle/>
          <a:p>
            <a:pPr indent="0" marL="0">
              <a:buNone/>
            </a:pPr>
            <a:r>
              <a:rPr lang="en-US" sz="950" dirty="0">
                <a:solidFill>
                  <a:srgbClr val="52525B"/>
                </a:solidFill>
                <a:latin typeface="Calibri" pitchFamily="34" charset="0"/>
                <a:ea typeface="Calibri" pitchFamily="34" charset="-122"/>
                <a:cs typeface="Calibri" pitchFamily="34" charset="-120"/>
              </a:rPr>
              <a:t>Batch Pearson correlation of one indicator against all 14 tracked assets simultaneously. Returns ranked list by absolute correlation — financials, utilities, and real estate typically score highest against FEDFUNDS.</a:t>
            </a:r>
            <a:endParaRPr lang="en-US" sz="950" dirty="0"/>
          </a:p>
        </p:txBody>
      </p:sp>
      <p:sp>
        <p:nvSpPr>
          <p:cNvPr id="34" name="Shape 32"/>
          <p:cNvSpPr/>
          <p:nvPr/>
        </p:nvSpPr>
        <p:spPr>
          <a:xfrm>
            <a:off x="4736592" y="2862072"/>
            <a:ext cx="4114800" cy="2011680"/>
          </a:xfrm>
          <a:prstGeom prst="rect">
            <a:avLst/>
          </a:prstGeom>
          <a:solidFill>
            <a:srgbClr val="111113"/>
          </a:solidFill>
          <a:ln w="12700">
            <a:solidFill>
              <a:srgbClr val="27272A"/>
            </a:solidFill>
            <a:prstDash val="solid"/>
          </a:ln>
        </p:spPr>
      </p:sp>
      <p:sp>
        <p:nvSpPr>
          <p:cNvPr id="35" name="Shape 33"/>
          <p:cNvSpPr/>
          <p:nvPr/>
        </p:nvSpPr>
        <p:spPr>
          <a:xfrm>
            <a:off x="4736592" y="2862072"/>
            <a:ext cx="45720" cy="2011680"/>
          </a:xfrm>
          <a:prstGeom prst="rect">
            <a:avLst/>
          </a:prstGeom>
          <a:solidFill>
            <a:srgbClr val="C084FC"/>
          </a:solidFill>
          <a:ln/>
        </p:spPr>
      </p:sp>
      <p:sp>
        <p:nvSpPr>
          <p:cNvPr id="36" name="Shape 34"/>
          <p:cNvSpPr/>
          <p:nvPr/>
        </p:nvSpPr>
        <p:spPr>
          <a:xfrm>
            <a:off x="4901184" y="2953512"/>
            <a:ext cx="2651760" cy="201168"/>
          </a:xfrm>
          <a:prstGeom prst="rect">
            <a:avLst/>
          </a:prstGeom>
          <a:solidFill>
            <a:srgbClr val="C084FC">
              <a:alpha val="12000"/>
            </a:srgbClr>
          </a:solidFill>
          <a:ln/>
        </p:spPr>
      </p:sp>
      <p:sp>
        <p:nvSpPr>
          <p:cNvPr id="37" name="Text 35"/>
          <p:cNvSpPr/>
          <p:nvPr/>
        </p:nvSpPr>
        <p:spPr>
          <a:xfrm>
            <a:off x="4974336" y="2953512"/>
            <a:ext cx="2560320" cy="201168"/>
          </a:xfrm>
          <a:prstGeom prst="rect">
            <a:avLst/>
          </a:prstGeom>
          <a:noFill/>
          <a:ln/>
        </p:spPr>
        <p:txBody>
          <a:bodyPr wrap="square" lIns="0" tIns="0" rIns="0" bIns="0" rtlCol="0" anchor="ctr"/>
          <a:lstStyle/>
          <a:p>
            <a:pPr indent="0" marL="0">
              <a:buNone/>
            </a:pPr>
            <a:r>
              <a:rPr lang="en-US" sz="850" b="1" dirty="0">
                <a:solidFill>
                  <a:srgbClr val="C084FC"/>
                </a:solidFill>
                <a:latin typeface="Courier New" pitchFamily="34" charset="0"/>
                <a:ea typeface="Courier New" pitchFamily="34" charset="-122"/>
                <a:cs typeface="Courier New" pitchFamily="34" charset="-120"/>
              </a:rPr>
              <a:t>GET /api/v1/analytics/market-summary</a:t>
            </a:r>
            <a:endParaRPr lang="en-US" sz="850" dirty="0"/>
          </a:p>
        </p:txBody>
      </p:sp>
      <p:sp>
        <p:nvSpPr>
          <p:cNvPr id="38" name="Text 36"/>
          <p:cNvSpPr/>
          <p:nvPr/>
        </p:nvSpPr>
        <p:spPr>
          <a:xfrm>
            <a:off x="4901184" y="3200400"/>
            <a:ext cx="3794760" cy="237744"/>
          </a:xfrm>
          <a:prstGeom prst="rect">
            <a:avLst/>
          </a:prstGeom>
          <a:noFill/>
          <a:ln/>
        </p:spPr>
        <p:txBody>
          <a:bodyPr wrap="square" lIns="0" tIns="0" rIns="0" bIns="0" rtlCol="0" anchor="ctr"/>
          <a:lstStyle/>
          <a:p>
            <a:pPr indent="0" marL="0">
              <a:buNone/>
            </a:pPr>
            <a:r>
              <a:rPr lang="en-US" sz="1200" b="1" dirty="0">
                <a:solidFill>
                  <a:srgbClr val="FAFAFA"/>
                </a:solidFill>
                <a:latin typeface="Calibri" pitchFamily="34" charset="0"/>
                <a:ea typeface="Calibri" pitchFamily="34" charset="-122"/>
                <a:cs typeface="Calibri" pitchFamily="34" charset="-120"/>
              </a:rPr>
              <a:t>Market Summary</a:t>
            </a:r>
            <a:endParaRPr lang="en-US" sz="1200" dirty="0"/>
          </a:p>
        </p:txBody>
      </p:sp>
      <p:sp>
        <p:nvSpPr>
          <p:cNvPr id="39" name="Text 37"/>
          <p:cNvSpPr/>
          <p:nvPr/>
        </p:nvSpPr>
        <p:spPr>
          <a:xfrm>
            <a:off x="4901184" y="3456432"/>
            <a:ext cx="3794760" cy="219456"/>
          </a:xfrm>
          <a:prstGeom prst="rect">
            <a:avLst/>
          </a:prstGeom>
          <a:noFill/>
          <a:ln/>
        </p:spPr>
        <p:txBody>
          <a:bodyPr wrap="square" lIns="0" tIns="0" rIns="0" bIns="0" rtlCol="0" anchor="ctr"/>
          <a:lstStyle/>
          <a:p>
            <a:pPr indent="0" marL="0">
              <a:buNone/>
            </a:pPr>
            <a:r>
              <a:rPr lang="en-US" sz="1000" i="1" dirty="0">
                <a:solidFill>
                  <a:srgbClr val="A1A1AA"/>
                </a:solidFill>
                <a:latin typeface="Calibri" pitchFamily="34" charset="0"/>
                <a:ea typeface="Calibri" pitchFamily="34" charset="-122"/>
                <a:cs typeface="Calibri" pitchFamily="34" charset="-120"/>
              </a:rPr>
              <a:t>"Give me a snapshot of everything tracked right now."</a:t>
            </a:r>
            <a:endParaRPr lang="en-US" sz="1000" dirty="0"/>
          </a:p>
        </p:txBody>
      </p:sp>
      <p:sp>
        <p:nvSpPr>
          <p:cNvPr id="40" name="Text 38"/>
          <p:cNvSpPr/>
          <p:nvPr/>
        </p:nvSpPr>
        <p:spPr>
          <a:xfrm>
            <a:off x="4901184" y="3703320"/>
            <a:ext cx="3794760" cy="1097280"/>
          </a:xfrm>
          <a:prstGeom prst="rect">
            <a:avLst/>
          </a:prstGeom>
          <a:noFill/>
          <a:ln/>
        </p:spPr>
        <p:txBody>
          <a:bodyPr wrap="square" lIns="0" tIns="0" rIns="0" bIns="0" rtlCol="0" anchor="ctr"/>
          <a:lstStyle/>
          <a:p>
            <a:pPr indent="0" marL="0">
              <a:buNone/>
            </a:pPr>
            <a:r>
              <a:rPr lang="en-US" sz="950" dirty="0">
                <a:solidFill>
                  <a:srgbClr val="52525B"/>
                </a:solidFill>
                <a:latin typeface="Calibri" pitchFamily="34" charset="0"/>
                <a:ea typeface="Calibri" pitchFamily="34" charset="-122"/>
                <a:cs typeface="Calibri" pitchFamily="34" charset="-120"/>
              </a:rPr>
              <a:t>Single call returning latest value, trend direction, and period-over-period change for all indicators and assets. Powers the dashboard home page and the MCP get_market_summary tool.</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B"/>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0A0B"/>
          </a:solidFill>
          <a:ln/>
        </p:spPr>
      </p:sp>
      <p:sp>
        <p:nvSpPr>
          <p:cNvPr id="3" name="Shape 1"/>
          <p:cNvSpPr/>
          <p:nvPr/>
        </p:nvSpPr>
        <p:spPr>
          <a:xfrm>
            <a:off x="0" y="0"/>
            <a:ext cx="9144000" cy="2743"/>
          </a:xfrm>
          <a:prstGeom prst="rect">
            <a:avLst/>
          </a:prstGeom>
          <a:solidFill>
            <a:srgbClr val="27272A"/>
          </a:solidFill>
          <a:ln/>
        </p:spPr>
      </p:sp>
      <p:sp>
        <p:nvSpPr>
          <p:cNvPr id="4" name="Text 2"/>
          <p:cNvSpPr/>
          <p:nvPr/>
        </p:nvSpPr>
        <p:spPr>
          <a:xfrm>
            <a:off x="411480" y="164592"/>
            <a:ext cx="8229600" cy="384048"/>
          </a:xfrm>
          <a:prstGeom prst="rect">
            <a:avLst/>
          </a:prstGeom>
          <a:noFill/>
          <a:ln/>
        </p:spPr>
        <p:txBody>
          <a:bodyPr wrap="square" rtlCol="0" anchor="ctr"/>
          <a:lstStyle/>
          <a:p>
            <a:pPr indent="0" marL="0">
              <a:buNone/>
            </a:pPr>
            <a:r>
              <a:rPr lang="en-US" sz="2000" b="1" spc="-50" kern="0" dirty="0">
                <a:solidFill>
                  <a:srgbClr val="FAFAFA"/>
                </a:solidFill>
                <a:latin typeface="Calibri" pitchFamily="34" charset="0"/>
                <a:ea typeface="Calibri" pitchFamily="34" charset="-122"/>
                <a:cs typeface="Calibri" pitchFamily="34" charset="-120"/>
              </a:rPr>
              <a:t>Testing, Advanced Features &amp; Deployment</a:t>
            </a:r>
            <a:endParaRPr lang="en-US" sz="2000" dirty="0"/>
          </a:p>
        </p:txBody>
      </p:sp>
      <p:sp>
        <p:nvSpPr>
          <p:cNvPr id="5" name="Shape 3"/>
          <p:cNvSpPr/>
          <p:nvPr/>
        </p:nvSpPr>
        <p:spPr>
          <a:xfrm>
            <a:off x="411480" y="585216"/>
            <a:ext cx="8321040" cy="10973"/>
          </a:xfrm>
          <a:prstGeom prst="rect">
            <a:avLst/>
          </a:prstGeom>
          <a:solidFill>
            <a:srgbClr val="27272A"/>
          </a:solidFill>
          <a:ln/>
        </p:spPr>
      </p:sp>
      <p:sp>
        <p:nvSpPr>
          <p:cNvPr id="6" name="Shape 4"/>
          <p:cNvSpPr/>
          <p:nvPr/>
        </p:nvSpPr>
        <p:spPr>
          <a:xfrm>
            <a:off x="411480" y="713232"/>
            <a:ext cx="4114800" cy="1188720"/>
          </a:xfrm>
          <a:prstGeom prst="rect">
            <a:avLst/>
          </a:prstGeom>
          <a:solidFill>
            <a:srgbClr val="111113"/>
          </a:solidFill>
          <a:ln w="12700">
            <a:solidFill>
              <a:srgbClr val="27272A"/>
            </a:solidFill>
            <a:prstDash val="solid"/>
          </a:ln>
        </p:spPr>
      </p:sp>
      <p:sp>
        <p:nvSpPr>
          <p:cNvPr id="7" name="Shape 5"/>
          <p:cNvSpPr/>
          <p:nvPr/>
        </p:nvSpPr>
        <p:spPr>
          <a:xfrm>
            <a:off x="411480" y="713232"/>
            <a:ext cx="45720" cy="1188720"/>
          </a:xfrm>
          <a:prstGeom prst="rect">
            <a:avLst/>
          </a:prstGeom>
          <a:solidFill>
            <a:srgbClr val="4ADE80"/>
          </a:solidFill>
          <a:ln/>
        </p:spPr>
      </p:sp>
      <p:sp>
        <p:nvSpPr>
          <p:cNvPr id="8" name="Text 6"/>
          <p:cNvSpPr/>
          <p:nvPr/>
        </p:nvSpPr>
        <p:spPr>
          <a:xfrm>
            <a:off x="594360" y="777240"/>
            <a:ext cx="1005840" cy="822960"/>
          </a:xfrm>
          <a:prstGeom prst="rect">
            <a:avLst/>
          </a:prstGeom>
          <a:noFill/>
          <a:ln/>
        </p:spPr>
        <p:txBody>
          <a:bodyPr wrap="square" lIns="0" tIns="0" rIns="0" bIns="0" rtlCol="0" anchor="ctr"/>
          <a:lstStyle/>
          <a:p>
            <a:pPr indent="0" marL="0">
              <a:buNone/>
            </a:pPr>
            <a:r>
              <a:rPr lang="en-US" sz="5200" b="1" spc="-200" kern="0" dirty="0">
                <a:solidFill>
                  <a:srgbClr val="4ADE80"/>
                </a:solidFill>
                <a:latin typeface="Calibri" pitchFamily="34" charset="0"/>
                <a:ea typeface="Calibri" pitchFamily="34" charset="-122"/>
                <a:cs typeface="Calibri" pitchFamily="34" charset="-120"/>
              </a:rPr>
              <a:t>36</a:t>
            </a:r>
            <a:endParaRPr lang="en-US" sz="5200" dirty="0"/>
          </a:p>
        </p:txBody>
      </p:sp>
      <p:sp>
        <p:nvSpPr>
          <p:cNvPr id="9" name="Text 7"/>
          <p:cNvSpPr/>
          <p:nvPr/>
        </p:nvSpPr>
        <p:spPr>
          <a:xfrm>
            <a:off x="1600200" y="896112"/>
            <a:ext cx="2743200" cy="237744"/>
          </a:xfrm>
          <a:prstGeom prst="rect">
            <a:avLst/>
          </a:prstGeom>
          <a:noFill/>
          <a:ln/>
        </p:spPr>
        <p:txBody>
          <a:bodyPr wrap="square" lIns="0" tIns="0" rIns="0" bIns="0" rtlCol="0" anchor="ctr"/>
          <a:lstStyle/>
          <a:p>
            <a:pPr indent="0" marL="0">
              <a:buNone/>
            </a:pPr>
            <a:r>
              <a:rPr lang="en-US" sz="1300" b="1" dirty="0">
                <a:solidFill>
                  <a:srgbClr val="FAFAFA"/>
                </a:solidFill>
                <a:latin typeface="Calibri" pitchFamily="34" charset="0"/>
                <a:ea typeface="Calibri" pitchFamily="34" charset="-122"/>
                <a:cs typeface="Calibri" pitchFamily="34" charset="-120"/>
              </a:rPr>
              <a:t>passing tests</a:t>
            </a:r>
            <a:endParaRPr lang="en-US" sz="1300" dirty="0"/>
          </a:p>
        </p:txBody>
      </p:sp>
      <p:sp>
        <p:nvSpPr>
          <p:cNvPr id="10" name="Text 8"/>
          <p:cNvSpPr/>
          <p:nvPr/>
        </p:nvSpPr>
        <p:spPr>
          <a:xfrm>
            <a:off x="1600200" y="1152144"/>
            <a:ext cx="2743200" cy="621792"/>
          </a:xfrm>
          <a:prstGeom prst="rect">
            <a:avLst/>
          </a:prstGeom>
          <a:noFill/>
          <a:ln/>
        </p:spPr>
        <p:txBody>
          <a:bodyPr wrap="square" lIns="0" tIns="0" rIns="0" bIns="0" rtlCol="0" anchor="ctr"/>
          <a:lstStyle/>
          <a:p>
            <a:pPr indent="0" marL="0">
              <a:buNone/>
            </a:pPr>
            <a:r>
              <a:rPr lang="en-US" sz="950" dirty="0">
                <a:solidFill>
                  <a:srgbClr val="A1A1AA"/>
                </a:solidFill>
                <a:latin typeface="Calibri" pitchFamily="34" charset="0"/>
                <a:ea typeface="Calibri" pitchFamily="34" charset="-122"/>
                <a:cs typeface="Calibri" pitchFamily="34" charset="-120"/>
              </a:rPr>
              <a:t>pytest · FastAPI TestClient · in-memory SQLite</a:t>
            </a:r>
            <a:endParaRPr lang="en-US" sz="950" dirty="0"/>
          </a:p>
          <a:p>
            <a:pPr indent="0" marL="0">
              <a:buNone/>
            </a:pPr>
            <a:r>
              <a:rPr lang="en-US" sz="950" dirty="0">
                <a:solidFill>
                  <a:srgbClr val="A1A1AA"/>
                </a:solidFill>
                <a:latin typeface="Calibri" pitchFamily="34" charset="0"/>
                <a:ea typeface="Calibri" pitchFamily="34" charset="-122"/>
                <a:cs typeface="Calibri" pitchFamily="34" charset="-120"/>
              </a:rPr>
              <a:t>All CRUD, error codes (404/409/422), analytics edge cases.</a:t>
            </a:r>
            <a:endParaRPr lang="en-US" sz="950" dirty="0"/>
          </a:p>
          <a:p>
            <a:pPr indent="0" marL="0">
              <a:buNone/>
            </a:pPr>
            <a:r>
              <a:rPr lang="en-US" sz="950" dirty="0">
                <a:solidFill>
                  <a:srgbClr val="A1A1AA"/>
                </a:solidFill>
                <a:latin typeface="Calibri" pitchFamily="34" charset="0"/>
                <a:ea typeface="Calibri" pitchFamily="34" charset="-122"/>
                <a:cs typeface="Calibri" pitchFamily="34" charset="-120"/>
              </a:rPr>
              <a:t>StaticPool fix — without it, each connection sees an empty DB.</a:t>
            </a:r>
            <a:endParaRPr lang="en-US" sz="950" dirty="0"/>
          </a:p>
        </p:txBody>
      </p:sp>
      <p:sp>
        <p:nvSpPr>
          <p:cNvPr id="11" name="Shape 9"/>
          <p:cNvSpPr/>
          <p:nvPr/>
        </p:nvSpPr>
        <p:spPr>
          <a:xfrm>
            <a:off x="411480" y="2011680"/>
            <a:ext cx="4114800" cy="1417320"/>
          </a:xfrm>
          <a:prstGeom prst="rect">
            <a:avLst/>
          </a:prstGeom>
          <a:solidFill>
            <a:srgbClr val="111113"/>
          </a:solidFill>
          <a:ln w="12700">
            <a:solidFill>
              <a:srgbClr val="27272A"/>
            </a:solidFill>
            <a:prstDash val="solid"/>
          </a:ln>
        </p:spPr>
      </p:sp>
      <p:sp>
        <p:nvSpPr>
          <p:cNvPr id="12" name="Shape 10"/>
          <p:cNvSpPr/>
          <p:nvPr/>
        </p:nvSpPr>
        <p:spPr>
          <a:xfrm>
            <a:off x="411480" y="2011680"/>
            <a:ext cx="45720" cy="1417320"/>
          </a:xfrm>
          <a:prstGeom prst="rect">
            <a:avLst/>
          </a:prstGeom>
          <a:solidFill>
            <a:srgbClr val="C084FC"/>
          </a:solidFill>
          <a:ln/>
        </p:spPr>
      </p:sp>
      <p:sp>
        <p:nvSpPr>
          <p:cNvPr id="13" name="Text 11"/>
          <p:cNvSpPr/>
          <p:nvPr/>
        </p:nvSpPr>
        <p:spPr>
          <a:xfrm>
            <a:off x="594360" y="2103120"/>
            <a:ext cx="3749040" cy="256032"/>
          </a:xfrm>
          <a:prstGeom prst="rect">
            <a:avLst/>
          </a:prstGeom>
          <a:noFill/>
          <a:ln/>
        </p:spPr>
        <p:txBody>
          <a:bodyPr wrap="square" lIns="0" tIns="0" rIns="0" bIns="0" rtlCol="0" anchor="ctr"/>
          <a:lstStyle/>
          <a:p>
            <a:pPr indent="0" marL="0">
              <a:buNone/>
            </a:pPr>
            <a:r>
              <a:rPr lang="en-US" sz="1200" b="1" dirty="0">
                <a:solidFill>
                  <a:srgbClr val="FAFAFA"/>
                </a:solidFill>
                <a:latin typeface="Calibri" pitchFamily="34" charset="0"/>
                <a:ea typeface="Calibri" pitchFamily="34" charset="-122"/>
                <a:cs typeface="Calibri" pitchFamily="34" charset="-120"/>
              </a:rPr>
              <a:t>MCP Server — AI Integration</a:t>
            </a:r>
            <a:endParaRPr lang="en-US" sz="1200" dirty="0"/>
          </a:p>
        </p:txBody>
      </p:sp>
      <p:sp>
        <p:nvSpPr>
          <p:cNvPr id="14" name="Text 12"/>
          <p:cNvSpPr/>
          <p:nvPr/>
        </p:nvSpPr>
        <p:spPr>
          <a:xfrm>
            <a:off x="594360" y="2395728"/>
            <a:ext cx="3749040" cy="594360"/>
          </a:xfrm>
          <a:prstGeom prst="rect">
            <a:avLst/>
          </a:prstGeom>
          <a:noFill/>
          <a:ln/>
        </p:spPr>
        <p:txBody>
          <a:bodyPr wrap="square" lIns="0" tIns="0" rIns="0" bIns="0" rtlCol="0" anchor="ctr"/>
          <a:lstStyle/>
          <a:p>
            <a:pPr indent="0" marL="0">
              <a:buNone/>
            </a:pPr>
            <a:r>
              <a:rPr lang="en-US" sz="1000" dirty="0">
                <a:solidFill>
                  <a:srgbClr val="A1A1AA"/>
                </a:solidFill>
                <a:latin typeface="Calibri" pitchFamily="34" charset="0"/>
                <a:ea typeface="Calibri" pitchFamily="34" charset="-122"/>
                <a:cs typeface="Calibri" pitchFamily="34" charset="-120"/>
              </a:rPr>
              <a:t>app/mcp_server.py exposes 7 tools over stdio so Claude Desktop can query the API in natural language — "Which sectors are most exposed to rising rates?" calls the same SQLAlchemy service functions as the HTTP API. No logic duplication.</a:t>
            </a:r>
            <a:endParaRPr lang="en-US" sz="1000" dirty="0"/>
          </a:p>
        </p:txBody>
      </p:sp>
      <p:sp>
        <p:nvSpPr>
          <p:cNvPr id="15" name="Text 13"/>
          <p:cNvSpPr/>
          <p:nvPr/>
        </p:nvSpPr>
        <p:spPr>
          <a:xfrm>
            <a:off x="594360" y="3054096"/>
            <a:ext cx="1920240" cy="173736"/>
          </a:xfrm>
          <a:prstGeom prst="rect">
            <a:avLst/>
          </a:prstGeom>
          <a:noFill/>
          <a:ln/>
        </p:spPr>
        <p:txBody>
          <a:bodyPr wrap="square" lIns="0" tIns="0" rIns="0" bIns="0" rtlCol="0" anchor="ctr"/>
          <a:lstStyle/>
          <a:p>
            <a:pPr indent="0" marL="0">
              <a:buNone/>
            </a:pPr>
            <a:r>
              <a:rPr lang="en-US" sz="850" dirty="0">
                <a:solidFill>
                  <a:srgbClr val="C084FC"/>
                </a:solidFill>
                <a:latin typeface="Courier New" pitchFamily="34" charset="0"/>
                <a:ea typeface="Courier New" pitchFamily="34" charset="-122"/>
                <a:cs typeface="Courier New" pitchFamily="34" charset="-120"/>
              </a:rPr>
              <a:t>· get_recession_risk</a:t>
            </a:r>
            <a:endParaRPr lang="en-US" sz="850" dirty="0"/>
          </a:p>
        </p:txBody>
      </p:sp>
      <p:sp>
        <p:nvSpPr>
          <p:cNvPr id="16" name="Text 14"/>
          <p:cNvSpPr/>
          <p:nvPr/>
        </p:nvSpPr>
        <p:spPr>
          <a:xfrm>
            <a:off x="594360" y="3236976"/>
            <a:ext cx="1920240" cy="173736"/>
          </a:xfrm>
          <a:prstGeom prst="rect">
            <a:avLst/>
          </a:prstGeom>
          <a:noFill/>
          <a:ln/>
        </p:spPr>
        <p:txBody>
          <a:bodyPr wrap="square" lIns="0" tIns="0" rIns="0" bIns="0" rtlCol="0" anchor="ctr"/>
          <a:lstStyle/>
          <a:p>
            <a:pPr indent="0" marL="0">
              <a:buNone/>
            </a:pPr>
            <a:r>
              <a:rPr lang="en-US" sz="850" dirty="0">
                <a:solidFill>
                  <a:srgbClr val="C084FC"/>
                </a:solidFill>
                <a:latin typeface="Courier New" pitchFamily="34" charset="0"/>
                <a:ea typeface="Courier New" pitchFamily="34" charset="-122"/>
                <a:cs typeface="Courier New" pitchFamily="34" charset="-120"/>
              </a:rPr>
              <a:t>· get_correlation</a:t>
            </a:r>
            <a:endParaRPr lang="en-US" sz="850" dirty="0"/>
          </a:p>
        </p:txBody>
      </p:sp>
      <p:sp>
        <p:nvSpPr>
          <p:cNvPr id="17" name="Text 15"/>
          <p:cNvSpPr/>
          <p:nvPr/>
        </p:nvSpPr>
        <p:spPr>
          <a:xfrm>
            <a:off x="594360" y="3419856"/>
            <a:ext cx="1920240" cy="173736"/>
          </a:xfrm>
          <a:prstGeom prst="rect">
            <a:avLst/>
          </a:prstGeom>
          <a:noFill/>
          <a:ln/>
        </p:spPr>
        <p:txBody>
          <a:bodyPr wrap="square" lIns="0" tIns="0" rIns="0" bIns="0" rtlCol="0" anchor="ctr"/>
          <a:lstStyle/>
          <a:p>
            <a:pPr indent="0" marL="0">
              <a:buNone/>
            </a:pPr>
            <a:r>
              <a:rPr lang="en-US" sz="850" dirty="0">
                <a:solidFill>
                  <a:srgbClr val="C084FC"/>
                </a:solidFill>
                <a:latin typeface="Courier New" pitchFamily="34" charset="0"/>
                <a:ea typeface="Courier New" pitchFamily="34" charset="-122"/>
                <a:cs typeface="Courier New" pitchFamily="34" charset="-120"/>
              </a:rPr>
              <a:t>· get_sector_impact</a:t>
            </a:r>
            <a:endParaRPr lang="en-US" sz="850" dirty="0"/>
          </a:p>
        </p:txBody>
      </p:sp>
      <p:sp>
        <p:nvSpPr>
          <p:cNvPr id="18" name="Text 16"/>
          <p:cNvSpPr/>
          <p:nvPr/>
        </p:nvSpPr>
        <p:spPr>
          <a:xfrm>
            <a:off x="594360" y="3602736"/>
            <a:ext cx="1920240" cy="173736"/>
          </a:xfrm>
          <a:prstGeom prst="rect">
            <a:avLst/>
          </a:prstGeom>
          <a:noFill/>
          <a:ln/>
        </p:spPr>
        <p:txBody>
          <a:bodyPr wrap="square" lIns="0" tIns="0" rIns="0" bIns="0" rtlCol="0" anchor="ctr"/>
          <a:lstStyle/>
          <a:p>
            <a:pPr indent="0" marL="0">
              <a:buNone/>
            </a:pPr>
            <a:r>
              <a:rPr lang="en-US" sz="850" dirty="0">
                <a:solidFill>
                  <a:srgbClr val="C084FC"/>
                </a:solidFill>
                <a:latin typeface="Courier New" pitchFamily="34" charset="0"/>
                <a:ea typeface="Courier New" pitchFamily="34" charset="-122"/>
                <a:cs typeface="Courier New" pitchFamily="34" charset="-120"/>
              </a:rPr>
              <a:t>· get_macro_trend</a:t>
            </a:r>
            <a:endParaRPr lang="en-US" sz="850" dirty="0"/>
          </a:p>
        </p:txBody>
      </p:sp>
      <p:sp>
        <p:nvSpPr>
          <p:cNvPr id="19" name="Text 17"/>
          <p:cNvSpPr/>
          <p:nvPr/>
        </p:nvSpPr>
        <p:spPr>
          <a:xfrm>
            <a:off x="2606040" y="3054096"/>
            <a:ext cx="1920240" cy="173736"/>
          </a:xfrm>
          <a:prstGeom prst="rect">
            <a:avLst/>
          </a:prstGeom>
          <a:noFill/>
          <a:ln/>
        </p:spPr>
        <p:txBody>
          <a:bodyPr wrap="square" lIns="0" tIns="0" rIns="0" bIns="0" rtlCol="0" anchor="ctr"/>
          <a:lstStyle/>
          <a:p>
            <a:pPr indent="0" marL="0">
              <a:buNone/>
            </a:pPr>
            <a:r>
              <a:rPr lang="en-US" sz="850" dirty="0">
                <a:solidFill>
                  <a:srgbClr val="C084FC"/>
                </a:solidFill>
                <a:latin typeface="Courier New" pitchFamily="34" charset="0"/>
                <a:ea typeface="Courier New" pitchFamily="34" charset="-122"/>
                <a:cs typeface="Courier New" pitchFamily="34" charset="-120"/>
              </a:rPr>
              <a:t>· get_market_summary</a:t>
            </a:r>
            <a:endParaRPr lang="en-US" sz="850" dirty="0"/>
          </a:p>
        </p:txBody>
      </p:sp>
      <p:sp>
        <p:nvSpPr>
          <p:cNvPr id="20" name="Text 18"/>
          <p:cNvSpPr/>
          <p:nvPr/>
        </p:nvSpPr>
        <p:spPr>
          <a:xfrm>
            <a:off x="2606040" y="3236976"/>
            <a:ext cx="1920240" cy="173736"/>
          </a:xfrm>
          <a:prstGeom prst="rect">
            <a:avLst/>
          </a:prstGeom>
          <a:noFill/>
          <a:ln/>
        </p:spPr>
        <p:txBody>
          <a:bodyPr wrap="square" lIns="0" tIns="0" rIns="0" bIns="0" rtlCol="0" anchor="ctr"/>
          <a:lstStyle/>
          <a:p>
            <a:pPr indent="0" marL="0">
              <a:buNone/>
            </a:pPr>
            <a:r>
              <a:rPr lang="en-US" sz="850" dirty="0">
                <a:solidFill>
                  <a:srgbClr val="C084FC"/>
                </a:solidFill>
                <a:latin typeface="Courier New" pitchFamily="34" charset="0"/>
                <a:ea typeface="Courier New" pitchFamily="34" charset="-122"/>
                <a:cs typeface="Courier New" pitchFamily="34" charset="-120"/>
              </a:rPr>
              <a:t>· list_indicators</a:t>
            </a:r>
            <a:endParaRPr lang="en-US" sz="850" dirty="0"/>
          </a:p>
        </p:txBody>
      </p:sp>
      <p:sp>
        <p:nvSpPr>
          <p:cNvPr id="21" name="Text 19"/>
          <p:cNvSpPr/>
          <p:nvPr/>
        </p:nvSpPr>
        <p:spPr>
          <a:xfrm>
            <a:off x="2606040" y="3419856"/>
            <a:ext cx="1920240" cy="173736"/>
          </a:xfrm>
          <a:prstGeom prst="rect">
            <a:avLst/>
          </a:prstGeom>
          <a:noFill/>
          <a:ln/>
        </p:spPr>
        <p:txBody>
          <a:bodyPr wrap="square" lIns="0" tIns="0" rIns="0" bIns="0" rtlCol="0" anchor="ctr"/>
          <a:lstStyle/>
          <a:p>
            <a:pPr indent="0" marL="0">
              <a:buNone/>
            </a:pPr>
            <a:r>
              <a:rPr lang="en-US" sz="850" dirty="0">
                <a:solidFill>
                  <a:srgbClr val="C084FC"/>
                </a:solidFill>
                <a:latin typeface="Courier New" pitchFamily="34" charset="0"/>
                <a:ea typeface="Courier New" pitchFamily="34" charset="-122"/>
                <a:cs typeface="Courier New" pitchFamily="34" charset="-120"/>
              </a:rPr>
              <a:t>· list_assets</a:t>
            </a:r>
            <a:endParaRPr lang="en-US" sz="850" dirty="0"/>
          </a:p>
        </p:txBody>
      </p:sp>
      <p:sp>
        <p:nvSpPr>
          <p:cNvPr id="22" name="Shape 20"/>
          <p:cNvSpPr/>
          <p:nvPr/>
        </p:nvSpPr>
        <p:spPr>
          <a:xfrm>
            <a:off x="411480" y="3538728"/>
            <a:ext cx="4114800" cy="1389888"/>
          </a:xfrm>
          <a:prstGeom prst="rect">
            <a:avLst/>
          </a:prstGeom>
          <a:solidFill>
            <a:srgbClr val="111113"/>
          </a:solidFill>
          <a:ln w="12700">
            <a:solidFill>
              <a:srgbClr val="27272A"/>
            </a:solidFill>
            <a:prstDash val="solid"/>
          </a:ln>
        </p:spPr>
      </p:sp>
      <p:sp>
        <p:nvSpPr>
          <p:cNvPr id="23" name="Shape 21"/>
          <p:cNvSpPr/>
          <p:nvPr/>
        </p:nvSpPr>
        <p:spPr>
          <a:xfrm>
            <a:off x="411480" y="3538728"/>
            <a:ext cx="45720" cy="1389888"/>
          </a:xfrm>
          <a:prstGeom prst="rect">
            <a:avLst/>
          </a:prstGeom>
          <a:solidFill>
            <a:srgbClr val="FB923C"/>
          </a:solidFill>
          <a:ln/>
        </p:spPr>
      </p:sp>
      <p:sp>
        <p:nvSpPr>
          <p:cNvPr id="24" name="Text 22"/>
          <p:cNvSpPr/>
          <p:nvPr/>
        </p:nvSpPr>
        <p:spPr>
          <a:xfrm>
            <a:off x="594360" y="3630168"/>
            <a:ext cx="3749040" cy="237744"/>
          </a:xfrm>
          <a:prstGeom prst="rect">
            <a:avLst/>
          </a:prstGeom>
          <a:noFill/>
          <a:ln/>
        </p:spPr>
        <p:txBody>
          <a:bodyPr wrap="square" lIns="0" tIns="0" rIns="0" bIns="0" rtlCol="0" anchor="ctr"/>
          <a:lstStyle/>
          <a:p>
            <a:pPr indent="0" marL="0">
              <a:buNone/>
            </a:pPr>
            <a:r>
              <a:rPr lang="en-US" sz="1200" b="1" dirty="0">
                <a:solidFill>
                  <a:srgbClr val="FAFAFA"/>
                </a:solidFill>
                <a:latin typeface="Calibri" pitchFamily="34" charset="0"/>
                <a:ea typeface="Calibri" pitchFamily="34" charset="-122"/>
                <a:cs typeface="Calibri" pitchFamily="34" charset="-120"/>
              </a:rPr>
              <a:t>IP Rate Limiting  —  slowapi</a:t>
            </a:r>
            <a:endParaRPr lang="en-US" sz="1200" dirty="0"/>
          </a:p>
        </p:txBody>
      </p:sp>
      <p:sp>
        <p:nvSpPr>
          <p:cNvPr id="25" name="Text 23"/>
          <p:cNvSpPr/>
          <p:nvPr/>
        </p:nvSpPr>
        <p:spPr>
          <a:xfrm>
            <a:off x="594360" y="3913632"/>
            <a:ext cx="3749040" cy="594360"/>
          </a:xfrm>
          <a:prstGeom prst="rect">
            <a:avLst/>
          </a:prstGeom>
          <a:noFill/>
          <a:ln/>
        </p:spPr>
        <p:txBody>
          <a:bodyPr wrap="square" lIns="0" tIns="0" rIns="0" bIns="0" rtlCol="0" anchor="ctr"/>
          <a:lstStyle/>
          <a:p>
            <a:pPr indent="0" marL="0">
              <a:buNone/>
            </a:pPr>
            <a:r>
              <a:rPr lang="en-US" sz="1000" dirty="0">
                <a:solidFill>
                  <a:srgbClr val="A1A1AA"/>
                </a:solidFill>
                <a:latin typeface="Calibri" pitchFamily="34" charset="0"/>
                <a:ea typeface="Calibri" pitchFamily="34" charset="-122"/>
                <a:cs typeface="Calibri" pitchFamily="34" charset="-120"/>
              </a:rPr>
              <a:t>60 req/min global · 10 req/min on ingest endpoints</a:t>
            </a:r>
            <a:endParaRPr lang="en-US" sz="1000" dirty="0"/>
          </a:p>
          <a:p>
            <a:pPr indent="0" marL="0">
              <a:buNone/>
            </a:pPr>
            <a:r>
              <a:rPr lang="en-US" sz="1000" dirty="0">
                <a:solidFill>
                  <a:srgbClr val="A1A1AA"/>
                </a:solidFill>
                <a:latin typeface="Calibri" pitchFamily="34" charset="0"/>
                <a:ea typeface="Calibri" pitchFamily="34" charset="-122"/>
                <a:cs typeface="Calibri" pitchFamily="34" charset="-120"/>
              </a:rPr>
              <a:t>HTTP 429 with JSON body on breach. Ingest endpoints are tighter because each call hits FRED or Yahoo Finance externally.</a:t>
            </a:r>
            <a:endParaRPr lang="en-US" sz="1000" dirty="0"/>
          </a:p>
        </p:txBody>
      </p:sp>
      <p:sp>
        <p:nvSpPr>
          <p:cNvPr id="26" name="Text 24"/>
          <p:cNvSpPr/>
          <p:nvPr/>
        </p:nvSpPr>
        <p:spPr>
          <a:xfrm>
            <a:off x="594360" y="4553712"/>
            <a:ext cx="3749040" cy="237744"/>
          </a:xfrm>
          <a:prstGeom prst="rect">
            <a:avLst/>
          </a:prstGeom>
          <a:noFill/>
          <a:ln/>
        </p:spPr>
        <p:txBody>
          <a:bodyPr wrap="square" lIns="0" tIns="0" rIns="0" bIns="0" rtlCol="0" anchor="ctr"/>
          <a:lstStyle/>
          <a:p>
            <a:pPr indent="0" marL="0">
              <a:buNone/>
            </a:pPr>
            <a:r>
              <a:rPr lang="en-US" sz="950" i="1" dirty="0">
                <a:solidFill>
                  <a:srgbClr val="52525B"/>
                </a:solidFill>
                <a:latin typeface="Calibri" pitchFamily="34" charset="0"/>
                <a:ea typeface="Calibri" pitchFamily="34" charset="-122"/>
                <a:cs typeface="Calibri" pitchFamily="34" charset="-120"/>
              </a:rPr>
              <a:t>Protects against abuse and external API exhaustion</a:t>
            </a:r>
            <a:endParaRPr lang="en-US" sz="950" dirty="0"/>
          </a:p>
        </p:txBody>
      </p:sp>
      <p:sp>
        <p:nvSpPr>
          <p:cNvPr id="27" name="Shape 25"/>
          <p:cNvSpPr/>
          <p:nvPr/>
        </p:nvSpPr>
        <p:spPr>
          <a:xfrm>
            <a:off x="4736592" y="713232"/>
            <a:ext cx="4114800" cy="2359152"/>
          </a:xfrm>
          <a:prstGeom prst="rect">
            <a:avLst/>
          </a:prstGeom>
          <a:solidFill>
            <a:srgbClr val="111113"/>
          </a:solidFill>
          <a:ln w="12700">
            <a:solidFill>
              <a:srgbClr val="27272A"/>
            </a:solidFill>
            <a:prstDash val="solid"/>
          </a:ln>
        </p:spPr>
      </p:sp>
      <p:sp>
        <p:nvSpPr>
          <p:cNvPr id="28" name="Shape 26"/>
          <p:cNvSpPr/>
          <p:nvPr/>
        </p:nvSpPr>
        <p:spPr>
          <a:xfrm>
            <a:off x="4736592" y="713232"/>
            <a:ext cx="45720" cy="2359152"/>
          </a:xfrm>
          <a:prstGeom prst="rect">
            <a:avLst/>
          </a:prstGeom>
          <a:solidFill>
            <a:srgbClr val="60A5FA"/>
          </a:solidFill>
          <a:ln/>
        </p:spPr>
      </p:sp>
      <p:sp>
        <p:nvSpPr>
          <p:cNvPr id="29" name="Text 27"/>
          <p:cNvSpPr/>
          <p:nvPr/>
        </p:nvSpPr>
        <p:spPr>
          <a:xfrm>
            <a:off x="4919472" y="804672"/>
            <a:ext cx="3749040" cy="256032"/>
          </a:xfrm>
          <a:prstGeom prst="rect">
            <a:avLst/>
          </a:prstGeom>
          <a:noFill/>
          <a:ln/>
        </p:spPr>
        <p:txBody>
          <a:bodyPr wrap="square" lIns="0" tIns="0" rIns="0" bIns="0" rtlCol="0" anchor="ctr"/>
          <a:lstStyle/>
          <a:p>
            <a:pPr indent="0" marL="0">
              <a:buNone/>
            </a:pPr>
            <a:r>
              <a:rPr lang="en-US" sz="1200" b="1" dirty="0">
                <a:solidFill>
                  <a:srgbClr val="FAFAFA"/>
                </a:solidFill>
                <a:latin typeface="Calibri" pitchFamily="34" charset="0"/>
                <a:ea typeface="Calibri" pitchFamily="34" charset="-122"/>
                <a:cs typeface="Calibri" pitchFamily="34" charset="-120"/>
              </a:rPr>
              <a:t>Frontend Dashboard</a:t>
            </a:r>
            <a:endParaRPr lang="en-US" sz="1200" dirty="0"/>
          </a:p>
        </p:txBody>
      </p:sp>
      <p:sp>
        <p:nvSpPr>
          <p:cNvPr id="30" name="Text 28"/>
          <p:cNvSpPr/>
          <p:nvPr/>
        </p:nvSpPr>
        <p:spPr>
          <a:xfrm>
            <a:off x="4919472" y="1097280"/>
            <a:ext cx="3749040" cy="457200"/>
          </a:xfrm>
          <a:prstGeom prst="rect">
            <a:avLst/>
          </a:prstGeom>
          <a:noFill/>
          <a:ln/>
        </p:spPr>
        <p:txBody>
          <a:bodyPr wrap="square" lIns="0" tIns="0" rIns="0" bIns="0" rtlCol="0" anchor="ctr"/>
          <a:lstStyle/>
          <a:p>
            <a:pPr indent="0" marL="0">
              <a:buNone/>
            </a:pPr>
            <a:r>
              <a:rPr lang="en-US" sz="1000" dirty="0">
                <a:solidFill>
                  <a:srgbClr val="A1A1AA"/>
                </a:solidFill>
                <a:latin typeface="Calibri" pitchFamily="34" charset="0"/>
                <a:ea typeface="Calibri" pitchFamily="34" charset="-122"/>
                <a:cs typeface="Calibri" pitchFamily="34" charset="-120"/>
              </a:rPr>
              <a:t>Single-page app served directly from FastAPI static files — no separate frontend server. Accessible at the root URL of the deployed application.</a:t>
            </a:r>
            <a:endParaRPr lang="en-US" sz="1000" dirty="0"/>
          </a:p>
        </p:txBody>
      </p:sp>
      <p:sp>
        <p:nvSpPr>
          <p:cNvPr id="31" name="Text 29"/>
          <p:cNvSpPr/>
          <p:nvPr/>
        </p:nvSpPr>
        <p:spPr>
          <a:xfrm>
            <a:off x="4919472" y="1609344"/>
            <a:ext cx="3749040" cy="237744"/>
          </a:xfrm>
          <a:prstGeom prst="rect">
            <a:avLst/>
          </a:prstGeom>
          <a:noFill/>
          <a:ln/>
        </p:spPr>
        <p:txBody>
          <a:bodyPr wrap="square" lIns="0" tIns="0" rIns="0" bIns="0" rtlCol="0" anchor="ctr"/>
          <a:lstStyle/>
          <a:p>
            <a:pPr indent="0" marL="0">
              <a:buNone/>
            </a:pPr>
            <a:r>
              <a:rPr lang="en-US" sz="950" dirty="0">
                <a:solidFill>
                  <a:srgbClr val="A1A1AA"/>
                </a:solidFill>
                <a:latin typeface="Calibri" pitchFamily="34" charset="0"/>
                <a:ea typeface="Calibri" pitchFamily="34" charset="-122"/>
                <a:cs typeface="Calibri" pitchFamily="34" charset="-120"/>
              </a:rPr>
              <a:t>·  Live market summary — all indicators + assets with trend arrows</a:t>
            </a:r>
            <a:endParaRPr lang="en-US" sz="950" dirty="0"/>
          </a:p>
        </p:txBody>
      </p:sp>
      <p:sp>
        <p:nvSpPr>
          <p:cNvPr id="32" name="Text 30"/>
          <p:cNvSpPr/>
          <p:nvPr/>
        </p:nvSpPr>
        <p:spPr>
          <a:xfrm>
            <a:off x="4919472" y="1883664"/>
            <a:ext cx="3749040" cy="237744"/>
          </a:xfrm>
          <a:prstGeom prst="rect">
            <a:avLst/>
          </a:prstGeom>
          <a:noFill/>
          <a:ln/>
        </p:spPr>
        <p:txBody>
          <a:bodyPr wrap="square" lIns="0" tIns="0" rIns="0" bIns="0" rtlCol="0" anchor="ctr"/>
          <a:lstStyle/>
          <a:p>
            <a:pPr indent="0" marL="0">
              <a:buNone/>
            </a:pPr>
            <a:r>
              <a:rPr lang="en-US" sz="950" dirty="0">
                <a:solidFill>
                  <a:srgbClr val="A1A1AA"/>
                </a:solidFill>
                <a:latin typeface="Calibri" pitchFamily="34" charset="0"/>
                <a:ea typeface="Calibri" pitchFamily="34" charset="-122"/>
                <a:cs typeface="Calibri" pitchFamily="34" charset="-120"/>
              </a:rPr>
              <a:t>·  Recession risk gauge — animated needle, signal breakdown cards</a:t>
            </a:r>
            <a:endParaRPr lang="en-US" sz="950" dirty="0"/>
          </a:p>
        </p:txBody>
      </p:sp>
      <p:sp>
        <p:nvSpPr>
          <p:cNvPr id="33" name="Text 31"/>
          <p:cNvSpPr/>
          <p:nvPr/>
        </p:nvSpPr>
        <p:spPr>
          <a:xfrm>
            <a:off x="4919472" y="2157984"/>
            <a:ext cx="3749040" cy="237744"/>
          </a:xfrm>
          <a:prstGeom prst="rect">
            <a:avLst/>
          </a:prstGeom>
          <a:noFill/>
          <a:ln/>
        </p:spPr>
        <p:txBody>
          <a:bodyPr wrap="square" lIns="0" tIns="0" rIns="0" bIns="0" rtlCol="0" anchor="ctr"/>
          <a:lstStyle/>
          <a:p>
            <a:pPr indent="0" marL="0">
              <a:buNone/>
            </a:pPr>
            <a:r>
              <a:rPr lang="en-US" sz="950" dirty="0">
                <a:solidFill>
                  <a:srgbClr val="A1A1AA"/>
                </a:solidFill>
                <a:latin typeface="Calibri" pitchFamily="34" charset="0"/>
                <a:ea typeface="Calibri" pitchFamily="34" charset="-122"/>
                <a:cs typeface="Calibri" pitchFamily="34" charset="-120"/>
              </a:rPr>
              <a:t>·  Correlation explorer — dual-axis time-series + scatter plot (Chart.js)</a:t>
            </a:r>
            <a:endParaRPr lang="en-US" sz="950" dirty="0"/>
          </a:p>
        </p:txBody>
      </p:sp>
      <p:sp>
        <p:nvSpPr>
          <p:cNvPr id="34" name="Text 32"/>
          <p:cNvSpPr/>
          <p:nvPr/>
        </p:nvSpPr>
        <p:spPr>
          <a:xfrm>
            <a:off x="4919472" y="2432304"/>
            <a:ext cx="3749040" cy="237744"/>
          </a:xfrm>
          <a:prstGeom prst="rect">
            <a:avLst/>
          </a:prstGeom>
          <a:noFill/>
          <a:ln/>
        </p:spPr>
        <p:txBody>
          <a:bodyPr wrap="square" lIns="0" tIns="0" rIns="0" bIns="0" rtlCol="0" anchor="ctr"/>
          <a:lstStyle/>
          <a:p>
            <a:pPr indent="0" marL="0">
              <a:buNone/>
            </a:pPr>
            <a:r>
              <a:rPr lang="en-US" sz="950" dirty="0">
                <a:solidFill>
                  <a:srgbClr val="A1A1AA"/>
                </a:solidFill>
                <a:latin typeface="Calibri" pitchFamily="34" charset="0"/>
                <a:ea typeface="Calibri" pitchFamily="34" charset="-122"/>
                <a:cs typeface="Calibri" pitchFamily="34" charset="-120"/>
              </a:rPr>
              <a:t>·  Sector impact — assets ranked by correlation with inline bar chart</a:t>
            </a:r>
            <a:endParaRPr lang="en-US" sz="950" dirty="0"/>
          </a:p>
        </p:txBody>
      </p:sp>
      <p:sp>
        <p:nvSpPr>
          <p:cNvPr id="35" name="Text 33"/>
          <p:cNvSpPr/>
          <p:nvPr/>
        </p:nvSpPr>
        <p:spPr>
          <a:xfrm>
            <a:off x="4919472" y="2706624"/>
            <a:ext cx="3749040" cy="237744"/>
          </a:xfrm>
          <a:prstGeom prst="rect">
            <a:avLst/>
          </a:prstGeom>
          <a:noFill/>
          <a:ln/>
        </p:spPr>
        <p:txBody>
          <a:bodyPr wrap="square" lIns="0" tIns="0" rIns="0" bIns="0" rtlCol="0" anchor="ctr"/>
          <a:lstStyle/>
          <a:p>
            <a:pPr indent="0" marL="0">
              <a:buNone/>
            </a:pPr>
            <a:r>
              <a:rPr lang="en-US" sz="950" dirty="0">
                <a:solidFill>
                  <a:srgbClr val="A1A1AA"/>
                </a:solidFill>
                <a:latin typeface="Calibri" pitchFamily="34" charset="0"/>
                <a:ea typeface="Calibri" pitchFamily="34" charset="-122"/>
                <a:cs typeface="Calibri" pitchFamily="34" charset="-120"/>
              </a:rPr>
              <a:t>·  Full CRUD management — modal forms, toast notifications, inline ingest</a:t>
            </a:r>
            <a:endParaRPr lang="en-US" sz="950" dirty="0"/>
          </a:p>
        </p:txBody>
      </p:sp>
      <p:sp>
        <p:nvSpPr>
          <p:cNvPr id="36" name="Shape 34"/>
          <p:cNvSpPr/>
          <p:nvPr/>
        </p:nvSpPr>
        <p:spPr>
          <a:xfrm>
            <a:off x="4736592" y="3182112"/>
            <a:ext cx="4114800" cy="1746504"/>
          </a:xfrm>
          <a:prstGeom prst="rect">
            <a:avLst/>
          </a:prstGeom>
          <a:solidFill>
            <a:srgbClr val="111113"/>
          </a:solidFill>
          <a:ln w="12700">
            <a:solidFill>
              <a:srgbClr val="27272A"/>
            </a:solidFill>
            <a:prstDash val="solid"/>
          </a:ln>
        </p:spPr>
      </p:sp>
      <p:sp>
        <p:nvSpPr>
          <p:cNvPr id="37" name="Shape 35"/>
          <p:cNvSpPr/>
          <p:nvPr/>
        </p:nvSpPr>
        <p:spPr>
          <a:xfrm>
            <a:off x="4736592" y="3182112"/>
            <a:ext cx="45720" cy="1746504"/>
          </a:xfrm>
          <a:prstGeom prst="rect">
            <a:avLst/>
          </a:prstGeom>
          <a:solidFill>
            <a:srgbClr val="4ADE80"/>
          </a:solidFill>
          <a:ln/>
        </p:spPr>
      </p:sp>
      <p:sp>
        <p:nvSpPr>
          <p:cNvPr id="38" name="Text 36"/>
          <p:cNvSpPr/>
          <p:nvPr/>
        </p:nvSpPr>
        <p:spPr>
          <a:xfrm>
            <a:off x="4919472" y="3273552"/>
            <a:ext cx="3749040" cy="256032"/>
          </a:xfrm>
          <a:prstGeom prst="rect">
            <a:avLst/>
          </a:prstGeom>
          <a:noFill/>
          <a:ln/>
        </p:spPr>
        <p:txBody>
          <a:bodyPr wrap="square" lIns="0" tIns="0" rIns="0" bIns="0" rtlCol="0" anchor="ctr"/>
          <a:lstStyle/>
          <a:p>
            <a:pPr indent="0" marL="0">
              <a:buNone/>
            </a:pPr>
            <a:r>
              <a:rPr lang="en-US" sz="1200" b="1" dirty="0">
                <a:solidFill>
                  <a:srgbClr val="FAFAFA"/>
                </a:solidFill>
                <a:latin typeface="Calibri" pitchFamily="34" charset="0"/>
                <a:ea typeface="Calibri" pitchFamily="34" charset="-122"/>
                <a:cs typeface="Calibri" pitchFamily="34" charset="-120"/>
              </a:rPr>
              <a:t>Deployment — Railway</a:t>
            </a:r>
            <a:endParaRPr lang="en-US" sz="1200" dirty="0"/>
          </a:p>
        </p:txBody>
      </p:sp>
      <p:sp>
        <p:nvSpPr>
          <p:cNvPr id="39" name="Text 37"/>
          <p:cNvSpPr/>
          <p:nvPr/>
        </p:nvSpPr>
        <p:spPr>
          <a:xfrm>
            <a:off x="4919472" y="3566160"/>
            <a:ext cx="3749040" cy="219456"/>
          </a:xfrm>
          <a:prstGeom prst="rect">
            <a:avLst/>
          </a:prstGeom>
          <a:noFill/>
          <a:ln/>
        </p:spPr>
        <p:txBody>
          <a:bodyPr wrap="square" lIns="0" tIns="0" rIns="0" bIns="0" rtlCol="0" anchor="ctr"/>
          <a:lstStyle/>
          <a:p>
            <a:pPr indent="0" marL="0">
              <a:buNone/>
            </a:pPr>
            <a:r>
              <a:rPr lang="en-US" sz="1000" dirty="0">
                <a:solidFill>
                  <a:srgbClr val="4ADE80"/>
                </a:solidFill>
                <a:latin typeface="Courier New" pitchFamily="34" charset="0"/>
                <a:ea typeface="Courier New" pitchFamily="34" charset="-122"/>
                <a:cs typeface="Courier New" pitchFamily="34" charset="-120"/>
              </a:rPr>
              <a:t>macropulse-production.up.railway.app</a:t>
            </a:r>
            <a:endParaRPr lang="en-US" sz="1000" dirty="0"/>
          </a:p>
        </p:txBody>
      </p:sp>
      <p:sp>
        <p:nvSpPr>
          <p:cNvPr id="40" name="Text 38"/>
          <p:cNvSpPr/>
          <p:nvPr/>
        </p:nvSpPr>
        <p:spPr>
          <a:xfrm>
            <a:off x="4919472" y="3858768"/>
            <a:ext cx="3749040" cy="219456"/>
          </a:xfrm>
          <a:prstGeom prst="rect">
            <a:avLst/>
          </a:prstGeom>
          <a:noFill/>
          <a:ln/>
        </p:spPr>
        <p:txBody>
          <a:bodyPr wrap="square" lIns="0" tIns="0" rIns="0" bIns="0" rtlCol="0" anchor="ctr"/>
          <a:lstStyle/>
          <a:p>
            <a:pPr indent="0" marL="0">
              <a:buNone/>
            </a:pPr>
            <a:r>
              <a:rPr lang="en-US" sz="950" dirty="0">
                <a:solidFill>
                  <a:srgbClr val="A1A1AA"/>
                </a:solidFill>
                <a:latin typeface="Calibri" pitchFamily="34" charset="0"/>
                <a:ea typeface="Calibri" pitchFamily="34" charset="-122"/>
                <a:cs typeface="Calibri" pitchFamily="34" charset="-120"/>
              </a:rPr>
              <a:t>·  Procfile + runtime.txt (Python 3.11)</a:t>
            </a:r>
            <a:endParaRPr lang="en-US" sz="950" dirty="0"/>
          </a:p>
        </p:txBody>
      </p:sp>
      <p:sp>
        <p:nvSpPr>
          <p:cNvPr id="41" name="Text 39"/>
          <p:cNvSpPr/>
          <p:nvPr/>
        </p:nvSpPr>
        <p:spPr>
          <a:xfrm>
            <a:off x="4919472" y="4105656"/>
            <a:ext cx="3749040" cy="219456"/>
          </a:xfrm>
          <a:prstGeom prst="rect">
            <a:avLst/>
          </a:prstGeom>
          <a:noFill/>
          <a:ln/>
        </p:spPr>
        <p:txBody>
          <a:bodyPr wrap="square" lIns="0" tIns="0" rIns="0" bIns="0" rtlCol="0" anchor="ctr"/>
          <a:lstStyle/>
          <a:p>
            <a:pPr indent="0" marL="0">
              <a:buNone/>
            </a:pPr>
            <a:r>
              <a:rPr lang="en-US" sz="950" dirty="0">
                <a:solidFill>
                  <a:srgbClr val="A1A1AA"/>
                </a:solidFill>
                <a:latin typeface="Calibri" pitchFamily="34" charset="0"/>
                <a:ea typeface="Calibri" pitchFamily="34" charset="-122"/>
                <a:cs typeface="Calibri" pitchFamily="34" charset="-120"/>
              </a:rPr>
              <a:t>·  Auto-deploys on every git push to main</a:t>
            </a:r>
            <a:endParaRPr lang="en-US" sz="950" dirty="0"/>
          </a:p>
        </p:txBody>
      </p:sp>
      <p:sp>
        <p:nvSpPr>
          <p:cNvPr id="42" name="Text 40"/>
          <p:cNvSpPr/>
          <p:nvPr/>
        </p:nvSpPr>
        <p:spPr>
          <a:xfrm>
            <a:off x="4919472" y="4352544"/>
            <a:ext cx="3749040" cy="219456"/>
          </a:xfrm>
          <a:prstGeom prst="rect">
            <a:avLst/>
          </a:prstGeom>
          <a:noFill/>
          <a:ln/>
        </p:spPr>
        <p:txBody>
          <a:bodyPr wrap="square" lIns="0" tIns="0" rIns="0" bIns="0" rtlCol="0" anchor="ctr"/>
          <a:lstStyle/>
          <a:p>
            <a:pPr indent="0" marL="0">
              <a:buNone/>
            </a:pPr>
            <a:r>
              <a:rPr lang="en-US" sz="950" dirty="0">
                <a:solidFill>
                  <a:srgbClr val="A1A1AA"/>
                </a:solidFill>
                <a:latin typeface="Calibri" pitchFamily="34" charset="0"/>
                <a:ea typeface="Calibri" pitchFamily="34" charset="-122"/>
                <a:cs typeface="Calibri" pitchFamily="34" charset="-120"/>
              </a:rPr>
              <a:t>·  FRED_API_KEY + DATABASE_URL via Railway vars</a:t>
            </a:r>
            <a:endParaRPr lang="en-US" sz="950" dirty="0"/>
          </a:p>
        </p:txBody>
      </p:sp>
      <p:sp>
        <p:nvSpPr>
          <p:cNvPr id="43" name="Text 41"/>
          <p:cNvSpPr/>
          <p:nvPr/>
        </p:nvSpPr>
        <p:spPr>
          <a:xfrm>
            <a:off x="4919472" y="4599432"/>
            <a:ext cx="3749040" cy="219456"/>
          </a:xfrm>
          <a:prstGeom prst="rect">
            <a:avLst/>
          </a:prstGeom>
          <a:noFill/>
          <a:ln/>
        </p:spPr>
        <p:txBody>
          <a:bodyPr wrap="square" lIns="0" tIns="0" rIns="0" bIns="0" rtlCol="0" anchor="ctr"/>
          <a:lstStyle/>
          <a:p>
            <a:pPr indent="0" marL="0">
              <a:buNone/>
            </a:pPr>
            <a:r>
              <a:rPr lang="en-US" sz="950" dirty="0">
                <a:solidFill>
                  <a:srgbClr val="A1A1AA"/>
                </a:solidFill>
                <a:latin typeface="Calibri" pitchFamily="34" charset="0"/>
                <a:ea typeface="Calibri" pitchFamily="34" charset="-122"/>
                <a:cs typeface="Calibri" pitchFamily="34" charset="-120"/>
              </a:rPr>
              <a:t>·  Always-on — no sleep on inactivity</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B"/>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0A0B"/>
          </a:solidFill>
          <a:ln/>
        </p:spPr>
      </p:sp>
      <p:sp>
        <p:nvSpPr>
          <p:cNvPr id="3" name="Shape 1"/>
          <p:cNvSpPr/>
          <p:nvPr/>
        </p:nvSpPr>
        <p:spPr>
          <a:xfrm>
            <a:off x="0" y="0"/>
            <a:ext cx="9144000" cy="2743"/>
          </a:xfrm>
          <a:prstGeom prst="rect">
            <a:avLst/>
          </a:prstGeom>
          <a:solidFill>
            <a:srgbClr val="27272A"/>
          </a:solidFill>
          <a:ln/>
        </p:spPr>
      </p:sp>
      <p:sp>
        <p:nvSpPr>
          <p:cNvPr id="4" name="Text 2"/>
          <p:cNvSpPr/>
          <p:nvPr/>
        </p:nvSpPr>
        <p:spPr>
          <a:xfrm>
            <a:off x="411480" y="164592"/>
            <a:ext cx="8229600" cy="384048"/>
          </a:xfrm>
          <a:prstGeom prst="rect">
            <a:avLst/>
          </a:prstGeom>
          <a:noFill/>
          <a:ln/>
        </p:spPr>
        <p:txBody>
          <a:bodyPr wrap="square" rtlCol="0" anchor="ctr"/>
          <a:lstStyle/>
          <a:p>
            <a:pPr indent="0" marL="0">
              <a:buNone/>
            </a:pPr>
            <a:r>
              <a:rPr lang="en-US" sz="2000" b="1" spc="-50" kern="0" dirty="0">
                <a:solidFill>
                  <a:srgbClr val="FAFAFA"/>
                </a:solidFill>
                <a:latin typeface="Calibri" pitchFamily="34" charset="0"/>
                <a:ea typeface="Calibri" pitchFamily="34" charset="-122"/>
                <a:cs typeface="Calibri" pitchFamily="34" charset="-120"/>
              </a:rPr>
              <a:t>Generative AI — Declaration &amp; Analysis</a:t>
            </a:r>
            <a:endParaRPr lang="en-US" sz="2000" dirty="0"/>
          </a:p>
        </p:txBody>
      </p:sp>
      <p:sp>
        <p:nvSpPr>
          <p:cNvPr id="5" name="Shape 3"/>
          <p:cNvSpPr/>
          <p:nvPr/>
        </p:nvSpPr>
        <p:spPr>
          <a:xfrm>
            <a:off x="411480" y="585216"/>
            <a:ext cx="8321040" cy="10973"/>
          </a:xfrm>
          <a:prstGeom prst="rect">
            <a:avLst/>
          </a:prstGeom>
          <a:solidFill>
            <a:srgbClr val="27272A"/>
          </a:solidFill>
          <a:ln/>
        </p:spPr>
      </p:sp>
      <p:sp>
        <p:nvSpPr>
          <p:cNvPr id="6" name="Shape 4"/>
          <p:cNvSpPr/>
          <p:nvPr/>
        </p:nvSpPr>
        <p:spPr>
          <a:xfrm>
            <a:off x="411480" y="713232"/>
            <a:ext cx="4114800" cy="1325880"/>
          </a:xfrm>
          <a:prstGeom prst="rect">
            <a:avLst/>
          </a:prstGeom>
          <a:solidFill>
            <a:srgbClr val="111113"/>
          </a:solidFill>
          <a:ln w="12700">
            <a:solidFill>
              <a:srgbClr val="27272A"/>
            </a:solidFill>
            <a:prstDash val="solid"/>
          </a:ln>
        </p:spPr>
      </p:sp>
      <p:sp>
        <p:nvSpPr>
          <p:cNvPr id="7" name="Shape 5"/>
          <p:cNvSpPr/>
          <p:nvPr/>
        </p:nvSpPr>
        <p:spPr>
          <a:xfrm>
            <a:off x="411480" y="713232"/>
            <a:ext cx="45720" cy="1325880"/>
          </a:xfrm>
          <a:prstGeom prst="rect">
            <a:avLst/>
          </a:prstGeom>
          <a:solidFill>
            <a:srgbClr val="D4A853"/>
          </a:solidFill>
          <a:ln/>
        </p:spPr>
      </p:sp>
      <p:sp>
        <p:nvSpPr>
          <p:cNvPr id="8" name="Text 6"/>
          <p:cNvSpPr/>
          <p:nvPr/>
        </p:nvSpPr>
        <p:spPr>
          <a:xfrm>
            <a:off x="594360" y="804672"/>
            <a:ext cx="3749040" cy="237744"/>
          </a:xfrm>
          <a:prstGeom prst="rect">
            <a:avLst/>
          </a:prstGeom>
          <a:noFill/>
          <a:ln/>
        </p:spPr>
        <p:txBody>
          <a:bodyPr wrap="square" lIns="0" tIns="0" rIns="0" bIns="0" rtlCol="0" anchor="ctr"/>
          <a:lstStyle/>
          <a:p>
            <a:pPr indent="0" marL="0">
              <a:buNone/>
            </a:pPr>
            <a:r>
              <a:rPr lang="en-US" sz="1100" b="1" dirty="0">
                <a:solidFill>
                  <a:srgbClr val="D4A853"/>
                </a:solidFill>
                <a:latin typeface="Calibri" pitchFamily="34" charset="0"/>
                <a:ea typeface="Calibri" pitchFamily="34" charset="-122"/>
                <a:cs typeface="Calibri" pitchFamily="34" charset="-120"/>
              </a:rPr>
              <a:t>Tools Used</a:t>
            </a:r>
            <a:endParaRPr lang="en-US" sz="1100" dirty="0"/>
          </a:p>
        </p:txBody>
      </p:sp>
      <p:sp>
        <p:nvSpPr>
          <p:cNvPr id="9" name="Text 7"/>
          <p:cNvSpPr/>
          <p:nvPr/>
        </p:nvSpPr>
        <p:spPr>
          <a:xfrm>
            <a:off x="594360" y="1078992"/>
            <a:ext cx="3749040" cy="219456"/>
          </a:xfrm>
          <a:prstGeom prst="rect">
            <a:avLst/>
          </a:prstGeom>
          <a:noFill/>
          <a:ln/>
        </p:spPr>
        <p:txBody>
          <a:bodyPr wrap="square" lIns="0" tIns="0" rIns="0" bIns="0" rtlCol="0" anchor="ctr"/>
          <a:lstStyle/>
          <a:p>
            <a:pPr indent="0" marL="0">
              <a:buNone/>
            </a:pPr>
            <a:r>
              <a:rPr lang="en-US" sz="1100" b="1" dirty="0">
                <a:solidFill>
                  <a:srgbClr val="FAFAFA"/>
                </a:solidFill>
                <a:latin typeface="Calibri" pitchFamily="34" charset="0"/>
                <a:ea typeface="Calibri" pitchFamily="34" charset="-122"/>
                <a:cs typeface="Calibri" pitchFamily="34" charset="-120"/>
              </a:rPr>
              <a:t>Claude (claude.ai / Claude Desktop)</a:t>
            </a:r>
            <a:endParaRPr lang="en-US" sz="1100" dirty="0"/>
          </a:p>
        </p:txBody>
      </p:sp>
      <p:sp>
        <p:nvSpPr>
          <p:cNvPr id="10" name="Text 8"/>
          <p:cNvSpPr/>
          <p:nvPr/>
        </p:nvSpPr>
        <p:spPr>
          <a:xfrm>
            <a:off x="594360" y="1316736"/>
            <a:ext cx="3749040" cy="347472"/>
          </a:xfrm>
          <a:prstGeom prst="rect">
            <a:avLst/>
          </a:prstGeom>
          <a:noFill/>
          <a:ln/>
        </p:spPr>
        <p:txBody>
          <a:bodyPr wrap="square" lIns="0" tIns="0" rIns="0" bIns="0" rtlCol="0" anchor="ctr"/>
          <a:lstStyle/>
          <a:p>
            <a:pPr indent="0" marL="0">
              <a:buNone/>
            </a:pPr>
            <a:r>
              <a:rPr lang="en-US" sz="950" dirty="0">
                <a:solidFill>
                  <a:srgbClr val="A1A1AA"/>
                </a:solidFill>
                <a:latin typeface="Calibri" pitchFamily="34" charset="0"/>
                <a:ea typeface="Calibri" pitchFamily="34" charset="-122"/>
                <a:cs typeface="Calibri" pitchFamily="34" charset="-120"/>
              </a:rPr>
              <a:t>Primary development partner — architectural planning, exploration of design alternatives, debugging, and writing the technical report.</a:t>
            </a:r>
            <a:endParaRPr lang="en-US" sz="950" dirty="0"/>
          </a:p>
        </p:txBody>
      </p:sp>
      <p:sp>
        <p:nvSpPr>
          <p:cNvPr id="11" name="Text 9"/>
          <p:cNvSpPr/>
          <p:nvPr/>
        </p:nvSpPr>
        <p:spPr>
          <a:xfrm>
            <a:off x="594360" y="1691640"/>
            <a:ext cx="3749040" cy="219456"/>
          </a:xfrm>
          <a:prstGeom prst="rect">
            <a:avLst/>
          </a:prstGeom>
          <a:noFill/>
          <a:ln/>
        </p:spPr>
        <p:txBody>
          <a:bodyPr wrap="square" lIns="0" tIns="0" rIns="0" bIns="0" rtlCol="0" anchor="ctr"/>
          <a:lstStyle/>
          <a:p>
            <a:pPr indent="0" marL="0">
              <a:buNone/>
            </a:pPr>
            <a:r>
              <a:rPr lang="en-US" sz="1100" b="1" dirty="0">
                <a:solidFill>
                  <a:srgbClr val="FAFAFA"/>
                </a:solidFill>
                <a:latin typeface="Calibri" pitchFamily="34" charset="0"/>
                <a:ea typeface="Calibri" pitchFamily="34" charset="-122"/>
                <a:cs typeface="Calibri" pitchFamily="34" charset="-120"/>
              </a:rPr>
              <a:t>Claude Code</a:t>
            </a:r>
            <a:endParaRPr lang="en-US" sz="1100" dirty="0"/>
          </a:p>
        </p:txBody>
      </p:sp>
      <p:sp>
        <p:nvSpPr>
          <p:cNvPr id="12" name="Text 10"/>
          <p:cNvSpPr/>
          <p:nvPr/>
        </p:nvSpPr>
        <p:spPr>
          <a:xfrm>
            <a:off x="594360" y="1901952"/>
            <a:ext cx="3749040" cy="91440"/>
          </a:xfrm>
          <a:prstGeom prst="rect">
            <a:avLst/>
          </a:prstGeom>
          <a:noFill/>
          <a:ln/>
        </p:spPr>
        <p:txBody>
          <a:bodyPr wrap="square" lIns="0" tIns="0" rIns="0" bIns="0" rtlCol="0" anchor="ctr"/>
          <a:lstStyle/>
          <a:p>
            <a:pPr indent="0" marL="0">
              <a:buNone/>
            </a:pPr>
            <a:r>
              <a:rPr lang="en-US" sz="950" dirty="0">
                <a:solidFill>
                  <a:srgbClr val="A1A1AA"/>
                </a:solidFill>
                <a:latin typeface="Calibri" pitchFamily="34" charset="0"/>
                <a:ea typeface="Calibri" pitchFamily="34" charset="-122"/>
                <a:cs typeface="Calibri" pitchFamily="34" charset="-120"/>
              </a:rPr>
              <a:t>Targeted debugging — StaticPool fix, MCP working directory, Yahoo Finance batch ingestion, slowapi implementation.</a:t>
            </a:r>
            <a:endParaRPr lang="en-US" sz="950" dirty="0"/>
          </a:p>
        </p:txBody>
      </p:sp>
      <p:sp>
        <p:nvSpPr>
          <p:cNvPr id="13" name="Shape 11"/>
          <p:cNvSpPr/>
          <p:nvPr/>
        </p:nvSpPr>
        <p:spPr>
          <a:xfrm>
            <a:off x="4736592" y="713232"/>
            <a:ext cx="4114800" cy="1325880"/>
          </a:xfrm>
          <a:prstGeom prst="rect">
            <a:avLst/>
          </a:prstGeom>
          <a:solidFill>
            <a:srgbClr val="111113"/>
          </a:solidFill>
          <a:ln w="12700">
            <a:solidFill>
              <a:srgbClr val="27272A"/>
            </a:solidFill>
            <a:prstDash val="solid"/>
          </a:ln>
        </p:spPr>
      </p:sp>
      <p:sp>
        <p:nvSpPr>
          <p:cNvPr id="14" name="Shape 12"/>
          <p:cNvSpPr/>
          <p:nvPr/>
        </p:nvSpPr>
        <p:spPr>
          <a:xfrm>
            <a:off x="4736592" y="713232"/>
            <a:ext cx="45720" cy="1325880"/>
          </a:xfrm>
          <a:prstGeom prst="rect">
            <a:avLst/>
          </a:prstGeom>
          <a:solidFill>
            <a:srgbClr val="60A5FA"/>
          </a:solidFill>
          <a:ln/>
        </p:spPr>
      </p:sp>
      <p:sp>
        <p:nvSpPr>
          <p:cNvPr id="15" name="Text 13"/>
          <p:cNvSpPr/>
          <p:nvPr/>
        </p:nvSpPr>
        <p:spPr>
          <a:xfrm>
            <a:off x="4919472" y="804672"/>
            <a:ext cx="3749040" cy="237744"/>
          </a:xfrm>
          <a:prstGeom prst="rect">
            <a:avLst/>
          </a:prstGeom>
          <a:noFill/>
          <a:ln/>
        </p:spPr>
        <p:txBody>
          <a:bodyPr wrap="square" lIns="0" tIns="0" rIns="0" bIns="0" rtlCol="0" anchor="ctr"/>
          <a:lstStyle/>
          <a:p>
            <a:pPr indent="0" marL="0">
              <a:buNone/>
            </a:pPr>
            <a:r>
              <a:rPr lang="en-US" sz="1100" b="1" dirty="0">
                <a:solidFill>
                  <a:srgbClr val="60A5FA"/>
                </a:solidFill>
                <a:latin typeface="Calibri" pitchFamily="34" charset="0"/>
                <a:ea typeface="Calibri" pitchFamily="34" charset="-122"/>
                <a:cs typeface="Calibri" pitchFamily="34" charset="-120"/>
              </a:rPr>
              <a:t>Conversation-First Approach</a:t>
            </a:r>
            <a:endParaRPr lang="en-US" sz="1100" dirty="0"/>
          </a:p>
        </p:txBody>
      </p:sp>
      <p:sp>
        <p:nvSpPr>
          <p:cNvPr id="16" name="Text 14"/>
          <p:cNvSpPr/>
          <p:nvPr/>
        </p:nvSpPr>
        <p:spPr>
          <a:xfrm>
            <a:off x="4919472" y="1078992"/>
            <a:ext cx="3749040" cy="822960"/>
          </a:xfrm>
          <a:prstGeom prst="rect">
            <a:avLst/>
          </a:prstGeom>
          <a:noFill/>
          <a:ln/>
        </p:spPr>
        <p:txBody>
          <a:bodyPr wrap="square" lIns="0" tIns="0" rIns="0" bIns="0" rtlCol="0" anchor="ctr"/>
          <a:lstStyle/>
          <a:p>
            <a:pPr indent="0" marL="0">
              <a:buNone/>
            </a:pPr>
            <a:r>
              <a:rPr lang="en-US" sz="1000" dirty="0">
                <a:solidFill>
                  <a:srgbClr val="A1A1AA"/>
                </a:solidFill>
                <a:latin typeface="Calibri" pitchFamily="34" charset="0"/>
                <a:ea typeface="Calibri" pitchFamily="34" charset="-122"/>
                <a:cs typeface="Calibri" pitchFamily="34" charset="-120"/>
              </a:rPr>
              <a:t>Before any code was written, I used Claude to reason through design decisions — REST vs GraphQL, schema normalisation, recession risk signal weights. Every decision was evaluated and defended, not simply accepted. All outputs were reviewed and frequently corrected.</a:t>
            </a:r>
            <a:endParaRPr lang="en-US" sz="1000" dirty="0"/>
          </a:p>
        </p:txBody>
      </p:sp>
      <p:sp>
        <p:nvSpPr>
          <p:cNvPr id="17" name="Shape 15"/>
          <p:cNvSpPr/>
          <p:nvPr/>
        </p:nvSpPr>
        <p:spPr>
          <a:xfrm>
            <a:off x="411480" y="2176272"/>
            <a:ext cx="8321040" cy="2724912"/>
          </a:xfrm>
          <a:prstGeom prst="rect">
            <a:avLst/>
          </a:prstGeom>
          <a:solidFill>
            <a:srgbClr val="111113"/>
          </a:solidFill>
          <a:ln w="12700">
            <a:solidFill>
              <a:srgbClr val="27272A"/>
            </a:solidFill>
            <a:prstDash val="solid"/>
          </a:ln>
        </p:spPr>
      </p:sp>
      <p:sp>
        <p:nvSpPr>
          <p:cNvPr id="18" name="Text 16"/>
          <p:cNvSpPr/>
          <p:nvPr/>
        </p:nvSpPr>
        <p:spPr>
          <a:xfrm>
            <a:off x="594360" y="2267712"/>
            <a:ext cx="3931920" cy="237744"/>
          </a:xfrm>
          <a:prstGeom prst="rect">
            <a:avLst/>
          </a:prstGeom>
          <a:noFill/>
          <a:ln/>
        </p:spPr>
        <p:txBody>
          <a:bodyPr wrap="square" lIns="0" tIns="0" rIns="0" bIns="0" rtlCol="0" anchor="ctr"/>
          <a:lstStyle/>
          <a:p>
            <a:pPr indent="0" marL="0">
              <a:buNone/>
            </a:pPr>
            <a:r>
              <a:rPr lang="en-US" sz="1100" b="1" dirty="0">
                <a:solidFill>
                  <a:srgbClr val="FAFAFA"/>
                </a:solidFill>
                <a:latin typeface="Calibri" pitchFamily="34" charset="0"/>
                <a:ea typeface="Calibri" pitchFamily="34" charset="-122"/>
                <a:cs typeface="Calibri" pitchFamily="34" charset="-120"/>
              </a:rPr>
              <a:t>What I contributed</a:t>
            </a:r>
            <a:endParaRPr lang="en-US" sz="1100" dirty="0"/>
          </a:p>
        </p:txBody>
      </p:sp>
      <p:sp>
        <p:nvSpPr>
          <p:cNvPr id="19" name="Text 17"/>
          <p:cNvSpPr/>
          <p:nvPr/>
        </p:nvSpPr>
        <p:spPr>
          <a:xfrm>
            <a:off x="4736592" y="2267712"/>
            <a:ext cx="3749040" cy="237744"/>
          </a:xfrm>
          <a:prstGeom prst="rect">
            <a:avLst/>
          </a:prstGeom>
          <a:noFill/>
          <a:ln/>
        </p:spPr>
        <p:txBody>
          <a:bodyPr wrap="square" lIns="0" tIns="0" rIns="0" bIns="0" rtlCol="0" anchor="ctr"/>
          <a:lstStyle/>
          <a:p>
            <a:pPr indent="0" marL="0">
              <a:buNone/>
            </a:pPr>
            <a:r>
              <a:rPr lang="en-US" sz="1100" b="1" dirty="0">
                <a:solidFill>
                  <a:srgbClr val="FAFAFA"/>
                </a:solidFill>
                <a:latin typeface="Calibri" pitchFamily="34" charset="0"/>
                <a:ea typeface="Calibri" pitchFamily="34" charset="-122"/>
                <a:cs typeface="Calibri" pitchFamily="34" charset="-120"/>
              </a:rPr>
              <a:t>What AI enabled</a:t>
            </a:r>
            <a:endParaRPr lang="en-US" sz="1100" dirty="0"/>
          </a:p>
        </p:txBody>
      </p:sp>
      <p:sp>
        <p:nvSpPr>
          <p:cNvPr id="20" name="Shape 18"/>
          <p:cNvSpPr/>
          <p:nvPr/>
        </p:nvSpPr>
        <p:spPr>
          <a:xfrm>
            <a:off x="594360" y="2523744"/>
            <a:ext cx="7955280" cy="10973"/>
          </a:xfrm>
          <a:prstGeom prst="rect">
            <a:avLst/>
          </a:prstGeom>
          <a:solidFill>
            <a:srgbClr val="27272A"/>
          </a:solidFill>
          <a:ln/>
        </p:spPr>
      </p:sp>
      <p:sp>
        <p:nvSpPr>
          <p:cNvPr id="21" name="Shape 19"/>
          <p:cNvSpPr/>
          <p:nvPr/>
        </p:nvSpPr>
        <p:spPr>
          <a:xfrm>
            <a:off x="4526280" y="2240280"/>
            <a:ext cx="10973" cy="2578608"/>
          </a:xfrm>
          <a:prstGeom prst="rect">
            <a:avLst/>
          </a:prstGeom>
          <a:solidFill>
            <a:srgbClr val="27272A"/>
          </a:solidFill>
          <a:ln/>
        </p:spPr>
      </p:sp>
      <p:sp>
        <p:nvSpPr>
          <p:cNvPr id="22" name="Text 20"/>
          <p:cNvSpPr/>
          <p:nvPr/>
        </p:nvSpPr>
        <p:spPr>
          <a:xfrm>
            <a:off x="594360" y="2596896"/>
            <a:ext cx="3749040" cy="329184"/>
          </a:xfrm>
          <a:prstGeom prst="rect">
            <a:avLst/>
          </a:prstGeom>
          <a:noFill/>
          <a:ln/>
        </p:spPr>
        <p:txBody>
          <a:bodyPr wrap="square" lIns="0" tIns="0" rIns="0" bIns="0" rtlCol="0" anchor="ctr"/>
          <a:lstStyle/>
          <a:p>
            <a:pPr indent="0" marL="0">
              <a:buNone/>
            </a:pPr>
            <a:r>
              <a:rPr lang="en-US" sz="950" dirty="0">
                <a:solidFill>
                  <a:srgbClr val="A1A1AA"/>
                </a:solidFill>
                <a:latin typeface="Calibri" pitchFamily="34" charset="0"/>
                <a:ea typeface="Calibri" pitchFamily="34" charset="-122"/>
                <a:cs typeface="Calibri" pitchFamily="34" charset="-120"/>
              </a:rPr>
              <a:t>✓  Project idea and financial domain framing</a:t>
            </a:r>
            <a:endParaRPr lang="en-US" sz="950" dirty="0"/>
          </a:p>
        </p:txBody>
      </p:sp>
      <p:sp>
        <p:nvSpPr>
          <p:cNvPr id="23" name="Text 21"/>
          <p:cNvSpPr/>
          <p:nvPr/>
        </p:nvSpPr>
        <p:spPr>
          <a:xfrm>
            <a:off x="4663440" y="2596896"/>
            <a:ext cx="3840480" cy="329184"/>
          </a:xfrm>
          <a:prstGeom prst="rect">
            <a:avLst/>
          </a:prstGeom>
          <a:noFill/>
          <a:ln/>
        </p:spPr>
        <p:txBody>
          <a:bodyPr wrap="square" lIns="0" tIns="0" rIns="0" bIns="0" rtlCol="0" anchor="ctr"/>
          <a:lstStyle/>
          <a:p>
            <a:pPr indent="0" marL="0">
              <a:buNone/>
            </a:pPr>
            <a:r>
              <a:rPr lang="en-US" sz="950" dirty="0">
                <a:solidFill>
                  <a:srgbClr val="52525B"/>
                </a:solidFill>
                <a:latin typeface="Calibri" pitchFamily="34" charset="0"/>
                <a:ea typeface="Calibri" pitchFamily="34" charset="-122"/>
                <a:cs typeface="Calibri" pitchFamily="34" charset="-120"/>
              </a:rPr>
              <a:t>→  Accelerating scope — depth not possible solo in the time</a:t>
            </a:r>
            <a:endParaRPr lang="en-US" sz="950" dirty="0"/>
          </a:p>
        </p:txBody>
      </p:sp>
      <p:sp>
        <p:nvSpPr>
          <p:cNvPr id="24" name="Text 22"/>
          <p:cNvSpPr/>
          <p:nvPr/>
        </p:nvSpPr>
        <p:spPr>
          <a:xfrm>
            <a:off x="594360" y="2971800"/>
            <a:ext cx="3749040" cy="329184"/>
          </a:xfrm>
          <a:prstGeom prst="rect">
            <a:avLst/>
          </a:prstGeom>
          <a:noFill/>
          <a:ln/>
        </p:spPr>
        <p:txBody>
          <a:bodyPr wrap="square" lIns="0" tIns="0" rIns="0" bIns="0" rtlCol="0" anchor="ctr"/>
          <a:lstStyle/>
          <a:p>
            <a:pPr indent="0" marL="0">
              <a:buNone/>
            </a:pPr>
            <a:r>
              <a:rPr lang="en-US" sz="950" dirty="0">
                <a:solidFill>
                  <a:srgbClr val="A1A1AA"/>
                </a:solidFill>
                <a:latin typeface="Calibri" pitchFamily="34" charset="0"/>
                <a:ea typeface="Calibri" pitchFamily="34" charset="-122"/>
                <a:cs typeface="Calibri" pitchFamily="34" charset="-120"/>
              </a:rPr>
              <a:t>✓  Connection to dissertation research</a:t>
            </a:r>
            <a:endParaRPr lang="en-US" sz="950" dirty="0"/>
          </a:p>
        </p:txBody>
      </p:sp>
      <p:sp>
        <p:nvSpPr>
          <p:cNvPr id="25" name="Text 23"/>
          <p:cNvSpPr/>
          <p:nvPr/>
        </p:nvSpPr>
        <p:spPr>
          <a:xfrm>
            <a:off x="4663440" y="2971800"/>
            <a:ext cx="3840480" cy="329184"/>
          </a:xfrm>
          <a:prstGeom prst="rect">
            <a:avLst/>
          </a:prstGeom>
          <a:noFill/>
          <a:ln/>
        </p:spPr>
        <p:txBody>
          <a:bodyPr wrap="square" lIns="0" tIns="0" rIns="0" bIns="0" rtlCol="0" anchor="ctr"/>
          <a:lstStyle/>
          <a:p>
            <a:pPr indent="0" marL="0">
              <a:buNone/>
            </a:pPr>
            <a:r>
              <a:rPr lang="en-US" sz="950" dirty="0">
                <a:solidFill>
                  <a:srgbClr val="52525B"/>
                </a:solidFill>
                <a:latin typeface="Calibri" pitchFamily="34" charset="0"/>
                <a:ea typeface="Calibri" pitchFamily="34" charset="-122"/>
                <a:cs typeface="Calibri" pitchFamily="34" charset="-120"/>
              </a:rPr>
              <a:t>→  Exploring trade-offs and alternatives before implementation</a:t>
            </a:r>
            <a:endParaRPr lang="en-US" sz="950" dirty="0"/>
          </a:p>
        </p:txBody>
      </p:sp>
      <p:sp>
        <p:nvSpPr>
          <p:cNvPr id="26" name="Text 24"/>
          <p:cNvSpPr/>
          <p:nvPr/>
        </p:nvSpPr>
        <p:spPr>
          <a:xfrm>
            <a:off x="594360" y="3346704"/>
            <a:ext cx="3749040" cy="329184"/>
          </a:xfrm>
          <a:prstGeom prst="rect">
            <a:avLst/>
          </a:prstGeom>
          <a:noFill/>
          <a:ln/>
        </p:spPr>
        <p:txBody>
          <a:bodyPr wrap="square" lIns="0" tIns="0" rIns="0" bIns="0" rtlCol="0" anchor="ctr"/>
          <a:lstStyle/>
          <a:p>
            <a:pPr indent="0" marL="0">
              <a:buNone/>
            </a:pPr>
            <a:r>
              <a:rPr lang="en-US" sz="950" dirty="0">
                <a:solidFill>
                  <a:srgbClr val="A1A1AA"/>
                </a:solidFill>
                <a:latin typeface="Calibri" pitchFamily="34" charset="0"/>
                <a:ea typeface="Calibri" pitchFamily="34" charset="-122"/>
                <a:cs typeface="Calibri" pitchFamily="34" charset="-120"/>
              </a:rPr>
              <a:t>✓  Design decisions — evaluated, not just accepted</a:t>
            </a:r>
            <a:endParaRPr lang="en-US" sz="950" dirty="0"/>
          </a:p>
        </p:txBody>
      </p:sp>
      <p:sp>
        <p:nvSpPr>
          <p:cNvPr id="27" name="Text 25"/>
          <p:cNvSpPr/>
          <p:nvPr/>
        </p:nvSpPr>
        <p:spPr>
          <a:xfrm>
            <a:off x="4663440" y="3346704"/>
            <a:ext cx="3840480" cy="329184"/>
          </a:xfrm>
          <a:prstGeom prst="rect">
            <a:avLst/>
          </a:prstGeom>
          <a:noFill/>
          <a:ln/>
        </p:spPr>
        <p:txBody>
          <a:bodyPr wrap="square" lIns="0" tIns="0" rIns="0" bIns="0" rtlCol="0" anchor="ctr"/>
          <a:lstStyle/>
          <a:p>
            <a:pPr indent="0" marL="0">
              <a:buNone/>
            </a:pPr>
            <a:r>
              <a:rPr lang="en-US" sz="950" dirty="0">
                <a:solidFill>
                  <a:srgbClr val="52525B"/>
                </a:solidFill>
                <a:latin typeface="Calibri" pitchFamily="34" charset="0"/>
                <a:ea typeface="Calibri" pitchFamily="34" charset="-122"/>
                <a:cs typeface="Calibri" pitchFamily="34" charset="-120"/>
              </a:rPr>
              <a:t>→  Debugging non-obvious issues (StaticPool, MCP working dir)</a:t>
            </a:r>
            <a:endParaRPr lang="en-US" sz="950" dirty="0"/>
          </a:p>
        </p:txBody>
      </p:sp>
      <p:sp>
        <p:nvSpPr>
          <p:cNvPr id="28" name="Text 26"/>
          <p:cNvSpPr/>
          <p:nvPr/>
        </p:nvSpPr>
        <p:spPr>
          <a:xfrm>
            <a:off x="594360" y="3721608"/>
            <a:ext cx="3749040" cy="329184"/>
          </a:xfrm>
          <a:prstGeom prst="rect">
            <a:avLst/>
          </a:prstGeom>
          <a:noFill/>
          <a:ln/>
        </p:spPr>
        <p:txBody>
          <a:bodyPr wrap="square" lIns="0" tIns="0" rIns="0" bIns="0" rtlCol="0" anchor="ctr"/>
          <a:lstStyle/>
          <a:p>
            <a:pPr indent="0" marL="0">
              <a:buNone/>
            </a:pPr>
            <a:r>
              <a:rPr lang="en-US" sz="950" dirty="0">
                <a:solidFill>
                  <a:srgbClr val="A1A1AA"/>
                </a:solidFill>
                <a:latin typeface="Calibri" pitchFamily="34" charset="0"/>
                <a:ea typeface="Calibri" pitchFamily="34" charset="-122"/>
                <a:cs typeface="Calibri" pitchFamily="34" charset="-120"/>
              </a:rPr>
              <a:t>✓  Choosing MCP — identified from the brief myself</a:t>
            </a:r>
            <a:endParaRPr lang="en-US" sz="950" dirty="0"/>
          </a:p>
        </p:txBody>
      </p:sp>
      <p:sp>
        <p:nvSpPr>
          <p:cNvPr id="29" name="Text 27"/>
          <p:cNvSpPr/>
          <p:nvPr/>
        </p:nvSpPr>
        <p:spPr>
          <a:xfrm>
            <a:off x="4663440" y="3721608"/>
            <a:ext cx="3840480" cy="329184"/>
          </a:xfrm>
          <a:prstGeom prst="rect">
            <a:avLst/>
          </a:prstGeom>
          <a:noFill/>
          <a:ln/>
        </p:spPr>
        <p:txBody>
          <a:bodyPr wrap="square" lIns="0" tIns="0" rIns="0" bIns="0" rtlCol="0" anchor="ctr"/>
          <a:lstStyle/>
          <a:p>
            <a:pPr indent="0" marL="0">
              <a:buNone/>
            </a:pPr>
            <a:r>
              <a:rPr lang="en-US" sz="950" dirty="0">
                <a:solidFill>
                  <a:srgbClr val="52525B"/>
                </a:solidFill>
                <a:latin typeface="Calibri" pitchFamily="34" charset="0"/>
                <a:ea typeface="Calibri" pitchFamily="34" charset="-122"/>
                <a:cs typeface="Calibri" pitchFamily="34" charset="-120"/>
              </a:rPr>
              <a:t>→  Technical implementation of MCP tools and stdio transport</a:t>
            </a:r>
            <a:endParaRPr lang="en-US" sz="950" dirty="0"/>
          </a:p>
        </p:txBody>
      </p:sp>
      <p:sp>
        <p:nvSpPr>
          <p:cNvPr id="30" name="Text 28"/>
          <p:cNvSpPr/>
          <p:nvPr/>
        </p:nvSpPr>
        <p:spPr>
          <a:xfrm>
            <a:off x="594360" y="4096512"/>
            <a:ext cx="3749040" cy="329184"/>
          </a:xfrm>
          <a:prstGeom prst="rect">
            <a:avLst/>
          </a:prstGeom>
          <a:noFill/>
          <a:ln/>
        </p:spPr>
        <p:txBody>
          <a:bodyPr wrap="square" lIns="0" tIns="0" rIns="0" bIns="0" rtlCol="0" anchor="ctr"/>
          <a:lstStyle/>
          <a:p>
            <a:pPr indent="0" marL="0">
              <a:buNone/>
            </a:pPr>
            <a:r>
              <a:rPr lang="en-US" sz="950" dirty="0">
                <a:solidFill>
                  <a:srgbClr val="A1A1AA"/>
                </a:solidFill>
                <a:latin typeface="Calibri" pitchFamily="34" charset="0"/>
                <a:ea typeface="Calibri" pitchFamily="34" charset="-122"/>
                <a:cs typeface="Calibri" pitchFamily="34" charset="-120"/>
              </a:rPr>
              <a:t>✓  Recession risk weights — verified against literature</a:t>
            </a:r>
            <a:endParaRPr lang="en-US" sz="950" dirty="0"/>
          </a:p>
        </p:txBody>
      </p:sp>
      <p:sp>
        <p:nvSpPr>
          <p:cNvPr id="31" name="Text 29"/>
          <p:cNvSpPr/>
          <p:nvPr/>
        </p:nvSpPr>
        <p:spPr>
          <a:xfrm>
            <a:off x="4663440" y="4096512"/>
            <a:ext cx="3840480" cy="329184"/>
          </a:xfrm>
          <a:prstGeom prst="rect">
            <a:avLst/>
          </a:prstGeom>
          <a:noFill/>
          <a:ln/>
        </p:spPr>
        <p:txBody>
          <a:bodyPr wrap="square" lIns="0" tIns="0" rIns="0" bIns="0" rtlCol="0" anchor="ctr"/>
          <a:lstStyle/>
          <a:p>
            <a:pPr indent="0" marL="0">
              <a:buNone/>
            </a:pPr>
            <a:r>
              <a:rPr lang="en-US" sz="950" dirty="0">
                <a:solidFill>
                  <a:srgbClr val="52525B"/>
                </a:solidFill>
                <a:latin typeface="Calibri" pitchFamily="34" charset="0"/>
                <a:ea typeface="Calibri" pitchFamily="34" charset="-122"/>
                <a:cs typeface="Calibri" pitchFamily="34" charset="-120"/>
              </a:rPr>
              <a:t>→  Writing the technical report — structure and academic framing</a:t>
            </a:r>
            <a:endParaRPr lang="en-US" sz="950" dirty="0"/>
          </a:p>
        </p:txBody>
      </p:sp>
      <p:sp>
        <p:nvSpPr>
          <p:cNvPr id="32" name="Text 30"/>
          <p:cNvSpPr/>
          <p:nvPr/>
        </p:nvSpPr>
        <p:spPr>
          <a:xfrm>
            <a:off x="594360" y="4471416"/>
            <a:ext cx="3749040" cy="329184"/>
          </a:xfrm>
          <a:prstGeom prst="rect">
            <a:avLst/>
          </a:prstGeom>
          <a:noFill/>
          <a:ln/>
        </p:spPr>
        <p:txBody>
          <a:bodyPr wrap="square" lIns="0" tIns="0" rIns="0" bIns="0" rtlCol="0" anchor="ctr"/>
          <a:lstStyle/>
          <a:p>
            <a:pPr indent="0" marL="0">
              <a:buNone/>
            </a:pPr>
            <a:r>
              <a:rPr lang="en-US" sz="950" dirty="0">
                <a:solidFill>
                  <a:srgbClr val="A1A1AA"/>
                </a:solidFill>
                <a:latin typeface="Calibri" pitchFamily="34" charset="0"/>
                <a:ea typeface="Calibri" pitchFamily="34" charset="-122"/>
                <a:cs typeface="Calibri" pitchFamily="34" charset="-120"/>
              </a:rPr>
              <a:t>✓  Dashboard aesthetic direction — specified by me</a:t>
            </a:r>
            <a:endParaRPr lang="en-US" sz="950" dirty="0"/>
          </a:p>
        </p:txBody>
      </p:sp>
      <p:sp>
        <p:nvSpPr>
          <p:cNvPr id="33" name="Text 31"/>
          <p:cNvSpPr/>
          <p:nvPr/>
        </p:nvSpPr>
        <p:spPr>
          <a:xfrm>
            <a:off x="4663440" y="4471416"/>
            <a:ext cx="3840480" cy="329184"/>
          </a:xfrm>
          <a:prstGeom prst="rect">
            <a:avLst/>
          </a:prstGeom>
          <a:noFill/>
          <a:ln/>
        </p:spPr>
        <p:txBody>
          <a:bodyPr wrap="square" lIns="0" tIns="0" rIns="0" bIns="0" rtlCol="0" anchor="ctr"/>
          <a:lstStyle/>
          <a:p>
            <a:pPr indent="0" marL="0">
              <a:buNone/>
            </a:pPr>
            <a:r>
              <a:rPr lang="en-US" sz="950" dirty="0">
                <a:solidFill>
                  <a:srgbClr val="52525B"/>
                </a:solidFill>
                <a:latin typeface="Calibri" pitchFamily="34" charset="0"/>
                <a:ea typeface="Calibri" pitchFamily="34" charset="-122"/>
                <a:cs typeface="Calibri" pitchFamily="34" charset="-120"/>
              </a:rPr>
              <a:t>→  All of the above, used systematically throughout</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B"/>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0A0B"/>
          </a:solidFill>
          <a:ln/>
        </p:spPr>
      </p:sp>
      <p:sp>
        <p:nvSpPr>
          <p:cNvPr id="3" name="Shape 1"/>
          <p:cNvSpPr/>
          <p:nvPr/>
        </p:nvSpPr>
        <p:spPr>
          <a:xfrm>
            <a:off x="0" y="0"/>
            <a:ext cx="9144000" cy="2743"/>
          </a:xfrm>
          <a:prstGeom prst="rect">
            <a:avLst/>
          </a:prstGeom>
          <a:solidFill>
            <a:srgbClr val="27272A"/>
          </a:solidFill>
          <a:ln/>
        </p:spPr>
      </p:sp>
      <p:sp>
        <p:nvSpPr>
          <p:cNvPr id="4" name="Text 2"/>
          <p:cNvSpPr/>
          <p:nvPr/>
        </p:nvSpPr>
        <p:spPr>
          <a:xfrm>
            <a:off x="411480" y="164592"/>
            <a:ext cx="8229600" cy="384048"/>
          </a:xfrm>
          <a:prstGeom prst="rect">
            <a:avLst/>
          </a:prstGeom>
          <a:noFill/>
          <a:ln/>
        </p:spPr>
        <p:txBody>
          <a:bodyPr wrap="square" rtlCol="0" anchor="ctr"/>
          <a:lstStyle/>
          <a:p>
            <a:pPr indent="0" marL="0">
              <a:buNone/>
            </a:pPr>
            <a:r>
              <a:rPr lang="en-US" sz="2000" b="1" spc="-50" kern="0" dirty="0">
                <a:solidFill>
                  <a:srgbClr val="FAFAFA"/>
                </a:solidFill>
                <a:latin typeface="Calibri" pitchFamily="34" charset="0"/>
                <a:ea typeface="Calibri" pitchFamily="34" charset="-122"/>
                <a:cs typeface="Calibri" pitchFamily="34" charset="-120"/>
              </a:rPr>
              <a:t>Version Control &amp; Deliverables</a:t>
            </a:r>
            <a:endParaRPr lang="en-US" sz="2000" dirty="0"/>
          </a:p>
        </p:txBody>
      </p:sp>
      <p:sp>
        <p:nvSpPr>
          <p:cNvPr id="5" name="Shape 3"/>
          <p:cNvSpPr/>
          <p:nvPr/>
        </p:nvSpPr>
        <p:spPr>
          <a:xfrm>
            <a:off x="411480" y="585216"/>
            <a:ext cx="8321040" cy="10973"/>
          </a:xfrm>
          <a:prstGeom prst="rect">
            <a:avLst/>
          </a:prstGeom>
          <a:solidFill>
            <a:srgbClr val="27272A"/>
          </a:solidFill>
          <a:ln/>
        </p:spPr>
      </p:sp>
      <p:sp>
        <p:nvSpPr>
          <p:cNvPr id="6" name="Shape 4"/>
          <p:cNvSpPr/>
          <p:nvPr/>
        </p:nvSpPr>
        <p:spPr>
          <a:xfrm>
            <a:off x="411480" y="713232"/>
            <a:ext cx="8321040" cy="475488"/>
          </a:xfrm>
          <a:prstGeom prst="rect">
            <a:avLst/>
          </a:prstGeom>
          <a:solidFill>
            <a:srgbClr val="111113"/>
          </a:solidFill>
          <a:ln w="12700">
            <a:solidFill>
              <a:srgbClr val="27272A"/>
            </a:solidFill>
            <a:prstDash val="solid"/>
          </a:ln>
        </p:spPr>
      </p:sp>
      <p:sp>
        <p:nvSpPr>
          <p:cNvPr id="7" name="Shape 5"/>
          <p:cNvSpPr/>
          <p:nvPr/>
        </p:nvSpPr>
        <p:spPr>
          <a:xfrm>
            <a:off x="411480" y="713232"/>
            <a:ext cx="45720" cy="475488"/>
          </a:xfrm>
          <a:prstGeom prst="rect">
            <a:avLst/>
          </a:prstGeom>
          <a:solidFill>
            <a:srgbClr val="D4A853"/>
          </a:solidFill>
          <a:ln/>
        </p:spPr>
      </p:sp>
      <p:sp>
        <p:nvSpPr>
          <p:cNvPr id="8" name="Text 6"/>
          <p:cNvSpPr/>
          <p:nvPr/>
        </p:nvSpPr>
        <p:spPr>
          <a:xfrm>
            <a:off x="594360" y="841248"/>
            <a:ext cx="7955280" cy="256032"/>
          </a:xfrm>
          <a:prstGeom prst="rect">
            <a:avLst/>
          </a:prstGeom>
          <a:noFill/>
          <a:ln/>
        </p:spPr>
        <p:txBody>
          <a:bodyPr wrap="square" lIns="0" tIns="0" rIns="0" bIns="0" rtlCol="0" anchor="ctr"/>
          <a:lstStyle/>
          <a:p>
            <a:pPr indent="0" marL="0">
              <a:buNone/>
            </a:pPr>
            <a:r>
              <a:rPr lang="en-US" sz="1400" b="1" dirty="0">
                <a:solidFill>
                  <a:srgbClr val="D4A853"/>
                </a:solidFill>
                <a:latin typeface="Courier New" pitchFamily="34" charset="0"/>
                <a:ea typeface="Courier New" pitchFamily="34" charset="-122"/>
                <a:cs typeface="Courier New" pitchFamily="34" charset="-120"/>
              </a:rPr>
              <a:t>github.com/adhiraj1845/macro_pulse</a:t>
            </a:r>
            <a:endParaRPr lang="en-US" sz="1400" dirty="0"/>
          </a:p>
        </p:txBody>
      </p:sp>
      <p:sp>
        <p:nvSpPr>
          <p:cNvPr id="9" name="Text 7"/>
          <p:cNvSpPr/>
          <p:nvPr/>
        </p:nvSpPr>
        <p:spPr>
          <a:xfrm>
            <a:off x="411480" y="1316736"/>
            <a:ext cx="4572000" cy="201168"/>
          </a:xfrm>
          <a:prstGeom prst="rect">
            <a:avLst/>
          </a:prstGeom>
          <a:noFill/>
          <a:ln/>
        </p:spPr>
        <p:txBody>
          <a:bodyPr wrap="square" lIns="0" tIns="0" rIns="0" bIns="0" rtlCol="0" anchor="ctr"/>
          <a:lstStyle/>
          <a:p>
            <a:pPr indent="0" marL="0">
              <a:buNone/>
            </a:pPr>
            <a:r>
              <a:rPr lang="en-US" sz="850" b="1" spc="120" kern="0" dirty="0">
                <a:solidFill>
                  <a:srgbClr val="52525B"/>
                </a:solidFill>
                <a:latin typeface="Courier New" pitchFamily="34" charset="0"/>
                <a:ea typeface="Courier New" pitchFamily="34" charset="-122"/>
                <a:cs typeface="Courier New" pitchFamily="34" charset="-120"/>
              </a:rPr>
              <a:t>COMMIT HISTORY  —  9 STAGED MILESTONES</a:t>
            </a:r>
            <a:endParaRPr lang="en-US" sz="850" dirty="0"/>
          </a:p>
        </p:txBody>
      </p:sp>
      <p:sp>
        <p:nvSpPr>
          <p:cNvPr id="10" name="Shape 8"/>
          <p:cNvSpPr/>
          <p:nvPr/>
        </p:nvSpPr>
        <p:spPr>
          <a:xfrm>
            <a:off x="411480" y="1572768"/>
            <a:ext cx="4114800" cy="530352"/>
          </a:xfrm>
          <a:prstGeom prst="rect">
            <a:avLst/>
          </a:prstGeom>
          <a:solidFill>
            <a:srgbClr val="111113"/>
          </a:solidFill>
          <a:ln w="12700">
            <a:solidFill>
              <a:srgbClr val="27272A"/>
            </a:solidFill>
            <a:prstDash val="solid"/>
          </a:ln>
        </p:spPr>
      </p:sp>
      <p:sp>
        <p:nvSpPr>
          <p:cNvPr id="11" name="Shape 9"/>
          <p:cNvSpPr/>
          <p:nvPr/>
        </p:nvSpPr>
        <p:spPr>
          <a:xfrm>
            <a:off x="411480" y="1572768"/>
            <a:ext cx="45720" cy="530352"/>
          </a:xfrm>
          <a:prstGeom prst="rect">
            <a:avLst/>
          </a:prstGeom>
          <a:solidFill>
            <a:srgbClr val="D4A853"/>
          </a:solidFill>
          <a:ln/>
        </p:spPr>
      </p:sp>
      <p:sp>
        <p:nvSpPr>
          <p:cNvPr id="12" name="Text 10"/>
          <p:cNvSpPr/>
          <p:nvPr/>
        </p:nvSpPr>
        <p:spPr>
          <a:xfrm>
            <a:off x="566928" y="1636776"/>
            <a:ext cx="1005840" cy="201168"/>
          </a:xfrm>
          <a:prstGeom prst="rect">
            <a:avLst/>
          </a:prstGeom>
          <a:noFill/>
          <a:ln/>
        </p:spPr>
        <p:txBody>
          <a:bodyPr wrap="square" lIns="0" tIns="0" rIns="0" bIns="0" rtlCol="0" anchor="ctr"/>
          <a:lstStyle/>
          <a:p>
            <a:pPr indent="0" marL="0">
              <a:buNone/>
            </a:pPr>
            <a:r>
              <a:rPr lang="en-US" sz="950" b="1" dirty="0">
                <a:solidFill>
                  <a:srgbClr val="D4A853"/>
                </a:solidFill>
                <a:latin typeface="Calibri" pitchFamily="34" charset="0"/>
                <a:ea typeface="Calibri" pitchFamily="34" charset="-122"/>
                <a:cs typeface="Calibri" pitchFamily="34" charset="-120"/>
              </a:rPr>
              <a:t>Stage 1</a:t>
            </a:r>
            <a:endParaRPr lang="en-US" sz="950" dirty="0"/>
          </a:p>
        </p:txBody>
      </p:sp>
      <p:sp>
        <p:nvSpPr>
          <p:cNvPr id="13" name="Text 11"/>
          <p:cNvSpPr/>
          <p:nvPr/>
        </p:nvSpPr>
        <p:spPr>
          <a:xfrm>
            <a:off x="566928" y="1847088"/>
            <a:ext cx="3840480" cy="201168"/>
          </a:xfrm>
          <a:prstGeom prst="rect">
            <a:avLst/>
          </a:prstGeom>
          <a:noFill/>
          <a:ln/>
        </p:spPr>
        <p:txBody>
          <a:bodyPr wrap="square" lIns="0" tIns="0" rIns="0" bIns="0" rtlCol="0" anchor="ctr"/>
          <a:lstStyle/>
          <a:p>
            <a:pPr indent="0" marL="0">
              <a:buNone/>
            </a:pPr>
            <a:r>
              <a:rPr lang="en-US" sz="900" dirty="0">
                <a:solidFill>
                  <a:srgbClr val="A1A1AA"/>
                </a:solidFill>
                <a:latin typeface="Calibri" pitchFamily="34" charset="0"/>
                <a:ea typeface="Calibri" pitchFamily="34" charset="-122"/>
                <a:cs typeface="Calibri" pitchFamily="34" charset="-120"/>
              </a:rPr>
              <a:t>Scaffold — folder structure, requirements, env config, health endpoint</a:t>
            </a:r>
            <a:endParaRPr lang="en-US" sz="900" dirty="0"/>
          </a:p>
        </p:txBody>
      </p:sp>
      <p:sp>
        <p:nvSpPr>
          <p:cNvPr id="14" name="Shape 12"/>
          <p:cNvSpPr/>
          <p:nvPr/>
        </p:nvSpPr>
        <p:spPr>
          <a:xfrm>
            <a:off x="411480" y="2185416"/>
            <a:ext cx="4114800" cy="530352"/>
          </a:xfrm>
          <a:prstGeom prst="rect">
            <a:avLst/>
          </a:prstGeom>
          <a:solidFill>
            <a:srgbClr val="111113"/>
          </a:solidFill>
          <a:ln w="12700">
            <a:solidFill>
              <a:srgbClr val="27272A"/>
            </a:solidFill>
            <a:prstDash val="solid"/>
          </a:ln>
        </p:spPr>
      </p:sp>
      <p:sp>
        <p:nvSpPr>
          <p:cNvPr id="15" name="Shape 13"/>
          <p:cNvSpPr/>
          <p:nvPr/>
        </p:nvSpPr>
        <p:spPr>
          <a:xfrm>
            <a:off x="411480" y="2185416"/>
            <a:ext cx="45720" cy="530352"/>
          </a:xfrm>
          <a:prstGeom prst="rect">
            <a:avLst/>
          </a:prstGeom>
          <a:solidFill>
            <a:srgbClr val="D4A853"/>
          </a:solidFill>
          <a:ln/>
        </p:spPr>
      </p:sp>
      <p:sp>
        <p:nvSpPr>
          <p:cNvPr id="16" name="Text 14"/>
          <p:cNvSpPr/>
          <p:nvPr/>
        </p:nvSpPr>
        <p:spPr>
          <a:xfrm>
            <a:off x="566928" y="2249424"/>
            <a:ext cx="1005840" cy="201168"/>
          </a:xfrm>
          <a:prstGeom prst="rect">
            <a:avLst/>
          </a:prstGeom>
          <a:noFill/>
          <a:ln/>
        </p:spPr>
        <p:txBody>
          <a:bodyPr wrap="square" lIns="0" tIns="0" rIns="0" bIns="0" rtlCol="0" anchor="ctr"/>
          <a:lstStyle/>
          <a:p>
            <a:pPr indent="0" marL="0">
              <a:buNone/>
            </a:pPr>
            <a:r>
              <a:rPr lang="en-US" sz="950" b="1" dirty="0">
                <a:solidFill>
                  <a:srgbClr val="D4A853"/>
                </a:solidFill>
                <a:latin typeface="Calibri" pitchFamily="34" charset="0"/>
                <a:ea typeface="Calibri" pitchFamily="34" charset="-122"/>
                <a:cs typeface="Calibri" pitchFamily="34" charset="-120"/>
              </a:rPr>
              <a:t>Stage 2</a:t>
            </a:r>
            <a:endParaRPr lang="en-US" sz="950" dirty="0"/>
          </a:p>
        </p:txBody>
      </p:sp>
      <p:sp>
        <p:nvSpPr>
          <p:cNvPr id="17" name="Text 15"/>
          <p:cNvSpPr/>
          <p:nvPr/>
        </p:nvSpPr>
        <p:spPr>
          <a:xfrm>
            <a:off x="566928" y="2459736"/>
            <a:ext cx="3840480" cy="201168"/>
          </a:xfrm>
          <a:prstGeom prst="rect">
            <a:avLst/>
          </a:prstGeom>
          <a:noFill/>
          <a:ln/>
        </p:spPr>
        <p:txBody>
          <a:bodyPr wrap="square" lIns="0" tIns="0" rIns="0" bIns="0" rtlCol="0" anchor="ctr"/>
          <a:lstStyle/>
          <a:p>
            <a:pPr indent="0" marL="0">
              <a:buNone/>
            </a:pPr>
            <a:r>
              <a:rPr lang="en-US" sz="900" dirty="0">
                <a:solidFill>
                  <a:srgbClr val="A1A1AA"/>
                </a:solidFill>
                <a:latin typeface="Calibri" pitchFamily="34" charset="0"/>
                <a:ea typeface="Calibri" pitchFamily="34" charset="-122"/>
                <a:cs typeface="Calibri" pitchFamily="34" charset="-120"/>
              </a:rPr>
              <a:t>SQLAlchemy models — 4 tables, indexes, relationships, enums</a:t>
            </a:r>
            <a:endParaRPr lang="en-US" sz="900" dirty="0"/>
          </a:p>
        </p:txBody>
      </p:sp>
      <p:sp>
        <p:nvSpPr>
          <p:cNvPr id="18" name="Shape 16"/>
          <p:cNvSpPr/>
          <p:nvPr/>
        </p:nvSpPr>
        <p:spPr>
          <a:xfrm>
            <a:off x="411480" y="2798064"/>
            <a:ext cx="4114800" cy="530352"/>
          </a:xfrm>
          <a:prstGeom prst="rect">
            <a:avLst/>
          </a:prstGeom>
          <a:solidFill>
            <a:srgbClr val="111113"/>
          </a:solidFill>
          <a:ln w="12700">
            <a:solidFill>
              <a:srgbClr val="27272A"/>
            </a:solidFill>
            <a:prstDash val="solid"/>
          </a:ln>
        </p:spPr>
      </p:sp>
      <p:sp>
        <p:nvSpPr>
          <p:cNvPr id="19" name="Shape 17"/>
          <p:cNvSpPr/>
          <p:nvPr/>
        </p:nvSpPr>
        <p:spPr>
          <a:xfrm>
            <a:off x="411480" y="2798064"/>
            <a:ext cx="45720" cy="530352"/>
          </a:xfrm>
          <a:prstGeom prst="rect">
            <a:avLst/>
          </a:prstGeom>
          <a:solidFill>
            <a:srgbClr val="D4A853"/>
          </a:solidFill>
          <a:ln/>
        </p:spPr>
      </p:sp>
      <p:sp>
        <p:nvSpPr>
          <p:cNvPr id="20" name="Text 18"/>
          <p:cNvSpPr/>
          <p:nvPr/>
        </p:nvSpPr>
        <p:spPr>
          <a:xfrm>
            <a:off x="566928" y="2862072"/>
            <a:ext cx="1005840" cy="201168"/>
          </a:xfrm>
          <a:prstGeom prst="rect">
            <a:avLst/>
          </a:prstGeom>
          <a:noFill/>
          <a:ln/>
        </p:spPr>
        <p:txBody>
          <a:bodyPr wrap="square" lIns="0" tIns="0" rIns="0" bIns="0" rtlCol="0" anchor="ctr"/>
          <a:lstStyle/>
          <a:p>
            <a:pPr indent="0" marL="0">
              <a:buNone/>
            </a:pPr>
            <a:r>
              <a:rPr lang="en-US" sz="950" b="1" dirty="0">
                <a:solidFill>
                  <a:srgbClr val="D4A853"/>
                </a:solidFill>
                <a:latin typeface="Calibri" pitchFamily="34" charset="0"/>
                <a:ea typeface="Calibri" pitchFamily="34" charset="-122"/>
                <a:cs typeface="Calibri" pitchFamily="34" charset="-120"/>
              </a:rPr>
              <a:t>Stage 3</a:t>
            </a:r>
            <a:endParaRPr lang="en-US" sz="950" dirty="0"/>
          </a:p>
        </p:txBody>
      </p:sp>
      <p:sp>
        <p:nvSpPr>
          <p:cNvPr id="21" name="Text 19"/>
          <p:cNvSpPr/>
          <p:nvPr/>
        </p:nvSpPr>
        <p:spPr>
          <a:xfrm>
            <a:off x="566928" y="3072384"/>
            <a:ext cx="3840480" cy="201168"/>
          </a:xfrm>
          <a:prstGeom prst="rect">
            <a:avLst/>
          </a:prstGeom>
          <a:noFill/>
          <a:ln/>
        </p:spPr>
        <p:txBody>
          <a:bodyPr wrap="square" lIns="0" tIns="0" rIns="0" bIns="0" rtlCol="0" anchor="ctr"/>
          <a:lstStyle/>
          <a:p>
            <a:pPr indent="0" marL="0">
              <a:buNone/>
            </a:pPr>
            <a:r>
              <a:rPr lang="en-US" sz="900" dirty="0">
                <a:solidFill>
                  <a:srgbClr val="A1A1AA"/>
                </a:solidFill>
                <a:latin typeface="Calibri" pitchFamily="34" charset="0"/>
                <a:ea typeface="Calibri" pitchFamily="34" charset="-122"/>
                <a:cs typeface="Calibri" pitchFamily="34" charset="-120"/>
              </a:rPr>
              <a:t>Pydantic schemas + full CRUD routers for indicators and assets</a:t>
            </a:r>
            <a:endParaRPr lang="en-US" sz="900" dirty="0"/>
          </a:p>
        </p:txBody>
      </p:sp>
      <p:sp>
        <p:nvSpPr>
          <p:cNvPr id="22" name="Shape 20"/>
          <p:cNvSpPr/>
          <p:nvPr/>
        </p:nvSpPr>
        <p:spPr>
          <a:xfrm>
            <a:off x="411480" y="3410712"/>
            <a:ext cx="4114800" cy="530352"/>
          </a:xfrm>
          <a:prstGeom prst="rect">
            <a:avLst/>
          </a:prstGeom>
          <a:solidFill>
            <a:srgbClr val="111113"/>
          </a:solidFill>
          <a:ln w="12700">
            <a:solidFill>
              <a:srgbClr val="27272A"/>
            </a:solidFill>
            <a:prstDash val="solid"/>
          </a:ln>
        </p:spPr>
      </p:sp>
      <p:sp>
        <p:nvSpPr>
          <p:cNvPr id="23" name="Shape 21"/>
          <p:cNvSpPr/>
          <p:nvPr/>
        </p:nvSpPr>
        <p:spPr>
          <a:xfrm>
            <a:off x="411480" y="3410712"/>
            <a:ext cx="45720" cy="530352"/>
          </a:xfrm>
          <a:prstGeom prst="rect">
            <a:avLst/>
          </a:prstGeom>
          <a:solidFill>
            <a:srgbClr val="D4A853"/>
          </a:solidFill>
          <a:ln/>
        </p:spPr>
      </p:sp>
      <p:sp>
        <p:nvSpPr>
          <p:cNvPr id="24" name="Text 22"/>
          <p:cNvSpPr/>
          <p:nvPr/>
        </p:nvSpPr>
        <p:spPr>
          <a:xfrm>
            <a:off x="566928" y="3474720"/>
            <a:ext cx="1005840" cy="201168"/>
          </a:xfrm>
          <a:prstGeom prst="rect">
            <a:avLst/>
          </a:prstGeom>
          <a:noFill/>
          <a:ln/>
        </p:spPr>
        <p:txBody>
          <a:bodyPr wrap="square" lIns="0" tIns="0" rIns="0" bIns="0" rtlCol="0" anchor="ctr"/>
          <a:lstStyle/>
          <a:p>
            <a:pPr indent="0" marL="0">
              <a:buNone/>
            </a:pPr>
            <a:r>
              <a:rPr lang="en-US" sz="950" b="1" dirty="0">
                <a:solidFill>
                  <a:srgbClr val="D4A853"/>
                </a:solidFill>
                <a:latin typeface="Calibri" pitchFamily="34" charset="0"/>
                <a:ea typeface="Calibri" pitchFamily="34" charset="-122"/>
                <a:cs typeface="Calibri" pitchFamily="34" charset="-120"/>
              </a:rPr>
              <a:t>Stage 4</a:t>
            </a:r>
            <a:endParaRPr lang="en-US" sz="950" dirty="0"/>
          </a:p>
        </p:txBody>
      </p:sp>
      <p:sp>
        <p:nvSpPr>
          <p:cNvPr id="25" name="Text 23"/>
          <p:cNvSpPr/>
          <p:nvPr/>
        </p:nvSpPr>
        <p:spPr>
          <a:xfrm>
            <a:off x="566928" y="3685032"/>
            <a:ext cx="3840480" cy="201168"/>
          </a:xfrm>
          <a:prstGeom prst="rect">
            <a:avLst/>
          </a:prstGeom>
          <a:noFill/>
          <a:ln/>
        </p:spPr>
        <p:txBody>
          <a:bodyPr wrap="square" lIns="0" tIns="0" rIns="0" bIns="0" rtlCol="0" anchor="ctr"/>
          <a:lstStyle/>
          <a:p>
            <a:pPr indent="0" marL="0">
              <a:buNone/>
            </a:pPr>
            <a:r>
              <a:rPr lang="en-US" sz="900" dirty="0">
                <a:solidFill>
                  <a:srgbClr val="A1A1AA"/>
                </a:solidFill>
                <a:latin typeface="Calibri" pitchFamily="34" charset="0"/>
                <a:ea typeface="Calibri" pitchFamily="34" charset="-122"/>
                <a:cs typeface="Calibri" pitchFamily="34" charset="-120"/>
              </a:rPr>
              <a:t>FRED + Yahoo Finance ingestion — idempotent, skips existing dates</a:t>
            </a:r>
            <a:endParaRPr lang="en-US" sz="900" dirty="0"/>
          </a:p>
        </p:txBody>
      </p:sp>
      <p:sp>
        <p:nvSpPr>
          <p:cNvPr id="26" name="Shape 24"/>
          <p:cNvSpPr/>
          <p:nvPr/>
        </p:nvSpPr>
        <p:spPr>
          <a:xfrm>
            <a:off x="411480" y="4023360"/>
            <a:ext cx="4114800" cy="530352"/>
          </a:xfrm>
          <a:prstGeom prst="rect">
            <a:avLst/>
          </a:prstGeom>
          <a:solidFill>
            <a:srgbClr val="111113"/>
          </a:solidFill>
          <a:ln w="12700">
            <a:solidFill>
              <a:srgbClr val="27272A"/>
            </a:solidFill>
            <a:prstDash val="solid"/>
          </a:ln>
        </p:spPr>
      </p:sp>
      <p:sp>
        <p:nvSpPr>
          <p:cNvPr id="27" name="Shape 25"/>
          <p:cNvSpPr/>
          <p:nvPr/>
        </p:nvSpPr>
        <p:spPr>
          <a:xfrm>
            <a:off x="411480" y="4023360"/>
            <a:ext cx="45720" cy="530352"/>
          </a:xfrm>
          <a:prstGeom prst="rect">
            <a:avLst/>
          </a:prstGeom>
          <a:solidFill>
            <a:srgbClr val="D4A853"/>
          </a:solidFill>
          <a:ln/>
        </p:spPr>
      </p:sp>
      <p:sp>
        <p:nvSpPr>
          <p:cNvPr id="28" name="Text 26"/>
          <p:cNvSpPr/>
          <p:nvPr/>
        </p:nvSpPr>
        <p:spPr>
          <a:xfrm>
            <a:off x="566928" y="4087368"/>
            <a:ext cx="1005840" cy="201168"/>
          </a:xfrm>
          <a:prstGeom prst="rect">
            <a:avLst/>
          </a:prstGeom>
          <a:noFill/>
          <a:ln/>
        </p:spPr>
        <p:txBody>
          <a:bodyPr wrap="square" lIns="0" tIns="0" rIns="0" bIns="0" rtlCol="0" anchor="ctr"/>
          <a:lstStyle/>
          <a:p>
            <a:pPr indent="0" marL="0">
              <a:buNone/>
            </a:pPr>
            <a:r>
              <a:rPr lang="en-US" sz="950" b="1" dirty="0">
                <a:solidFill>
                  <a:srgbClr val="D4A853"/>
                </a:solidFill>
                <a:latin typeface="Calibri" pitchFamily="34" charset="0"/>
                <a:ea typeface="Calibri" pitchFamily="34" charset="-122"/>
                <a:cs typeface="Calibri" pitchFamily="34" charset="-120"/>
              </a:rPr>
              <a:t>Stage 5</a:t>
            </a:r>
            <a:endParaRPr lang="en-US" sz="950" dirty="0"/>
          </a:p>
        </p:txBody>
      </p:sp>
      <p:sp>
        <p:nvSpPr>
          <p:cNvPr id="29" name="Text 27"/>
          <p:cNvSpPr/>
          <p:nvPr/>
        </p:nvSpPr>
        <p:spPr>
          <a:xfrm>
            <a:off x="566928" y="4297680"/>
            <a:ext cx="3840480" cy="201168"/>
          </a:xfrm>
          <a:prstGeom prst="rect">
            <a:avLst/>
          </a:prstGeom>
          <a:noFill/>
          <a:ln/>
        </p:spPr>
        <p:txBody>
          <a:bodyPr wrap="square" lIns="0" tIns="0" rIns="0" bIns="0" rtlCol="0" anchor="ctr"/>
          <a:lstStyle/>
          <a:p>
            <a:pPr indent="0" marL="0">
              <a:buNone/>
            </a:pPr>
            <a:r>
              <a:rPr lang="en-US" sz="900" dirty="0">
                <a:solidFill>
                  <a:srgbClr val="A1A1AA"/>
                </a:solidFill>
                <a:latin typeface="Calibri" pitchFamily="34" charset="0"/>
                <a:ea typeface="Calibri" pitchFamily="34" charset="-122"/>
                <a:cs typeface="Calibri" pitchFamily="34" charset="-120"/>
              </a:rPr>
              <a:t>Analytics service — all 5 endpoints with academic grounding</a:t>
            </a:r>
            <a:endParaRPr lang="en-US" sz="900" dirty="0"/>
          </a:p>
        </p:txBody>
      </p:sp>
      <p:sp>
        <p:nvSpPr>
          <p:cNvPr id="30" name="Shape 28"/>
          <p:cNvSpPr/>
          <p:nvPr/>
        </p:nvSpPr>
        <p:spPr>
          <a:xfrm>
            <a:off x="4736592" y="1572768"/>
            <a:ext cx="4114800" cy="530352"/>
          </a:xfrm>
          <a:prstGeom prst="rect">
            <a:avLst/>
          </a:prstGeom>
          <a:solidFill>
            <a:srgbClr val="111113"/>
          </a:solidFill>
          <a:ln w="12700">
            <a:solidFill>
              <a:srgbClr val="27272A"/>
            </a:solidFill>
            <a:prstDash val="solid"/>
          </a:ln>
        </p:spPr>
      </p:sp>
      <p:sp>
        <p:nvSpPr>
          <p:cNvPr id="31" name="Shape 29"/>
          <p:cNvSpPr/>
          <p:nvPr/>
        </p:nvSpPr>
        <p:spPr>
          <a:xfrm>
            <a:off x="4736592" y="1572768"/>
            <a:ext cx="45720" cy="530352"/>
          </a:xfrm>
          <a:prstGeom prst="rect">
            <a:avLst/>
          </a:prstGeom>
          <a:solidFill>
            <a:srgbClr val="D4A853"/>
          </a:solidFill>
          <a:ln/>
        </p:spPr>
      </p:sp>
      <p:sp>
        <p:nvSpPr>
          <p:cNvPr id="32" name="Text 30"/>
          <p:cNvSpPr/>
          <p:nvPr/>
        </p:nvSpPr>
        <p:spPr>
          <a:xfrm>
            <a:off x="4892040" y="1636776"/>
            <a:ext cx="1005840" cy="201168"/>
          </a:xfrm>
          <a:prstGeom prst="rect">
            <a:avLst/>
          </a:prstGeom>
          <a:noFill/>
          <a:ln/>
        </p:spPr>
        <p:txBody>
          <a:bodyPr wrap="square" lIns="0" tIns="0" rIns="0" bIns="0" rtlCol="0" anchor="ctr"/>
          <a:lstStyle/>
          <a:p>
            <a:pPr indent="0" marL="0">
              <a:buNone/>
            </a:pPr>
            <a:r>
              <a:rPr lang="en-US" sz="950" b="1" dirty="0">
                <a:solidFill>
                  <a:srgbClr val="D4A853"/>
                </a:solidFill>
                <a:latin typeface="Calibri" pitchFamily="34" charset="0"/>
                <a:ea typeface="Calibri" pitchFamily="34" charset="-122"/>
                <a:cs typeface="Calibri" pitchFamily="34" charset="-120"/>
              </a:rPr>
              <a:t>Stage 6</a:t>
            </a:r>
            <a:endParaRPr lang="en-US" sz="950" dirty="0"/>
          </a:p>
        </p:txBody>
      </p:sp>
      <p:sp>
        <p:nvSpPr>
          <p:cNvPr id="33" name="Text 31"/>
          <p:cNvSpPr/>
          <p:nvPr/>
        </p:nvSpPr>
        <p:spPr>
          <a:xfrm>
            <a:off x="4892040" y="1847088"/>
            <a:ext cx="3840480" cy="201168"/>
          </a:xfrm>
          <a:prstGeom prst="rect">
            <a:avLst/>
          </a:prstGeom>
          <a:noFill/>
          <a:ln/>
        </p:spPr>
        <p:txBody>
          <a:bodyPr wrap="square" lIns="0" tIns="0" rIns="0" bIns="0" rtlCol="0" anchor="ctr"/>
          <a:lstStyle/>
          <a:p>
            <a:pPr indent="0" marL="0">
              <a:buNone/>
            </a:pPr>
            <a:r>
              <a:rPr lang="en-US" sz="900" dirty="0">
                <a:solidFill>
                  <a:srgbClr val="A1A1AA"/>
                </a:solidFill>
                <a:latin typeface="Calibri" pitchFamily="34" charset="0"/>
                <a:ea typeface="Calibri" pitchFamily="34" charset="-122"/>
                <a:cs typeface="Calibri" pitchFamily="34" charset="-120"/>
              </a:rPr>
              <a:t>Seed script, 36 pytest tests, professional README</a:t>
            </a:r>
            <a:endParaRPr lang="en-US" sz="900" dirty="0"/>
          </a:p>
        </p:txBody>
      </p:sp>
      <p:sp>
        <p:nvSpPr>
          <p:cNvPr id="34" name="Shape 32"/>
          <p:cNvSpPr/>
          <p:nvPr/>
        </p:nvSpPr>
        <p:spPr>
          <a:xfrm>
            <a:off x="4736592" y="2185416"/>
            <a:ext cx="4114800" cy="530352"/>
          </a:xfrm>
          <a:prstGeom prst="rect">
            <a:avLst/>
          </a:prstGeom>
          <a:solidFill>
            <a:srgbClr val="111113"/>
          </a:solidFill>
          <a:ln w="12700">
            <a:solidFill>
              <a:srgbClr val="27272A"/>
            </a:solidFill>
            <a:prstDash val="solid"/>
          </a:ln>
        </p:spPr>
      </p:sp>
      <p:sp>
        <p:nvSpPr>
          <p:cNvPr id="35" name="Shape 33"/>
          <p:cNvSpPr/>
          <p:nvPr/>
        </p:nvSpPr>
        <p:spPr>
          <a:xfrm>
            <a:off x="4736592" y="2185416"/>
            <a:ext cx="45720" cy="530352"/>
          </a:xfrm>
          <a:prstGeom prst="rect">
            <a:avLst/>
          </a:prstGeom>
          <a:solidFill>
            <a:srgbClr val="D4A853"/>
          </a:solidFill>
          <a:ln/>
        </p:spPr>
      </p:sp>
      <p:sp>
        <p:nvSpPr>
          <p:cNvPr id="36" name="Text 34"/>
          <p:cNvSpPr/>
          <p:nvPr/>
        </p:nvSpPr>
        <p:spPr>
          <a:xfrm>
            <a:off x="4892040" y="2249424"/>
            <a:ext cx="1005840" cy="201168"/>
          </a:xfrm>
          <a:prstGeom prst="rect">
            <a:avLst/>
          </a:prstGeom>
          <a:noFill/>
          <a:ln/>
        </p:spPr>
        <p:txBody>
          <a:bodyPr wrap="square" lIns="0" tIns="0" rIns="0" bIns="0" rtlCol="0" anchor="ctr"/>
          <a:lstStyle/>
          <a:p>
            <a:pPr indent="0" marL="0">
              <a:buNone/>
            </a:pPr>
            <a:r>
              <a:rPr lang="en-US" sz="950" b="1" dirty="0">
                <a:solidFill>
                  <a:srgbClr val="D4A853"/>
                </a:solidFill>
                <a:latin typeface="Calibri" pitchFamily="34" charset="0"/>
                <a:ea typeface="Calibri" pitchFamily="34" charset="-122"/>
                <a:cs typeface="Calibri" pitchFamily="34" charset="-120"/>
              </a:rPr>
              <a:t>Stage 7</a:t>
            </a:r>
            <a:endParaRPr lang="en-US" sz="950" dirty="0"/>
          </a:p>
        </p:txBody>
      </p:sp>
      <p:sp>
        <p:nvSpPr>
          <p:cNvPr id="37" name="Text 35"/>
          <p:cNvSpPr/>
          <p:nvPr/>
        </p:nvSpPr>
        <p:spPr>
          <a:xfrm>
            <a:off x="4892040" y="2459736"/>
            <a:ext cx="3840480" cy="201168"/>
          </a:xfrm>
          <a:prstGeom prst="rect">
            <a:avLst/>
          </a:prstGeom>
          <a:noFill/>
          <a:ln/>
        </p:spPr>
        <p:txBody>
          <a:bodyPr wrap="square" lIns="0" tIns="0" rIns="0" bIns="0" rtlCol="0" anchor="ctr"/>
          <a:lstStyle/>
          <a:p>
            <a:pPr indent="0" marL="0">
              <a:buNone/>
            </a:pPr>
            <a:r>
              <a:rPr lang="en-US" sz="900" dirty="0">
                <a:solidFill>
                  <a:srgbClr val="A1A1AA"/>
                </a:solidFill>
                <a:latin typeface="Calibri" pitchFamily="34" charset="0"/>
                <a:ea typeface="Calibri" pitchFamily="34" charset="-122"/>
                <a:cs typeface="Calibri" pitchFamily="34" charset="-120"/>
              </a:rPr>
              <a:t>Frontend dashboard — single-page app, Chart.js, CRUD UI</a:t>
            </a:r>
            <a:endParaRPr lang="en-US" sz="900" dirty="0"/>
          </a:p>
        </p:txBody>
      </p:sp>
      <p:sp>
        <p:nvSpPr>
          <p:cNvPr id="38" name="Shape 36"/>
          <p:cNvSpPr/>
          <p:nvPr/>
        </p:nvSpPr>
        <p:spPr>
          <a:xfrm>
            <a:off x="4736592" y="2798064"/>
            <a:ext cx="4114800" cy="530352"/>
          </a:xfrm>
          <a:prstGeom prst="rect">
            <a:avLst/>
          </a:prstGeom>
          <a:solidFill>
            <a:srgbClr val="111113"/>
          </a:solidFill>
          <a:ln w="12700">
            <a:solidFill>
              <a:srgbClr val="27272A"/>
            </a:solidFill>
            <a:prstDash val="solid"/>
          </a:ln>
        </p:spPr>
      </p:sp>
      <p:sp>
        <p:nvSpPr>
          <p:cNvPr id="39" name="Shape 37"/>
          <p:cNvSpPr/>
          <p:nvPr/>
        </p:nvSpPr>
        <p:spPr>
          <a:xfrm>
            <a:off x="4736592" y="2798064"/>
            <a:ext cx="45720" cy="530352"/>
          </a:xfrm>
          <a:prstGeom prst="rect">
            <a:avLst/>
          </a:prstGeom>
          <a:solidFill>
            <a:srgbClr val="D4A853"/>
          </a:solidFill>
          <a:ln/>
        </p:spPr>
      </p:sp>
      <p:sp>
        <p:nvSpPr>
          <p:cNvPr id="40" name="Text 38"/>
          <p:cNvSpPr/>
          <p:nvPr/>
        </p:nvSpPr>
        <p:spPr>
          <a:xfrm>
            <a:off x="4892040" y="2862072"/>
            <a:ext cx="1005840" cy="201168"/>
          </a:xfrm>
          <a:prstGeom prst="rect">
            <a:avLst/>
          </a:prstGeom>
          <a:noFill/>
          <a:ln/>
        </p:spPr>
        <p:txBody>
          <a:bodyPr wrap="square" lIns="0" tIns="0" rIns="0" bIns="0" rtlCol="0" anchor="ctr"/>
          <a:lstStyle/>
          <a:p>
            <a:pPr indent="0" marL="0">
              <a:buNone/>
            </a:pPr>
            <a:r>
              <a:rPr lang="en-US" sz="950" b="1" dirty="0">
                <a:solidFill>
                  <a:srgbClr val="D4A853"/>
                </a:solidFill>
                <a:latin typeface="Calibri" pitchFamily="34" charset="0"/>
                <a:ea typeface="Calibri" pitchFamily="34" charset="-122"/>
                <a:cs typeface="Calibri" pitchFamily="34" charset="-120"/>
              </a:rPr>
              <a:t>Stage 8</a:t>
            </a:r>
            <a:endParaRPr lang="en-US" sz="950" dirty="0"/>
          </a:p>
        </p:txBody>
      </p:sp>
      <p:sp>
        <p:nvSpPr>
          <p:cNvPr id="41" name="Text 39"/>
          <p:cNvSpPr/>
          <p:nvPr/>
        </p:nvSpPr>
        <p:spPr>
          <a:xfrm>
            <a:off x="4892040" y="3072384"/>
            <a:ext cx="3840480" cy="201168"/>
          </a:xfrm>
          <a:prstGeom prst="rect">
            <a:avLst/>
          </a:prstGeom>
          <a:noFill/>
          <a:ln/>
        </p:spPr>
        <p:txBody>
          <a:bodyPr wrap="square" lIns="0" tIns="0" rIns="0" bIns="0" rtlCol="0" anchor="ctr"/>
          <a:lstStyle/>
          <a:p>
            <a:pPr indent="0" marL="0">
              <a:buNone/>
            </a:pPr>
            <a:r>
              <a:rPr lang="en-US" sz="900" dirty="0">
                <a:solidFill>
                  <a:srgbClr val="A1A1AA"/>
                </a:solidFill>
                <a:latin typeface="Calibri" pitchFamily="34" charset="0"/>
                <a:ea typeface="Calibri" pitchFamily="34" charset="-122"/>
                <a:cs typeface="Calibri" pitchFamily="34" charset="-120"/>
              </a:rPr>
              <a:t>MCP server — 7 tools, stdio transport, working directory fix</a:t>
            </a:r>
            <a:endParaRPr lang="en-US" sz="900" dirty="0"/>
          </a:p>
        </p:txBody>
      </p:sp>
      <p:sp>
        <p:nvSpPr>
          <p:cNvPr id="42" name="Shape 40"/>
          <p:cNvSpPr/>
          <p:nvPr/>
        </p:nvSpPr>
        <p:spPr>
          <a:xfrm>
            <a:off x="4736592" y="3410712"/>
            <a:ext cx="4114800" cy="530352"/>
          </a:xfrm>
          <a:prstGeom prst="rect">
            <a:avLst/>
          </a:prstGeom>
          <a:solidFill>
            <a:srgbClr val="111113"/>
          </a:solidFill>
          <a:ln w="12700">
            <a:solidFill>
              <a:srgbClr val="27272A"/>
            </a:solidFill>
            <a:prstDash val="solid"/>
          </a:ln>
        </p:spPr>
      </p:sp>
      <p:sp>
        <p:nvSpPr>
          <p:cNvPr id="43" name="Shape 41"/>
          <p:cNvSpPr/>
          <p:nvPr/>
        </p:nvSpPr>
        <p:spPr>
          <a:xfrm>
            <a:off x="4736592" y="3410712"/>
            <a:ext cx="45720" cy="530352"/>
          </a:xfrm>
          <a:prstGeom prst="rect">
            <a:avLst/>
          </a:prstGeom>
          <a:solidFill>
            <a:srgbClr val="D4A853"/>
          </a:solidFill>
          <a:ln/>
        </p:spPr>
      </p:sp>
      <p:sp>
        <p:nvSpPr>
          <p:cNvPr id="44" name="Text 42"/>
          <p:cNvSpPr/>
          <p:nvPr/>
        </p:nvSpPr>
        <p:spPr>
          <a:xfrm>
            <a:off x="4892040" y="3474720"/>
            <a:ext cx="1005840" cy="201168"/>
          </a:xfrm>
          <a:prstGeom prst="rect">
            <a:avLst/>
          </a:prstGeom>
          <a:noFill/>
          <a:ln/>
        </p:spPr>
        <p:txBody>
          <a:bodyPr wrap="square" lIns="0" tIns="0" rIns="0" bIns="0" rtlCol="0" anchor="ctr"/>
          <a:lstStyle/>
          <a:p>
            <a:pPr indent="0" marL="0">
              <a:buNone/>
            </a:pPr>
            <a:r>
              <a:rPr lang="en-US" sz="950" b="1" dirty="0">
                <a:solidFill>
                  <a:srgbClr val="D4A853"/>
                </a:solidFill>
                <a:latin typeface="Calibri" pitchFamily="34" charset="0"/>
                <a:ea typeface="Calibri" pitchFamily="34" charset="-122"/>
                <a:cs typeface="Calibri" pitchFamily="34" charset="-120"/>
              </a:rPr>
              <a:t>Stage 9</a:t>
            </a:r>
            <a:endParaRPr lang="en-US" sz="950" dirty="0"/>
          </a:p>
        </p:txBody>
      </p:sp>
      <p:sp>
        <p:nvSpPr>
          <p:cNvPr id="45" name="Text 43"/>
          <p:cNvSpPr/>
          <p:nvPr/>
        </p:nvSpPr>
        <p:spPr>
          <a:xfrm>
            <a:off x="4892040" y="3685032"/>
            <a:ext cx="3840480" cy="201168"/>
          </a:xfrm>
          <a:prstGeom prst="rect">
            <a:avLst/>
          </a:prstGeom>
          <a:noFill/>
          <a:ln/>
        </p:spPr>
        <p:txBody>
          <a:bodyPr wrap="square" lIns="0" tIns="0" rIns="0" bIns="0" rtlCol="0" anchor="ctr"/>
          <a:lstStyle/>
          <a:p>
            <a:pPr indent="0" marL="0">
              <a:buNone/>
            </a:pPr>
            <a:r>
              <a:rPr lang="en-US" sz="900" dirty="0">
                <a:solidFill>
                  <a:srgbClr val="A1A1AA"/>
                </a:solidFill>
                <a:latin typeface="Calibri" pitchFamily="34" charset="0"/>
                <a:ea typeface="Calibri" pitchFamily="34" charset="-122"/>
                <a:cs typeface="Calibri" pitchFamily="34" charset="-120"/>
              </a:rPr>
              <a:t>Railway deployment + slowapi rate limiting + dependency cleanup</a:t>
            </a:r>
            <a:endParaRPr lang="en-US" sz="900" dirty="0"/>
          </a:p>
        </p:txBody>
      </p:sp>
      <p:sp>
        <p:nvSpPr>
          <p:cNvPr id="46" name="Shape 44"/>
          <p:cNvSpPr/>
          <p:nvPr/>
        </p:nvSpPr>
        <p:spPr>
          <a:xfrm>
            <a:off x="411480" y="4773168"/>
            <a:ext cx="8321040" cy="274320"/>
          </a:xfrm>
          <a:prstGeom prst="rect">
            <a:avLst/>
          </a:prstGeom>
          <a:solidFill>
            <a:srgbClr val="18181B"/>
          </a:solidFill>
          <a:ln w="12700">
            <a:solidFill>
              <a:srgbClr val="27272A"/>
            </a:solidFill>
            <a:prstDash val="solid"/>
          </a:ln>
        </p:spPr>
      </p:sp>
      <p:sp>
        <p:nvSpPr>
          <p:cNvPr id="47" name="Text 45"/>
          <p:cNvSpPr/>
          <p:nvPr/>
        </p:nvSpPr>
        <p:spPr>
          <a:xfrm>
            <a:off x="548640" y="4818888"/>
            <a:ext cx="2011680" cy="182880"/>
          </a:xfrm>
          <a:prstGeom prst="rect">
            <a:avLst/>
          </a:prstGeom>
          <a:noFill/>
          <a:ln/>
        </p:spPr>
        <p:txBody>
          <a:bodyPr wrap="square" lIns="0" tIns="0" rIns="0" bIns="0" rtlCol="0" anchor="ctr"/>
          <a:lstStyle/>
          <a:p>
            <a:pPr indent="0" marL="0">
              <a:buNone/>
            </a:pPr>
            <a:r>
              <a:rPr lang="en-US" sz="800" dirty="0">
                <a:solidFill>
                  <a:srgbClr val="52525B"/>
                </a:solidFill>
                <a:latin typeface="Calibri" pitchFamily="34" charset="0"/>
                <a:ea typeface="Calibri" pitchFamily="34" charset="-122"/>
                <a:cs typeface="Calibri" pitchFamily="34" charset="-120"/>
              </a:rPr>
              <a:t>GitHub Repo:  github.com/adhiraj1845/macro_pulse</a:t>
            </a:r>
            <a:endParaRPr lang="en-US" sz="800" dirty="0"/>
          </a:p>
        </p:txBody>
      </p:sp>
      <p:sp>
        <p:nvSpPr>
          <p:cNvPr id="48" name="Text 46"/>
          <p:cNvSpPr/>
          <p:nvPr/>
        </p:nvSpPr>
        <p:spPr>
          <a:xfrm>
            <a:off x="2651760" y="4818888"/>
            <a:ext cx="2011680" cy="182880"/>
          </a:xfrm>
          <a:prstGeom prst="rect">
            <a:avLst/>
          </a:prstGeom>
          <a:noFill/>
          <a:ln/>
        </p:spPr>
        <p:txBody>
          <a:bodyPr wrap="square" lIns="0" tIns="0" rIns="0" bIns="0" rtlCol="0" anchor="ctr"/>
          <a:lstStyle/>
          <a:p>
            <a:pPr indent="0" marL="0">
              <a:buNone/>
            </a:pPr>
            <a:r>
              <a:rPr lang="en-US" sz="800" dirty="0">
                <a:solidFill>
                  <a:srgbClr val="52525B"/>
                </a:solidFill>
                <a:latin typeface="Calibri" pitchFamily="34" charset="0"/>
                <a:ea typeface="Calibri" pitchFamily="34" charset="-122"/>
                <a:cs typeface="Calibri" pitchFamily="34" charset="-120"/>
              </a:rPr>
              <a:t>Live API:  macropulse-production.up.railway.app</a:t>
            </a:r>
            <a:endParaRPr lang="en-US" sz="800" dirty="0"/>
          </a:p>
        </p:txBody>
      </p:sp>
      <p:sp>
        <p:nvSpPr>
          <p:cNvPr id="49" name="Text 47"/>
          <p:cNvSpPr/>
          <p:nvPr/>
        </p:nvSpPr>
        <p:spPr>
          <a:xfrm>
            <a:off x="4754880" y="4818888"/>
            <a:ext cx="2011680" cy="182880"/>
          </a:xfrm>
          <a:prstGeom prst="rect">
            <a:avLst/>
          </a:prstGeom>
          <a:noFill/>
          <a:ln/>
        </p:spPr>
        <p:txBody>
          <a:bodyPr wrap="square" lIns="0" tIns="0" rIns="0" bIns="0" rtlCol="0" anchor="ctr"/>
          <a:lstStyle/>
          <a:p>
            <a:pPr indent="0" marL="0">
              <a:buNone/>
            </a:pPr>
            <a:r>
              <a:rPr lang="en-US" sz="800" dirty="0">
                <a:solidFill>
                  <a:srgbClr val="52525B"/>
                </a:solidFill>
                <a:latin typeface="Calibri" pitchFamily="34" charset="0"/>
                <a:ea typeface="Calibri" pitchFamily="34" charset="-122"/>
                <a:cs typeface="Calibri" pitchFamily="34" charset="-120"/>
              </a:rPr>
              <a:t>API Docs:  /docs  (Swagger UI)</a:t>
            </a:r>
            <a:endParaRPr lang="en-US" sz="800" dirty="0"/>
          </a:p>
        </p:txBody>
      </p:sp>
      <p:sp>
        <p:nvSpPr>
          <p:cNvPr id="50" name="Text 48"/>
          <p:cNvSpPr/>
          <p:nvPr/>
        </p:nvSpPr>
        <p:spPr>
          <a:xfrm>
            <a:off x="6858000" y="4818888"/>
            <a:ext cx="2011680" cy="182880"/>
          </a:xfrm>
          <a:prstGeom prst="rect">
            <a:avLst/>
          </a:prstGeom>
          <a:noFill/>
          <a:ln/>
        </p:spPr>
        <p:txBody>
          <a:bodyPr wrap="square" lIns="0" tIns="0" rIns="0" bIns="0" rtlCol="0" anchor="ctr"/>
          <a:lstStyle/>
          <a:p>
            <a:pPr indent="0" marL="0">
              <a:buNone/>
            </a:pPr>
            <a:r>
              <a:rPr lang="en-US" sz="800" dirty="0">
                <a:solidFill>
                  <a:srgbClr val="52525B"/>
                </a:solidFill>
                <a:latin typeface="Calibri" pitchFamily="34" charset="0"/>
                <a:ea typeface="Calibri" pitchFamily="34" charset="-122"/>
                <a:cs typeface="Calibri" pitchFamily="34" charset="-120"/>
              </a:rPr>
              <a:t>Technical Report:  PDF — Minerva submission</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B"/>
        </a:solidFill>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12700">
            <a:solidFill>
              <a:srgbClr val="27272A"/>
            </a:solidFill>
            <a:prstDash val="solid"/>
          </a:ln>
        </p:spPr>
      </p:sp>
      <p:sp>
        <p:nvSpPr>
          <p:cNvPr id="3" name="Shape 1"/>
          <p:cNvSpPr/>
          <p:nvPr/>
        </p:nvSpPr>
        <p:spPr>
          <a:xfrm>
            <a:off x="822960" y="0"/>
            <a:ext cx="0" cy="5143500"/>
          </a:xfrm>
          <a:prstGeom prst="line">
            <a:avLst/>
          </a:prstGeom>
          <a:noFill/>
          <a:ln w="12700">
            <a:solidFill>
              <a:srgbClr val="27272A"/>
            </a:solidFill>
            <a:prstDash val="solid"/>
          </a:ln>
        </p:spPr>
      </p:sp>
      <p:sp>
        <p:nvSpPr>
          <p:cNvPr id="4" name="Shape 2"/>
          <p:cNvSpPr/>
          <p:nvPr/>
        </p:nvSpPr>
        <p:spPr>
          <a:xfrm>
            <a:off x="1645920" y="0"/>
            <a:ext cx="0" cy="5143500"/>
          </a:xfrm>
          <a:prstGeom prst="line">
            <a:avLst/>
          </a:prstGeom>
          <a:noFill/>
          <a:ln w="12700">
            <a:solidFill>
              <a:srgbClr val="27272A"/>
            </a:solidFill>
            <a:prstDash val="solid"/>
          </a:ln>
        </p:spPr>
      </p:sp>
      <p:sp>
        <p:nvSpPr>
          <p:cNvPr id="5" name="Shape 3"/>
          <p:cNvSpPr/>
          <p:nvPr/>
        </p:nvSpPr>
        <p:spPr>
          <a:xfrm>
            <a:off x="2468880" y="0"/>
            <a:ext cx="0" cy="5143500"/>
          </a:xfrm>
          <a:prstGeom prst="line">
            <a:avLst/>
          </a:prstGeom>
          <a:noFill/>
          <a:ln w="12700">
            <a:solidFill>
              <a:srgbClr val="27272A"/>
            </a:solidFill>
            <a:prstDash val="solid"/>
          </a:ln>
        </p:spPr>
      </p:sp>
      <p:sp>
        <p:nvSpPr>
          <p:cNvPr id="6" name="Shape 4"/>
          <p:cNvSpPr/>
          <p:nvPr/>
        </p:nvSpPr>
        <p:spPr>
          <a:xfrm>
            <a:off x="3291840" y="0"/>
            <a:ext cx="0" cy="5143500"/>
          </a:xfrm>
          <a:prstGeom prst="line">
            <a:avLst/>
          </a:prstGeom>
          <a:noFill/>
          <a:ln w="12700">
            <a:solidFill>
              <a:srgbClr val="27272A"/>
            </a:solidFill>
            <a:prstDash val="solid"/>
          </a:ln>
        </p:spPr>
      </p:sp>
      <p:sp>
        <p:nvSpPr>
          <p:cNvPr id="7" name="Shape 5"/>
          <p:cNvSpPr/>
          <p:nvPr/>
        </p:nvSpPr>
        <p:spPr>
          <a:xfrm>
            <a:off x="4114800" y="0"/>
            <a:ext cx="0" cy="5143500"/>
          </a:xfrm>
          <a:prstGeom prst="line">
            <a:avLst/>
          </a:prstGeom>
          <a:noFill/>
          <a:ln w="12700">
            <a:solidFill>
              <a:srgbClr val="27272A"/>
            </a:solidFill>
            <a:prstDash val="solid"/>
          </a:ln>
        </p:spPr>
      </p:sp>
      <p:sp>
        <p:nvSpPr>
          <p:cNvPr id="8" name="Shape 6"/>
          <p:cNvSpPr/>
          <p:nvPr/>
        </p:nvSpPr>
        <p:spPr>
          <a:xfrm>
            <a:off x="4937760" y="0"/>
            <a:ext cx="0" cy="5143500"/>
          </a:xfrm>
          <a:prstGeom prst="line">
            <a:avLst/>
          </a:prstGeom>
          <a:noFill/>
          <a:ln w="12700">
            <a:solidFill>
              <a:srgbClr val="27272A"/>
            </a:solidFill>
            <a:prstDash val="solid"/>
          </a:ln>
        </p:spPr>
      </p:sp>
      <p:sp>
        <p:nvSpPr>
          <p:cNvPr id="9" name="Shape 7"/>
          <p:cNvSpPr/>
          <p:nvPr/>
        </p:nvSpPr>
        <p:spPr>
          <a:xfrm>
            <a:off x="5760720" y="0"/>
            <a:ext cx="0" cy="5143500"/>
          </a:xfrm>
          <a:prstGeom prst="line">
            <a:avLst/>
          </a:prstGeom>
          <a:noFill/>
          <a:ln w="12700">
            <a:solidFill>
              <a:srgbClr val="27272A"/>
            </a:solidFill>
            <a:prstDash val="solid"/>
          </a:ln>
        </p:spPr>
      </p:sp>
      <p:sp>
        <p:nvSpPr>
          <p:cNvPr id="10" name="Shape 8"/>
          <p:cNvSpPr/>
          <p:nvPr/>
        </p:nvSpPr>
        <p:spPr>
          <a:xfrm>
            <a:off x="6583680" y="0"/>
            <a:ext cx="0" cy="5143500"/>
          </a:xfrm>
          <a:prstGeom prst="line">
            <a:avLst/>
          </a:prstGeom>
          <a:noFill/>
          <a:ln w="12700">
            <a:solidFill>
              <a:srgbClr val="27272A"/>
            </a:solidFill>
            <a:prstDash val="solid"/>
          </a:ln>
        </p:spPr>
      </p:sp>
      <p:sp>
        <p:nvSpPr>
          <p:cNvPr id="11" name="Shape 9"/>
          <p:cNvSpPr/>
          <p:nvPr/>
        </p:nvSpPr>
        <p:spPr>
          <a:xfrm>
            <a:off x="7406640" y="0"/>
            <a:ext cx="0" cy="5143500"/>
          </a:xfrm>
          <a:prstGeom prst="line">
            <a:avLst/>
          </a:prstGeom>
          <a:noFill/>
          <a:ln w="12700">
            <a:solidFill>
              <a:srgbClr val="27272A"/>
            </a:solidFill>
            <a:prstDash val="solid"/>
          </a:ln>
        </p:spPr>
      </p:sp>
      <p:sp>
        <p:nvSpPr>
          <p:cNvPr id="12" name="Shape 10"/>
          <p:cNvSpPr/>
          <p:nvPr/>
        </p:nvSpPr>
        <p:spPr>
          <a:xfrm>
            <a:off x="8229600" y="0"/>
            <a:ext cx="0" cy="5143500"/>
          </a:xfrm>
          <a:prstGeom prst="line">
            <a:avLst/>
          </a:prstGeom>
          <a:noFill/>
          <a:ln w="12700">
            <a:solidFill>
              <a:srgbClr val="27272A"/>
            </a:solidFill>
            <a:prstDash val="solid"/>
          </a:ln>
        </p:spPr>
      </p:sp>
      <p:sp>
        <p:nvSpPr>
          <p:cNvPr id="13" name="Shape 11"/>
          <p:cNvSpPr/>
          <p:nvPr/>
        </p:nvSpPr>
        <p:spPr>
          <a:xfrm>
            <a:off x="9052560" y="0"/>
            <a:ext cx="0" cy="5143500"/>
          </a:xfrm>
          <a:prstGeom prst="line">
            <a:avLst/>
          </a:prstGeom>
          <a:noFill/>
          <a:ln w="12700">
            <a:solidFill>
              <a:srgbClr val="27272A"/>
            </a:solidFill>
            <a:prstDash val="solid"/>
          </a:ln>
        </p:spPr>
      </p:sp>
      <p:sp>
        <p:nvSpPr>
          <p:cNvPr id="14" name="Shape 12"/>
          <p:cNvSpPr/>
          <p:nvPr/>
        </p:nvSpPr>
        <p:spPr>
          <a:xfrm>
            <a:off x="0" y="0"/>
            <a:ext cx="9144000" cy="0"/>
          </a:xfrm>
          <a:prstGeom prst="line">
            <a:avLst/>
          </a:prstGeom>
          <a:noFill/>
          <a:ln w="12700">
            <a:solidFill>
              <a:srgbClr val="27272A"/>
            </a:solidFill>
            <a:prstDash val="solid"/>
          </a:ln>
        </p:spPr>
      </p:sp>
      <p:sp>
        <p:nvSpPr>
          <p:cNvPr id="15" name="Shape 13"/>
          <p:cNvSpPr/>
          <p:nvPr/>
        </p:nvSpPr>
        <p:spPr>
          <a:xfrm>
            <a:off x="0" y="822960"/>
            <a:ext cx="9144000" cy="0"/>
          </a:xfrm>
          <a:prstGeom prst="line">
            <a:avLst/>
          </a:prstGeom>
          <a:noFill/>
          <a:ln w="12700">
            <a:solidFill>
              <a:srgbClr val="27272A"/>
            </a:solidFill>
            <a:prstDash val="solid"/>
          </a:ln>
        </p:spPr>
      </p:sp>
      <p:sp>
        <p:nvSpPr>
          <p:cNvPr id="16" name="Shape 14"/>
          <p:cNvSpPr/>
          <p:nvPr/>
        </p:nvSpPr>
        <p:spPr>
          <a:xfrm>
            <a:off x="0" y="1645920"/>
            <a:ext cx="9144000" cy="0"/>
          </a:xfrm>
          <a:prstGeom prst="line">
            <a:avLst/>
          </a:prstGeom>
          <a:noFill/>
          <a:ln w="12700">
            <a:solidFill>
              <a:srgbClr val="27272A"/>
            </a:solidFill>
            <a:prstDash val="solid"/>
          </a:ln>
        </p:spPr>
      </p:sp>
      <p:sp>
        <p:nvSpPr>
          <p:cNvPr id="17" name="Shape 15"/>
          <p:cNvSpPr/>
          <p:nvPr/>
        </p:nvSpPr>
        <p:spPr>
          <a:xfrm>
            <a:off x="0" y="2468880"/>
            <a:ext cx="9144000" cy="0"/>
          </a:xfrm>
          <a:prstGeom prst="line">
            <a:avLst/>
          </a:prstGeom>
          <a:noFill/>
          <a:ln w="12700">
            <a:solidFill>
              <a:srgbClr val="27272A"/>
            </a:solidFill>
            <a:prstDash val="solid"/>
          </a:ln>
        </p:spPr>
      </p:sp>
      <p:sp>
        <p:nvSpPr>
          <p:cNvPr id="18" name="Shape 16"/>
          <p:cNvSpPr/>
          <p:nvPr/>
        </p:nvSpPr>
        <p:spPr>
          <a:xfrm>
            <a:off x="0" y="3291840"/>
            <a:ext cx="9144000" cy="0"/>
          </a:xfrm>
          <a:prstGeom prst="line">
            <a:avLst/>
          </a:prstGeom>
          <a:noFill/>
          <a:ln w="12700">
            <a:solidFill>
              <a:srgbClr val="27272A"/>
            </a:solidFill>
            <a:prstDash val="solid"/>
          </a:ln>
        </p:spPr>
      </p:sp>
      <p:sp>
        <p:nvSpPr>
          <p:cNvPr id="19" name="Shape 17"/>
          <p:cNvSpPr/>
          <p:nvPr/>
        </p:nvSpPr>
        <p:spPr>
          <a:xfrm>
            <a:off x="0" y="4114800"/>
            <a:ext cx="9144000" cy="0"/>
          </a:xfrm>
          <a:prstGeom prst="line">
            <a:avLst/>
          </a:prstGeom>
          <a:noFill/>
          <a:ln w="12700">
            <a:solidFill>
              <a:srgbClr val="27272A"/>
            </a:solidFill>
            <a:prstDash val="solid"/>
          </a:ln>
        </p:spPr>
      </p:sp>
      <p:sp>
        <p:nvSpPr>
          <p:cNvPr id="20" name="Shape 18"/>
          <p:cNvSpPr/>
          <p:nvPr/>
        </p:nvSpPr>
        <p:spPr>
          <a:xfrm>
            <a:off x="0" y="4937760"/>
            <a:ext cx="9144000" cy="0"/>
          </a:xfrm>
          <a:prstGeom prst="line">
            <a:avLst/>
          </a:prstGeom>
          <a:noFill/>
          <a:ln w="12700">
            <a:solidFill>
              <a:srgbClr val="27272A"/>
            </a:solidFill>
            <a:prstDash val="solid"/>
          </a:ln>
        </p:spPr>
      </p:sp>
      <p:sp>
        <p:nvSpPr>
          <p:cNvPr id="21" name="Shape 19"/>
          <p:cNvSpPr/>
          <p:nvPr/>
        </p:nvSpPr>
        <p:spPr>
          <a:xfrm>
            <a:off x="0" y="0"/>
            <a:ext cx="9144000" cy="5143500"/>
          </a:xfrm>
          <a:prstGeom prst="rect">
            <a:avLst/>
          </a:prstGeom>
          <a:solidFill>
            <a:srgbClr val="0A0A0B"/>
          </a:solidFill>
          <a:ln/>
        </p:spPr>
      </p:sp>
      <p:sp>
        <p:nvSpPr>
          <p:cNvPr id="22" name="Shape 20"/>
          <p:cNvSpPr/>
          <p:nvPr/>
        </p:nvSpPr>
        <p:spPr>
          <a:xfrm>
            <a:off x="457200" y="457200"/>
            <a:ext cx="164592" cy="164592"/>
          </a:xfrm>
          <a:prstGeom prst="rect">
            <a:avLst/>
          </a:prstGeom>
          <a:solidFill>
            <a:srgbClr val="D4A853"/>
          </a:solidFill>
          <a:ln/>
        </p:spPr>
      </p:sp>
      <p:sp>
        <p:nvSpPr>
          <p:cNvPr id="23" name="Text 21"/>
          <p:cNvSpPr/>
          <p:nvPr/>
        </p:nvSpPr>
        <p:spPr>
          <a:xfrm>
            <a:off x="694944" y="420624"/>
            <a:ext cx="2743200" cy="256032"/>
          </a:xfrm>
          <a:prstGeom prst="rect">
            <a:avLst/>
          </a:prstGeom>
          <a:noFill/>
          <a:ln/>
        </p:spPr>
        <p:txBody>
          <a:bodyPr wrap="square" lIns="0" tIns="0" rIns="0" bIns="0" rtlCol="0" anchor="ctr"/>
          <a:lstStyle/>
          <a:p>
            <a:pPr indent="0" marL="0">
              <a:buNone/>
            </a:pPr>
            <a:r>
              <a:rPr lang="en-US" sz="1300" dirty="0">
                <a:solidFill>
                  <a:srgbClr val="A1A1AA"/>
                </a:solidFill>
                <a:latin typeface="Calibri" pitchFamily="34" charset="0"/>
                <a:ea typeface="Calibri" pitchFamily="34" charset="-122"/>
                <a:cs typeface="Calibri" pitchFamily="34" charset="-120"/>
              </a:rPr>
              <a:t>Macro Pulse</a:t>
            </a:r>
            <a:endParaRPr lang="en-US" sz="1300" dirty="0"/>
          </a:p>
        </p:txBody>
      </p:sp>
      <p:sp>
        <p:nvSpPr>
          <p:cNvPr id="24" name="Text 22"/>
          <p:cNvSpPr/>
          <p:nvPr/>
        </p:nvSpPr>
        <p:spPr>
          <a:xfrm>
            <a:off x="457200" y="1188720"/>
            <a:ext cx="5486400" cy="822960"/>
          </a:xfrm>
          <a:prstGeom prst="rect">
            <a:avLst/>
          </a:prstGeom>
          <a:noFill/>
          <a:ln/>
        </p:spPr>
        <p:txBody>
          <a:bodyPr wrap="square" rtlCol="0" anchor="ctr"/>
          <a:lstStyle/>
          <a:p>
            <a:pPr indent="0" marL="0">
              <a:buNone/>
            </a:pPr>
            <a:r>
              <a:rPr lang="en-US" sz="5200" b="1" spc="-100" kern="0" dirty="0">
                <a:solidFill>
                  <a:srgbClr val="FAFAFA"/>
                </a:solidFill>
                <a:latin typeface="Calibri" pitchFamily="34" charset="0"/>
                <a:ea typeface="Calibri" pitchFamily="34" charset="-122"/>
                <a:cs typeface="Calibri" pitchFamily="34" charset="-120"/>
              </a:rPr>
              <a:t>Thank you.</a:t>
            </a:r>
            <a:endParaRPr lang="en-US" sz="5200" dirty="0"/>
          </a:p>
        </p:txBody>
      </p:sp>
      <p:sp>
        <p:nvSpPr>
          <p:cNvPr id="25" name="Text 23"/>
          <p:cNvSpPr/>
          <p:nvPr/>
        </p:nvSpPr>
        <p:spPr>
          <a:xfrm>
            <a:off x="457200" y="2084832"/>
            <a:ext cx="5486400" cy="365760"/>
          </a:xfrm>
          <a:prstGeom prst="rect">
            <a:avLst/>
          </a:prstGeom>
          <a:noFill/>
          <a:ln/>
        </p:spPr>
        <p:txBody>
          <a:bodyPr wrap="square" rtlCol="0" anchor="ctr"/>
          <a:lstStyle/>
          <a:p>
            <a:pPr indent="0" marL="0">
              <a:buNone/>
            </a:pPr>
            <a:r>
              <a:rPr lang="en-US" sz="1800" dirty="0">
                <a:solidFill>
                  <a:srgbClr val="A1A1AA"/>
                </a:solidFill>
                <a:latin typeface="Calibri" pitchFamily="34" charset="0"/>
                <a:ea typeface="Calibri" pitchFamily="34" charset="-122"/>
                <a:cs typeface="Calibri" pitchFamily="34" charset="-120"/>
              </a:rPr>
              <a:t>Happy to answer any questions.</a:t>
            </a:r>
            <a:endParaRPr lang="en-US" sz="1800" dirty="0"/>
          </a:p>
        </p:txBody>
      </p:sp>
      <p:sp>
        <p:nvSpPr>
          <p:cNvPr id="26" name="Shape 24"/>
          <p:cNvSpPr/>
          <p:nvPr/>
        </p:nvSpPr>
        <p:spPr>
          <a:xfrm>
            <a:off x="457200" y="2633472"/>
            <a:ext cx="4572000" cy="10973"/>
          </a:xfrm>
          <a:prstGeom prst="rect">
            <a:avLst/>
          </a:prstGeom>
          <a:solidFill>
            <a:srgbClr val="27272A"/>
          </a:solidFill>
          <a:ln/>
        </p:spPr>
      </p:sp>
      <p:sp>
        <p:nvSpPr>
          <p:cNvPr id="27" name="Text 25"/>
          <p:cNvSpPr/>
          <p:nvPr/>
        </p:nvSpPr>
        <p:spPr>
          <a:xfrm>
            <a:off x="457200" y="2788920"/>
            <a:ext cx="1280160" cy="274320"/>
          </a:xfrm>
          <a:prstGeom prst="rect">
            <a:avLst/>
          </a:prstGeom>
          <a:noFill/>
          <a:ln/>
        </p:spPr>
        <p:txBody>
          <a:bodyPr wrap="square" lIns="0" tIns="0" rIns="0" bIns="0" rtlCol="0" anchor="ctr"/>
          <a:lstStyle/>
          <a:p>
            <a:pPr indent="0" marL="0">
              <a:buNone/>
            </a:pPr>
            <a:r>
              <a:rPr lang="en-US" sz="1100" dirty="0">
                <a:solidFill>
                  <a:srgbClr val="52525B"/>
                </a:solidFill>
                <a:latin typeface="Calibri" pitchFamily="34" charset="0"/>
                <a:ea typeface="Calibri" pitchFamily="34" charset="-122"/>
                <a:cs typeface="Calibri" pitchFamily="34" charset="-120"/>
              </a:rPr>
              <a:t>Live API</a:t>
            </a:r>
            <a:endParaRPr lang="en-US" sz="1100" dirty="0"/>
          </a:p>
        </p:txBody>
      </p:sp>
      <p:sp>
        <p:nvSpPr>
          <p:cNvPr id="28" name="Text 26"/>
          <p:cNvSpPr/>
          <p:nvPr/>
        </p:nvSpPr>
        <p:spPr>
          <a:xfrm>
            <a:off x="1783080" y="2788920"/>
            <a:ext cx="4572000" cy="274320"/>
          </a:xfrm>
          <a:prstGeom prst="rect">
            <a:avLst/>
          </a:prstGeom>
          <a:noFill/>
          <a:ln/>
        </p:spPr>
        <p:txBody>
          <a:bodyPr wrap="square" lIns="0" tIns="0" rIns="0" bIns="0" rtlCol="0" anchor="ctr"/>
          <a:lstStyle/>
          <a:p>
            <a:pPr indent="0" marL="0">
              <a:buNone/>
            </a:pPr>
            <a:r>
              <a:rPr lang="en-US" sz="1100" dirty="0">
                <a:solidFill>
                  <a:srgbClr val="D4A853"/>
                </a:solidFill>
                <a:latin typeface="Courier New" pitchFamily="34" charset="0"/>
                <a:ea typeface="Courier New" pitchFamily="34" charset="-122"/>
                <a:cs typeface="Courier New" pitchFamily="34" charset="-120"/>
              </a:rPr>
              <a:t>macropulse-production.up.railway.app</a:t>
            </a:r>
            <a:endParaRPr lang="en-US" sz="1100" dirty="0"/>
          </a:p>
        </p:txBody>
      </p:sp>
      <p:sp>
        <p:nvSpPr>
          <p:cNvPr id="29" name="Text 27"/>
          <p:cNvSpPr/>
          <p:nvPr/>
        </p:nvSpPr>
        <p:spPr>
          <a:xfrm>
            <a:off x="457200" y="3172968"/>
            <a:ext cx="1280160" cy="274320"/>
          </a:xfrm>
          <a:prstGeom prst="rect">
            <a:avLst/>
          </a:prstGeom>
          <a:noFill/>
          <a:ln/>
        </p:spPr>
        <p:txBody>
          <a:bodyPr wrap="square" lIns="0" tIns="0" rIns="0" bIns="0" rtlCol="0" anchor="ctr"/>
          <a:lstStyle/>
          <a:p>
            <a:pPr indent="0" marL="0">
              <a:buNone/>
            </a:pPr>
            <a:r>
              <a:rPr lang="en-US" sz="1100" dirty="0">
                <a:solidFill>
                  <a:srgbClr val="52525B"/>
                </a:solidFill>
                <a:latin typeface="Calibri" pitchFamily="34" charset="0"/>
                <a:ea typeface="Calibri" pitchFamily="34" charset="-122"/>
                <a:cs typeface="Calibri" pitchFamily="34" charset="-120"/>
              </a:rPr>
              <a:t>GitHub</a:t>
            </a:r>
            <a:endParaRPr lang="en-US" sz="1100" dirty="0"/>
          </a:p>
        </p:txBody>
      </p:sp>
      <p:sp>
        <p:nvSpPr>
          <p:cNvPr id="30" name="Text 28"/>
          <p:cNvSpPr/>
          <p:nvPr/>
        </p:nvSpPr>
        <p:spPr>
          <a:xfrm>
            <a:off x="1783080" y="3172968"/>
            <a:ext cx="4572000" cy="274320"/>
          </a:xfrm>
          <a:prstGeom prst="rect">
            <a:avLst/>
          </a:prstGeom>
          <a:noFill/>
          <a:ln/>
        </p:spPr>
        <p:txBody>
          <a:bodyPr wrap="square" lIns="0" tIns="0" rIns="0" bIns="0" rtlCol="0" anchor="ctr"/>
          <a:lstStyle/>
          <a:p>
            <a:pPr indent="0" marL="0">
              <a:buNone/>
            </a:pPr>
            <a:r>
              <a:rPr lang="en-US" sz="1100" dirty="0">
                <a:solidFill>
                  <a:srgbClr val="D4A853"/>
                </a:solidFill>
                <a:latin typeface="Courier New" pitchFamily="34" charset="0"/>
                <a:ea typeface="Courier New" pitchFamily="34" charset="-122"/>
                <a:cs typeface="Courier New" pitchFamily="34" charset="-120"/>
              </a:rPr>
              <a:t>github.com/adhiraj1845/macro_pulse</a:t>
            </a:r>
            <a:endParaRPr lang="en-US" sz="1100" dirty="0"/>
          </a:p>
        </p:txBody>
      </p:sp>
      <p:sp>
        <p:nvSpPr>
          <p:cNvPr id="31" name="Text 29"/>
          <p:cNvSpPr/>
          <p:nvPr/>
        </p:nvSpPr>
        <p:spPr>
          <a:xfrm>
            <a:off x="457200" y="3557016"/>
            <a:ext cx="1280160" cy="274320"/>
          </a:xfrm>
          <a:prstGeom prst="rect">
            <a:avLst/>
          </a:prstGeom>
          <a:noFill/>
          <a:ln/>
        </p:spPr>
        <p:txBody>
          <a:bodyPr wrap="square" lIns="0" tIns="0" rIns="0" bIns="0" rtlCol="0" anchor="ctr"/>
          <a:lstStyle/>
          <a:p>
            <a:pPr indent="0" marL="0">
              <a:buNone/>
            </a:pPr>
            <a:r>
              <a:rPr lang="en-US" sz="1100" dirty="0">
                <a:solidFill>
                  <a:srgbClr val="52525B"/>
                </a:solidFill>
                <a:latin typeface="Calibri" pitchFamily="34" charset="0"/>
                <a:ea typeface="Calibri" pitchFamily="34" charset="-122"/>
                <a:cs typeface="Calibri" pitchFamily="34" charset="-120"/>
              </a:rPr>
              <a:t>Swagger Docs</a:t>
            </a:r>
            <a:endParaRPr lang="en-US" sz="1100" dirty="0"/>
          </a:p>
        </p:txBody>
      </p:sp>
      <p:sp>
        <p:nvSpPr>
          <p:cNvPr id="32" name="Text 30"/>
          <p:cNvSpPr/>
          <p:nvPr/>
        </p:nvSpPr>
        <p:spPr>
          <a:xfrm>
            <a:off x="1783080" y="3557016"/>
            <a:ext cx="4572000" cy="274320"/>
          </a:xfrm>
          <a:prstGeom prst="rect">
            <a:avLst/>
          </a:prstGeom>
          <a:noFill/>
          <a:ln/>
        </p:spPr>
        <p:txBody>
          <a:bodyPr wrap="square" lIns="0" tIns="0" rIns="0" bIns="0" rtlCol="0" anchor="ctr"/>
          <a:lstStyle/>
          <a:p>
            <a:pPr indent="0" marL="0">
              <a:buNone/>
            </a:pPr>
            <a:r>
              <a:rPr lang="en-US" sz="1100" dirty="0">
                <a:solidFill>
                  <a:srgbClr val="D4A853"/>
                </a:solidFill>
                <a:latin typeface="Courier New" pitchFamily="34" charset="0"/>
                <a:ea typeface="Courier New" pitchFamily="34" charset="-122"/>
                <a:cs typeface="Courier New" pitchFamily="34" charset="-120"/>
              </a:rPr>
              <a:t>macropulse-production.up.railway.app/docs</a:t>
            </a:r>
            <a:endParaRPr lang="en-US" sz="1100" dirty="0"/>
          </a:p>
        </p:txBody>
      </p:sp>
      <p:sp>
        <p:nvSpPr>
          <p:cNvPr id="33" name="Shape 31"/>
          <p:cNvSpPr/>
          <p:nvPr/>
        </p:nvSpPr>
        <p:spPr>
          <a:xfrm>
            <a:off x="5943600" y="914400"/>
            <a:ext cx="3017520" cy="3931920"/>
          </a:xfrm>
          <a:prstGeom prst="rect">
            <a:avLst/>
          </a:prstGeom>
          <a:solidFill>
            <a:srgbClr val="111113"/>
          </a:solidFill>
          <a:ln w="12700">
            <a:solidFill>
              <a:srgbClr val="27272A"/>
            </a:solidFill>
            <a:prstDash val="solid"/>
          </a:ln>
        </p:spPr>
      </p:sp>
      <p:sp>
        <p:nvSpPr>
          <p:cNvPr id="34" name="Shape 32"/>
          <p:cNvSpPr/>
          <p:nvPr/>
        </p:nvSpPr>
        <p:spPr>
          <a:xfrm>
            <a:off x="6035040" y="1051560"/>
            <a:ext cx="2834640" cy="457200"/>
          </a:xfrm>
          <a:prstGeom prst="rect">
            <a:avLst/>
          </a:prstGeom>
          <a:solidFill>
            <a:srgbClr val="18181B"/>
          </a:solidFill>
          <a:ln w="12700">
            <a:solidFill>
              <a:srgbClr val="27272A"/>
            </a:solidFill>
            <a:prstDash val="solid"/>
          </a:ln>
        </p:spPr>
      </p:sp>
      <p:sp>
        <p:nvSpPr>
          <p:cNvPr id="35" name="Text 33"/>
          <p:cNvSpPr/>
          <p:nvPr/>
        </p:nvSpPr>
        <p:spPr>
          <a:xfrm>
            <a:off x="6126480" y="1124712"/>
            <a:ext cx="685800" cy="310896"/>
          </a:xfrm>
          <a:prstGeom prst="rect">
            <a:avLst/>
          </a:prstGeom>
          <a:noFill/>
          <a:ln/>
        </p:spPr>
        <p:txBody>
          <a:bodyPr wrap="square" lIns="0" tIns="0" rIns="0" bIns="0" rtlCol="0" anchor="ctr"/>
          <a:lstStyle/>
          <a:p>
            <a:pPr indent="0" marL="0">
              <a:buNone/>
            </a:pPr>
            <a:r>
              <a:rPr lang="en-US" sz="2200" b="1" spc="-100" kern="0" dirty="0">
                <a:solidFill>
                  <a:srgbClr val="D4A853"/>
                </a:solidFill>
                <a:latin typeface="Calibri" pitchFamily="34" charset="0"/>
                <a:ea typeface="Calibri" pitchFamily="34" charset="-122"/>
                <a:cs typeface="Calibri" pitchFamily="34" charset="-120"/>
              </a:rPr>
              <a:t>23</a:t>
            </a:r>
            <a:endParaRPr lang="en-US" sz="2200" dirty="0"/>
          </a:p>
        </p:txBody>
      </p:sp>
      <p:sp>
        <p:nvSpPr>
          <p:cNvPr id="36" name="Text 34"/>
          <p:cNvSpPr/>
          <p:nvPr/>
        </p:nvSpPr>
        <p:spPr>
          <a:xfrm>
            <a:off x="6839712" y="1170432"/>
            <a:ext cx="1920240" cy="237744"/>
          </a:xfrm>
          <a:prstGeom prst="rect">
            <a:avLst/>
          </a:prstGeom>
          <a:noFill/>
          <a:ln/>
        </p:spPr>
        <p:txBody>
          <a:bodyPr wrap="square" lIns="0" tIns="0" rIns="0" bIns="0" rtlCol="0" anchor="ctr"/>
          <a:lstStyle/>
          <a:p>
            <a:pPr indent="0" marL="0">
              <a:buNone/>
            </a:pPr>
            <a:r>
              <a:rPr lang="en-US" sz="1100" dirty="0">
                <a:solidFill>
                  <a:srgbClr val="A1A1AA"/>
                </a:solidFill>
                <a:latin typeface="Calibri" pitchFamily="34" charset="0"/>
                <a:ea typeface="Calibri" pitchFamily="34" charset="-122"/>
                <a:cs typeface="Calibri" pitchFamily="34" charset="-120"/>
              </a:rPr>
              <a:t>Endpoints</a:t>
            </a:r>
            <a:endParaRPr lang="en-US" sz="1100" dirty="0"/>
          </a:p>
        </p:txBody>
      </p:sp>
      <p:sp>
        <p:nvSpPr>
          <p:cNvPr id="37" name="Shape 35"/>
          <p:cNvSpPr/>
          <p:nvPr/>
        </p:nvSpPr>
        <p:spPr>
          <a:xfrm>
            <a:off x="6035040" y="1572768"/>
            <a:ext cx="2834640" cy="457200"/>
          </a:xfrm>
          <a:prstGeom prst="rect">
            <a:avLst/>
          </a:prstGeom>
          <a:solidFill>
            <a:srgbClr val="18181B"/>
          </a:solidFill>
          <a:ln w="12700">
            <a:solidFill>
              <a:srgbClr val="27272A"/>
            </a:solidFill>
            <a:prstDash val="solid"/>
          </a:ln>
        </p:spPr>
      </p:sp>
      <p:sp>
        <p:nvSpPr>
          <p:cNvPr id="38" name="Text 36"/>
          <p:cNvSpPr/>
          <p:nvPr/>
        </p:nvSpPr>
        <p:spPr>
          <a:xfrm>
            <a:off x="6126480" y="1645920"/>
            <a:ext cx="685800" cy="310896"/>
          </a:xfrm>
          <a:prstGeom prst="rect">
            <a:avLst/>
          </a:prstGeom>
          <a:noFill/>
          <a:ln/>
        </p:spPr>
        <p:txBody>
          <a:bodyPr wrap="square" lIns="0" tIns="0" rIns="0" bIns="0" rtlCol="0" anchor="ctr"/>
          <a:lstStyle/>
          <a:p>
            <a:pPr indent="0" marL="0">
              <a:buNone/>
            </a:pPr>
            <a:r>
              <a:rPr lang="en-US" sz="2200" b="1" spc="-100" kern="0" dirty="0">
                <a:solidFill>
                  <a:srgbClr val="D4A853"/>
                </a:solidFill>
                <a:latin typeface="Calibri" pitchFamily="34" charset="0"/>
                <a:ea typeface="Calibri" pitchFamily="34" charset="-122"/>
                <a:cs typeface="Calibri" pitchFamily="34" charset="-120"/>
              </a:rPr>
              <a:t>36</a:t>
            </a:r>
            <a:endParaRPr lang="en-US" sz="2200" dirty="0"/>
          </a:p>
        </p:txBody>
      </p:sp>
      <p:sp>
        <p:nvSpPr>
          <p:cNvPr id="39" name="Text 37"/>
          <p:cNvSpPr/>
          <p:nvPr/>
        </p:nvSpPr>
        <p:spPr>
          <a:xfrm>
            <a:off x="6839712" y="1691640"/>
            <a:ext cx="1920240" cy="237744"/>
          </a:xfrm>
          <a:prstGeom prst="rect">
            <a:avLst/>
          </a:prstGeom>
          <a:noFill/>
          <a:ln/>
        </p:spPr>
        <p:txBody>
          <a:bodyPr wrap="square" lIns="0" tIns="0" rIns="0" bIns="0" rtlCol="0" anchor="ctr"/>
          <a:lstStyle/>
          <a:p>
            <a:pPr indent="0" marL="0">
              <a:buNone/>
            </a:pPr>
            <a:r>
              <a:rPr lang="en-US" sz="1100" dirty="0">
                <a:solidFill>
                  <a:srgbClr val="A1A1AA"/>
                </a:solidFill>
                <a:latin typeface="Calibri" pitchFamily="34" charset="0"/>
                <a:ea typeface="Calibri" pitchFamily="34" charset="-122"/>
                <a:cs typeface="Calibri" pitchFamily="34" charset="-120"/>
              </a:rPr>
              <a:t>Tests passing</a:t>
            </a:r>
            <a:endParaRPr lang="en-US" sz="1100" dirty="0"/>
          </a:p>
        </p:txBody>
      </p:sp>
      <p:sp>
        <p:nvSpPr>
          <p:cNvPr id="40" name="Shape 38"/>
          <p:cNvSpPr/>
          <p:nvPr/>
        </p:nvSpPr>
        <p:spPr>
          <a:xfrm>
            <a:off x="6035040" y="2093976"/>
            <a:ext cx="2834640" cy="457200"/>
          </a:xfrm>
          <a:prstGeom prst="rect">
            <a:avLst/>
          </a:prstGeom>
          <a:solidFill>
            <a:srgbClr val="18181B"/>
          </a:solidFill>
          <a:ln w="12700">
            <a:solidFill>
              <a:srgbClr val="27272A"/>
            </a:solidFill>
            <a:prstDash val="solid"/>
          </a:ln>
        </p:spPr>
      </p:sp>
      <p:sp>
        <p:nvSpPr>
          <p:cNvPr id="41" name="Text 39"/>
          <p:cNvSpPr/>
          <p:nvPr/>
        </p:nvSpPr>
        <p:spPr>
          <a:xfrm>
            <a:off x="6126480" y="2167128"/>
            <a:ext cx="685800" cy="310896"/>
          </a:xfrm>
          <a:prstGeom prst="rect">
            <a:avLst/>
          </a:prstGeom>
          <a:noFill/>
          <a:ln/>
        </p:spPr>
        <p:txBody>
          <a:bodyPr wrap="square" lIns="0" tIns="0" rIns="0" bIns="0" rtlCol="0" anchor="ctr"/>
          <a:lstStyle/>
          <a:p>
            <a:pPr indent="0" marL="0">
              <a:buNone/>
            </a:pPr>
            <a:r>
              <a:rPr lang="en-US" sz="2200" b="1" spc="-100" kern="0" dirty="0">
                <a:solidFill>
                  <a:srgbClr val="D4A853"/>
                </a:solidFill>
                <a:latin typeface="Calibri" pitchFamily="34" charset="0"/>
                <a:ea typeface="Calibri" pitchFamily="34" charset="-122"/>
                <a:cs typeface="Calibri" pitchFamily="34" charset="-120"/>
              </a:rPr>
              <a:t>7</a:t>
            </a:r>
            <a:endParaRPr lang="en-US" sz="2200" dirty="0"/>
          </a:p>
        </p:txBody>
      </p:sp>
      <p:sp>
        <p:nvSpPr>
          <p:cNvPr id="42" name="Text 40"/>
          <p:cNvSpPr/>
          <p:nvPr/>
        </p:nvSpPr>
        <p:spPr>
          <a:xfrm>
            <a:off x="6839712" y="2212848"/>
            <a:ext cx="1920240" cy="237744"/>
          </a:xfrm>
          <a:prstGeom prst="rect">
            <a:avLst/>
          </a:prstGeom>
          <a:noFill/>
          <a:ln/>
        </p:spPr>
        <p:txBody>
          <a:bodyPr wrap="square" lIns="0" tIns="0" rIns="0" bIns="0" rtlCol="0" anchor="ctr"/>
          <a:lstStyle/>
          <a:p>
            <a:pPr indent="0" marL="0">
              <a:buNone/>
            </a:pPr>
            <a:r>
              <a:rPr lang="en-US" sz="1100" dirty="0">
                <a:solidFill>
                  <a:srgbClr val="A1A1AA"/>
                </a:solidFill>
                <a:latin typeface="Calibri" pitchFamily="34" charset="0"/>
                <a:ea typeface="Calibri" pitchFamily="34" charset="-122"/>
                <a:cs typeface="Calibri" pitchFamily="34" charset="-120"/>
              </a:rPr>
              <a:t>MCP tools</a:t>
            </a:r>
            <a:endParaRPr lang="en-US" sz="1100" dirty="0"/>
          </a:p>
        </p:txBody>
      </p:sp>
      <p:sp>
        <p:nvSpPr>
          <p:cNvPr id="43" name="Shape 41"/>
          <p:cNvSpPr/>
          <p:nvPr/>
        </p:nvSpPr>
        <p:spPr>
          <a:xfrm>
            <a:off x="6035040" y="2615184"/>
            <a:ext cx="2834640" cy="457200"/>
          </a:xfrm>
          <a:prstGeom prst="rect">
            <a:avLst/>
          </a:prstGeom>
          <a:solidFill>
            <a:srgbClr val="18181B"/>
          </a:solidFill>
          <a:ln w="12700">
            <a:solidFill>
              <a:srgbClr val="27272A"/>
            </a:solidFill>
            <a:prstDash val="solid"/>
          </a:ln>
        </p:spPr>
      </p:sp>
      <p:sp>
        <p:nvSpPr>
          <p:cNvPr id="44" name="Text 42"/>
          <p:cNvSpPr/>
          <p:nvPr/>
        </p:nvSpPr>
        <p:spPr>
          <a:xfrm>
            <a:off x="6126480" y="2688336"/>
            <a:ext cx="685800" cy="310896"/>
          </a:xfrm>
          <a:prstGeom prst="rect">
            <a:avLst/>
          </a:prstGeom>
          <a:noFill/>
          <a:ln/>
        </p:spPr>
        <p:txBody>
          <a:bodyPr wrap="square" lIns="0" tIns="0" rIns="0" bIns="0" rtlCol="0" anchor="ctr"/>
          <a:lstStyle/>
          <a:p>
            <a:pPr indent="0" marL="0">
              <a:buNone/>
            </a:pPr>
            <a:r>
              <a:rPr lang="en-US" sz="2200" b="1" spc="-100" kern="0" dirty="0">
                <a:solidFill>
                  <a:srgbClr val="D4A853"/>
                </a:solidFill>
                <a:latin typeface="Calibri" pitchFamily="34" charset="0"/>
                <a:ea typeface="Calibri" pitchFamily="34" charset="-122"/>
                <a:cs typeface="Calibri" pitchFamily="34" charset="-120"/>
              </a:rPr>
              <a:t>5</a:t>
            </a:r>
            <a:endParaRPr lang="en-US" sz="2200" dirty="0"/>
          </a:p>
        </p:txBody>
      </p:sp>
      <p:sp>
        <p:nvSpPr>
          <p:cNvPr id="45" name="Text 43"/>
          <p:cNvSpPr/>
          <p:nvPr/>
        </p:nvSpPr>
        <p:spPr>
          <a:xfrm>
            <a:off x="6839712" y="2734056"/>
            <a:ext cx="1920240" cy="237744"/>
          </a:xfrm>
          <a:prstGeom prst="rect">
            <a:avLst/>
          </a:prstGeom>
          <a:noFill/>
          <a:ln/>
        </p:spPr>
        <p:txBody>
          <a:bodyPr wrap="square" lIns="0" tIns="0" rIns="0" bIns="0" rtlCol="0" anchor="ctr"/>
          <a:lstStyle/>
          <a:p>
            <a:pPr indent="0" marL="0">
              <a:buNone/>
            </a:pPr>
            <a:r>
              <a:rPr lang="en-US" sz="1100" dirty="0">
                <a:solidFill>
                  <a:srgbClr val="A1A1AA"/>
                </a:solidFill>
                <a:latin typeface="Calibri" pitchFamily="34" charset="0"/>
                <a:ea typeface="Calibri" pitchFamily="34" charset="-122"/>
                <a:cs typeface="Calibri" pitchFamily="34" charset="-120"/>
              </a:rPr>
              <a:t>Analytics engines</a:t>
            </a:r>
            <a:endParaRPr lang="en-US" sz="1100" dirty="0"/>
          </a:p>
        </p:txBody>
      </p:sp>
      <p:sp>
        <p:nvSpPr>
          <p:cNvPr id="46" name="Shape 44"/>
          <p:cNvSpPr/>
          <p:nvPr/>
        </p:nvSpPr>
        <p:spPr>
          <a:xfrm>
            <a:off x="6035040" y="3136392"/>
            <a:ext cx="2834640" cy="457200"/>
          </a:xfrm>
          <a:prstGeom prst="rect">
            <a:avLst/>
          </a:prstGeom>
          <a:solidFill>
            <a:srgbClr val="18181B"/>
          </a:solidFill>
          <a:ln w="12700">
            <a:solidFill>
              <a:srgbClr val="27272A"/>
            </a:solidFill>
            <a:prstDash val="solid"/>
          </a:ln>
        </p:spPr>
      </p:sp>
      <p:sp>
        <p:nvSpPr>
          <p:cNvPr id="47" name="Text 45"/>
          <p:cNvSpPr/>
          <p:nvPr/>
        </p:nvSpPr>
        <p:spPr>
          <a:xfrm>
            <a:off x="6126480" y="3209544"/>
            <a:ext cx="685800" cy="310896"/>
          </a:xfrm>
          <a:prstGeom prst="rect">
            <a:avLst/>
          </a:prstGeom>
          <a:noFill/>
          <a:ln/>
        </p:spPr>
        <p:txBody>
          <a:bodyPr wrap="square" lIns="0" tIns="0" rIns="0" bIns="0" rtlCol="0" anchor="ctr"/>
          <a:lstStyle/>
          <a:p>
            <a:pPr indent="0" marL="0">
              <a:buNone/>
            </a:pPr>
            <a:r>
              <a:rPr lang="en-US" sz="2200" b="1" spc="-100" kern="0" dirty="0">
                <a:solidFill>
                  <a:srgbClr val="D4A853"/>
                </a:solidFill>
                <a:latin typeface="Calibri" pitchFamily="34" charset="0"/>
                <a:ea typeface="Calibri" pitchFamily="34" charset="-122"/>
                <a:cs typeface="Calibri" pitchFamily="34" charset="-120"/>
              </a:rPr>
              <a:t>9</a:t>
            </a:r>
            <a:endParaRPr lang="en-US" sz="2200" dirty="0"/>
          </a:p>
        </p:txBody>
      </p:sp>
      <p:sp>
        <p:nvSpPr>
          <p:cNvPr id="48" name="Text 46"/>
          <p:cNvSpPr/>
          <p:nvPr/>
        </p:nvSpPr>
        <p:spPr>
          <a:xfrm>
            <a:off x="6839712" y="3255264"/>
            <a:ext cx="1920240" cy="237744"/>
          </a:xfrm>
          <a:prstGeom prst="rect">
            <a:avLst/>
          </a:prstGeom>
          <a:noFill/>
          <a:ln/>
        </p:spPr>
        <p:txBody>
          <a:bodyPr wrap="square" lIns="0" tIns="0" rIns="0" bIns="0" rtlCol="0" anchor="ctr"/>
          <a:lstStyle/>
          <a:p>
            <a:pPr indent="0" marL="0">
              <a:buNone/>
            </a:pPr>
            <a:r>
              <a:rPr lang="en-US" sz="1100" dirty="0">
                <a:solidFill>
                  <a:srgbClr val="A1A1AA"/>
                </a:solidFill>
                <a:latin typeface="Calibri" pitchFamily="34" charset="0"/>
                <a:ea typeface="Calibri" pitchFamily="34" charset="-122"/>
                <a:cs typeface="Calibri" pitchFamily="34" charset="-120"/>
              </a:rPr>
              <a:t>Staged commits</a:t>
            </a:r>
            <a:endParaRPr lang="en-US" sz="1100" dirty="0"/>
          </a:p>
        </p:txBody>
      </p:sp>
      <p:sp>
        <p:nvSpPr>
          <p:cNvPr id="49" name="Shape 47"/>
          <p:cNvSpPr/>
          <p:nvPr/>
        </p:nvSpPr>
        <p:spPr>
          <a:xfrm>
            <a:off x="6035040" y="3657600"/>
            <a:ext cx="2834640" cy="457200"/>
          </a:xfrm>
          <a:prstGeom prst="rect">
            <a:avLst/>
          </a:prstGeom>
          <a:solidFill>
            <a:srgbClr val="18181B"/>
          </a:solidFill>
          <a:ln w="12700">
            <a:solidFill>
              <a:srgbClr val="27272A"/>
            </a:solidFill>
            <a:prstDash val="solid"/>
          </a:ln>
        </p:spPr>
      </p:sp>
      <p:sp>
        <p:nvSpPr>
          <p:cNvPr id="50" name="Text 48"/>
          <p:cNvSpPr/>
          <p:nvPr/>
        </p:nvSpPr>
        <p:spPr>
          <a:xfrm>
            <a:off x="6126480" y="3730752"/>
            <a:ext cx="685800" cy="310896"/>
          </a:xfrm>
          <a:prstGeom prst="rect">
            <a:avLst/>
          </a:prstGeom>
          <a:noFill/>
          <a:ln/>
        </p:spPr>
        <p:txBody>
          <a:bodyPr wrap="square" lIns="0" tIns="0" rIns="0" bIns="0" rtlCol="0" anchor="ctr"/>
          <a:lstStyle/>
          <a:p>
            <a:pPr indent="0" marL="0">
              <a:buNone/>
            </a:pPr>
            <a:r>
              <a:rPr lang="en-US" sz="2200" b="1" spc="-100" kern="0" dirty="0">
                <a:solidFill>
                  <a:srgbClr val="D4A853"/>
                </a:solidFill>
                <a:latin typeface="Calibri" pitchFamily="34" charset="0"/>
                <a:ea typeface="Calibri" pitchFamily="34" charset="-122"/>
                <a:cs typeface="Calibri" pitchFamily="34" charset="-120"/>
              </a:rPr>
              <a:t>14</a:t>
            </a:r>
            <a:endParaRPr lang="en-US" sz="2200" dirty="0"/>
          </a:p>
        </p:txBody>
      </p:sp>
      <p:sp>
        <p:nvSpPr>
          <p:cNvPr id="51" name="Text 49"/>
          <p:cNvSpPr/>
          <p:nvPr/>
        </p:nvSpPr>
        <p:spPr>
          <a:xfrm>
            <a:off x="6839712" y="3776472"/>
            <a:ext cx="1920240" cy="237744"/>
          </a:xfrm>
          <a:prstGeom prst="rect">
            <a:avLst/>
          </a:prstGeom>
          <a:noFill/>
          <a:ln/>
        </p:spPr>
        <p:txBody>
          <a:bodyPr wrap="square" lIns="0" tIns="0" rIns="0" bIns="0" rtlCol="0" anchor="ctr"/>
          <a:lstStyle/>
          <a:p>
            <a:pPr indent="0" marL="0">
              <a:buNone/>
            </a:pPr>
            <a:r>
              <a:rPr lang="en-US" sz="1100" dirty="0">
                <a:solidFill>
                  <a:srgbClr val="A1A1AA"/>
                </a:solidFill>
                <a:latin typeface="Calibri" pitchFamily="34" charset="0"/>
                <a:ea typeface="Calibri" pitchFamily="34" charset="-122"/>
                <a:cs typeface="Calibri" pitchFamily="34" charset="-120"/>
              </a:rPr>
              <a:t>Assets tracked</a:t>
            </a:r>
            <a:endParaRPr lang="en-US" sz="1100" dirty="0"/>
          </a:p>
        </p:txBody>
      </p:sp>
      <p:sp>
        <p:nvSpPr>
          <p:cNvPr id="52" name="Shape 50"/>
          <p:cNvSpPr/>
          <p:nvPr/>
        </p:nvSpPr>
        <p:spPr>
          <a:xfrm>
            <a:off x="6035040" y="4178808"/>
            <a:ext cx="2834640" cy="457200"/>
          </a:xfrm>
          <a:prstGeom prst="rect">
            <a:avLst/>
          </a:prstGeom>
          <a:solidFill>
            <a:srgbClr val="18181B"/>
          </a:solidFill>
          <a:ln w="12700">
            <a:solidFill>
              <a:srgbClr val="27272A"/>
            </a:solidFill>
            <a:prstDash val="solid"/>
          </a:ln>
        </p:spPr>
      </p:sp>
      <p:sp>
        <p:nvSpPr>
          <p:cNvPr id="53" name="Text 51"/>
          <p:cNvSpPr/>
          <p:nvPr/>
        </p:nvSpPr>
        <p:spPr>
          <a:xfrm>
            <a:off x="6126480" y="4251960"/>
            <a:ext cx="685800" cy="310896"/>
          </a:xfrm>
          <a:prstGeom prst="rect">
            <a:avLst/>
          </a:prstGeom>
          <a:noFill/>
          <a:ln/>
        </p:spPr>
        <p:txBody>
          <a:bodyPr wrap="square" lIns="0" tIns="0" rIns="0" bIns="0" rtlCol="0" anchor="ctr"/>
          <a:lstStyle/>
          <a:p>
            <a:pPr indent="0" marL="0">
              <a:buNone/>
            </a:pPr>
            <a:r>
              <a:rPr lang="en-US" sz="2200" b="1" spc="-100" kern="0" dirty="0">
                <a:solidFill>
                  <a:srgbClr val="D4A853"/>
                </a:solidFill>
                <a:latin typeface="Calibri" pitchFamily="34" charset="0"/>
                <a:ea typeface="Calibri" pitchFamily="34" charset="-122"/>
                <a:cs typeface="Calibri" pitchFamily="34" charset="-120"/>
              </a:rPr>
              <a:t>7</a:t>
            </a:r>
            <a:endParaRPr lang="en-US" sz="2200" dirty="0"/>
          </a:p>
        </p:txBody>
      </p:sp>
      <p:sp>
        <p:nvSpPr>
          <p:cNvPr id="54" name="Text 52"/>
          <p:cNvSpPr/>
          <p:nvPr/>
        </p:nvSpPr>
        <p:spPr>
          <a:xfrm>
            <a:off x="6839712" y="4297680"/>
            <a:ext cx="1920240" cy="237744"/>
          </a:xfrm>
          <a:prstGeom prst="rect">
            <a:avLst/>
          </a:prstGeom>
          <a:noFill/>
          <a:ln/>
        </p:spPr>
        <p:txBody>
          <a:bodyPr wrap="square" lIns="0" tIns="0" rIns="0" bIns="0" rtlCol="0" anchor="ctr"/>
          <a:lstStyle/>
          <a:p>
            <a:pPr indent="0" marL="0">
              <a:buNone/>
            </a:pPr>
            <a:r>
              <a:rPr lang="en-US" sz="1100" dirty="0">
                <a:solidFill>
                  <a:srgbClr val="A1A1AA"/>
                </a:solidFill>
                <a:latin typeface="Calibri" pitchFamily="34" charset="0"/>
                <a:ea typeface="Calibri" pitchFamily="34" charset="-122"/>
                <a:cs typeface="Calibri" pitchFamily="34" charset="-120"/>
              </a:rPr>
              <a:t>Indicators tracked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Macro Pulse</dc:title>
  <dc:subject>PptxGenJS Presentation</dc:subject>
  <dc:creator>Adhiraj Kumar</dc:creator>
  <cp:lastModifiedBy>Adhiraj Kumar</cp:lastModifiedBy>
  <cp:revision>1</cp:revision>
  <dcterms:created xsi:type="dcterms:W3CDTF">2026-03-20T03:07:26Z</dcterms:created>
  <dcterms:modified xsi:type="dcterms:W3CDTF">2026-03-20T03:07:26Z</dcterms:modified>
</cp:coreProperties>
</file>